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1D453D-BF05-4F50-9385-869BCD452B65}" v="4" dt="2026-05-08T02:44:28.2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092" autoAdjust="0"/>
  </p:normalViewPr>
  <p:slideViewPr>
    <p:cSldViewPr snapToGrid="0">
      <p:cViewPr varScale="1">
        <p:scale>
          <a:sx n="89" d="100"/>
          <a:sy n="89" d="100"/>
        </p:scale>
        <p:origin x="128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CFBAE4F-EE83-44ED-BE41-C2D9E52FB7B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E2976B-92CA-4632-8290-1AC86B8566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3C4BB1-C1C6-4E0C-A9A7-C33029C691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TCP = Transmission Control Protocol. It’s for </a:t>
            </a:r>
            <a:r>
              <a:rPr lang="en-US" sz="1800" dirty="0"/>
              <a:t>making sure data gets from one computer to another </a:t>
            </a:r>
            <a:r>
              <a:rPr lang="en-US" sz="1800" b="0" dirty="0"/>
              <a:t>reliably and in order.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0306D7-5818-4B78-A6BC-27F035FAA7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27705B-EB38-4AA6-9638-B05FD111929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7CB440-EE7F-4B06-ACEE-172AC3790FE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0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0F2700-F4FC-4579-A126-8601022DCD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0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Both made by Daniel J. Bernstein. ChaCha20 is the stream cipher that takes KEY + nonce (number used once) to generate a pseudorandom stream (ex. 101010100 1001011110). Then that stream is XORed (for encryption/decryption) with your plaintext to make the ciphertext. Poly1305 is a message authentication code (MAC) that creates a 16 byte tag that proves that the message wasn’t changed, and the sender doesn’t know the key.</a:t>
            </a:r>
          </a:p>
        </p:txBody>
      </p:sp>
      <p:sp>
        <p:nvSpPr>
          <p:cNvPr id="100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4FD985-4C57-4621-864F-0C533244F3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C57275-A0D7-41C6-917D-96DB68108F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7F147A-4B60-4BB7-8549-AEBA538277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0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Each word is a 32-bit number. The numbers will mix with each other</a:t>
            </a:r>
          </a:p>
        </p:txBody>
      </p:sp>
      <p:sp>
        <p:nvSpPr>
          <p:cNvPr id="101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4272DB-A5E8-4C09-A612-5317990CAF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0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1800"/>
              <a:t>Example: QUARTERROUND</a:t>
            </a:r>
            <a:r>
              <a:rPr lang="en-US" sz="1800" dirty="0"/>
              <a:t>( x0, x4, x8,</a:t>
            </a:r>
            <a:r>
              <a:rPr lang="en-US" sz="1800"/>
              <a:t>x12), </a:t>
            </a:r>
            <a:r>
              <a:rPr lang="en-US" sz="1800" dirty="0"/>
              <a:t>QUARTERROUND( x1, x5, x9,</a:t>
            </a:r>
            <a:r>
              <a:rPr lang="en-US" sz="1800"/>
              <a:t>x13), </a:t>
            </a:r>
            <a:r>
              <a:rPr lang="en-US" sz="1800" dirty="0"/>
              <a:t>QUARTERROUND( x2, x6,x10,</a:t>
            </a:r>
            <a:r>
              <a:rPr lang="en-US" sz="1800"/>
              <a:t>x14), </a:t>
            </a:r>
            <a:r>
              <a:rPr lang="en-US" sz="1800" dirty="0"/>
              <a:t>QUARTERROUND( x3, x7,x11,</a:t>
            </a:r>
            <a:r>
              <a:rPr lang="en-US" sz="1800"/>
              <a:t>x15), </a:t>
            </a:r>
            <a:r>
              <a:rPr lang="en-US" sz="1800" dirty="0"/>
              <a:t>QUARTERROUND( x0, x5,x10,</a:t>
            </a:r>
            <a:r>
              <a:rPr lang="en-US" sz="1800"/>
              <a:t>x15), </a:t>
            </a:r>
            <a:r>
              <a:rPr lang="en-US" sz="1800" dirty="0"/>
              <a:t>QUARTERROUND( x1, x6,x11,</a:t>
            </a:r>
            <a:r>
              <a:rPr lang="en-US" sz="1800"/>
              <a:t>x12), </a:t>
            </a:r>
            <a:r>
              <a:rPr lang="en-US" sz="1800" dirty="0"/>
              <a:t>QUARTERROUND( x2, x7, x8,</a:t>
            </a:r>
            <a:r>
              <a:rPr lang="en-US" sz="1800"/>
              <a:t>x13), </a:t>
            </a:r>
            <a:r>
              <a:rPr lang="en-US" sz="1800" dirty="0"/>
              <a:t>QUARTERROUND( x3, x4, x9,x14)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8D60DB-3F49-4FE6-9108-63BAD73A7FA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0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After 20 rounds, this creates rapid diffusion which means </a:t>
            </a:r>
            <a:r>
              <a:rPr lang="en-US" sz="1800" dirty="0"/>
              <a:t>nearly every output bit depends on every input bit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C6021F-8811-423B-814B-39A98F4843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24B564-7EA4-4880-8DEA-35CA751347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0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1800" dirty="0"/>
              <a:t>Poly1305-AES requires each message to be accompanied by a 16-byte nonce, a unique message number. Poly1305-AES feeds each nonce n through </a:t>
            </a:r>
            <a:r>
              <a:rPr lang="en-US" sz="1800" dirty="0" err="1"/>
              <a:t>AESk</a:t>
            </a:r>
            <a:r>
              <a:rPr lang="en-US" sz="1800" dirty="0"/>
              <a:t> to obtain the 16-byte string </a:t>
            </a:r>
            <a:r>
              <a:rPr lang="en-US" sz="1800" dirty="0" err="1"/>
              <a:t>AESk</a:t>
            </a:r>
            <a:r>
              <a:rPr lang="en-US" sz="1800" dirty="0"/>
              <a:t>(n).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D63C8D-3A0B-437E-8F80-3165212E98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BA2669-A14D-49BF-9BDD-FD5008A06AF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B8FD67-1DA6-43D6-A718-63240E93B3F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7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4E8520-553F-419D-88C4-F9C3A2AD23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0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CD0825-714B-45CF-90B0-78AF02015FF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3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93FAC4-2D4A-44F2-9B32-5277423814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6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E47614-EECB-47F1-914B-E7D853B8FB7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9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3B817D-59F4-45FA-8620-1BE79A8535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2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E6DA4A-AB5E-4A20-A981-73DE322296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5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929D63-C462-4495-B668-3FFE5A37E63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8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F44567-5323-4824-9702-B647DEE180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1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D822B7-E5BB-4084-BE17-4C51390C8F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4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B17BC2-4FCF-4DFF-858A-DF225494A5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7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ACE7BA-1E72-4713-AF94-9BA06DD32B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0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48FBF4-49B4-448A-81E6-1AE9EB8B38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3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2DF03B-4000-4E2E-B5CE-96D33143A5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6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2C8D06-C16E-4DDE-90D0-BDBE2A8AD53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9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5B8241-D51C-451C-91A9-0339377305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2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F3D108-51C7-4F33-BC1E-7ADFD1F8CDF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-2286000" y="-1828800"/>
            <a:ext cx="5486040" cy="5486040"/>
          </a:xfrm>
          <a:prstGeom prst="ellipse">
            <a:avLst/>
          </a:prstGeom>
          <a:solidFill>
            <a:srgbClr val="14B8A6">
              <a:alpha val="12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-914400" y="-914400"/>
            <a:ext cx="3657240" cy="3657240"/>
          </a:xfrm>
          <a:prstGeom prst="ellipse">
            <a:avLst/>
          </a:prstGeom>
          <a:solidFill>
            <a:srgbClr val="14B8A6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2"/>
          <p:cNvSpPr/>
          <p:nvPr/>
        </p:nvSpPr>
        <p:spPr>
          <a:xfrm>
            <a:off x="6858000" y="3200400"/>
            <a:ext cx="3657240" cy="3657240"/>
          </a:xfrm>
          <a:prstGeom prst="ellipse">
            <a:avLst/>
          </a:prstGeom>
          <a:solidFill>
            <a:srgbClr val="8B5CF6">
              <a:alpha val="12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3"/>
          <p:cNvSpPr/>
          <p:nvPr/>
        </p:nvSpPr>
        <p:spPr>
          <a:xfrm>
            <a:off x="7772400" y="4114800"/>
            <a:ext cx="2285640" cy="2285640"/>
          </a:xfrm>
          <a:prstGeom prst="ellipse">
            <a:avLst/>
          </a:prstGeom>
          <a:solidFill>
            <a:srgbClr val="8B5CF6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4"/>
          <p:cNvSpPr/>
          <p:nvPr/>
        </p:nvSpPr>
        <p:spPr>
          <a:xfrm>
            <a:off x="640080" y="1188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601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MATH 447  •  FINAL PRESENTATION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640080" y="155448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E8EEF7"/>
                </a:solidFill>
                <a:effectLst/>
                <a:uFillTx/>
                <a:latin typeface="Georgia"/>
                <a:ea typeface="Georgia"/>
              </a:rPr>
              <a:t>ChaCha20-Poly1305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6"/>
          <p:cNvSpPr/>
          <p:nvPr/>
        </p:nvSpPr>
        <p:spPr>
          <a:xfrm>
            <a:off x="640080" y="242316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0" i="1" u="none" strike="noStrike">
                <a:solidFill>
                  <a:srgbClr val="14B8A6"/>
                </a:solidFill>
                <a:effectLst/>
                <a:uFillTx/>
                <a:latin typeface="Georgia"/>
                <a:ea typeface="Georgia"/>
              </a:rPr>
              <a:t>Encrypted Chat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7"/>
          <p:cNvSpPr/>
          <p:nvPr/>
        </p:nvSpPr>
        <p:spPr>
          <a:xfrm>
            <a:off x="658440" y="3383280"/>
            <a:ext cx="456840" cy="363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8"/>
          <p:cNvSpPr/>
          <p:nvPr/>
        </p:nvSpPr>
        <p:spPr>
          <a:xfrm>
            <a:off x="640080" y="352044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8EEF7"/>
                </a:solidFill>
                <a:effectLst/>
                <a:uFillTx/>
                <a:latin typeface="Calibri"/>
                <a:ea typeface="Calibri"/>
              </a:rPr>
              <a:t>Maddie  •  Lei  •  Aidan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" name="Image 0" descr="preencoded.png"/>
          <p:cNvPicPr/>
          <p:nvPr/>
        </p:nvPicPr>
        <p:blipFill>
          <a:blip r:embed="rId3"/>
          <a:stretch/>
        </p:blipFill>
        <p:spPr>
          <a:xfrm>
            <a:off x="658440" y="411480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 9"/>
          <p:cNvSpPr/>
          <p:nvPr/>
        </p:nvSpPr>
        <p:spPr>
          <a:xfrm>
            <a:off x="1051560" y="4114800"/>
            <a:ext cx="64004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Authenticated encryption for real-time messaging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0"/>
          <p:cNvSpPr/>
          <p:nvPr/>
        </p:nvSpPr>
        <p:spPr>
          <a:xfrm>
            <a:off x="8275320" y="4851000"/>
            <a:ext cx="164160" cy="453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1"/>
          <p:cNvSpPr/>
          <p:nvPr/>
        </p:nvSpPr>
        <p:spPr>
          <a:xfrm>
            <a:off x="8503920" y="4851000"/>
            <a:ext cx="365400" cy="45360"/>
          </a:xfrm>
          <a:prstGeom prst="rect">
            <a:avLst/>
          </a:prstGeom>
          <a:solidFill>
            <a:srgbClr val="14B8A6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2"/>
          <p:cNvSpPr/>
          <p:nvPr/>
        </p:nvSpPr>
        <p:spPr>
          <a:xfrm>
            <a:off x="6400800" y="47595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 spc="201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CHACHA20-POLY1305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/>
          <p:cNvSpPr/>
          <p:nvPr/>
        </p:nvSpPr>
        <p:spPr>
          <a:xfrm>
            <a:off x="457200" y="502920"/>
            <a:ext cx="164160" cy="1641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"/>
          <p:cNvSpPr/>
          <p:nvPr/>
        </p:nvSpPr>
        <p:spPr>
          <a:xfrm>
            <a:off x="713160" y="36576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What is end-to-end encryption?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2"/>
          <p:cNvSpPr/>
          <p:nvPr/>
        </p:nvSpPr>
        <p:spPr>
          <a:xfrm>
            <a:off x="713160" y="86868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Only the sender and the receiver can read the message — nobody in between.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3"/>
          <p:cNvSpPr/>
          <p:nvPr/>
        </p:nvSpPr>
        <p:spPr>
          <a:xfrm>
            <a:off x="457200" y="1417320"/>
            <a:ext cx="4023000" cy="320004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4"/>
          <p:cNvSpPr/>
          <p:nvPr/>
        </p:nvSpPr>
        <p:spPr>
          <a:xfrm>
            <a:off x="457200" y="1417320"/>
            <a:ext cx="54360" cy="320004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Image 0" descr="preencoded.png"/>
          <p:cNvPicPr/>
          <p:nvPr/>
        </p:nvPicPr>
        <p:blipFill>
          <a:blip r:embed="rId3"/>
          <a:stretch/>
        </p:blipFill>
        <p:spPr>
          <a:xfrm>
            <a:off x="713160" y="16275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Text 5"/>
          <p:cNvSpPr/>
          <p:nvPr/>
        </p:nvSpPr>
        <p:spPr>
          <a:xfrm>
            <a:off x="1280160" y="162756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The core idea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6"/>
          <p:cNvSpPr/>
          <p:nvPr/>
        </p:nvSpPr>
        <p:spPr>
          <a:xfrm>
            <a:off x="713160" y="2240280"/>
            <a:ext cx="3657240" cy="22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Messages are encrypted on the </a:t>
            </a:r>
            <a:r>
              <a:rPr lang="en-US" sz="1300" b="1" u="none" strike="noStrike">
                <a:solidFill>
                  <a:srgbClr val="0B1A2E"/>
                </a:solidFill>
                <a:effectLst/>
                <a:uFillTx/>
                <a:latin typeface="Calibri"/>
                <a:ea typeface="Calibri"/>
              </a:rPr>
              <a:t>sender's device</a:t>
            </a:r>
            <a:r>
              <a:rPr lang="en-US" sz="13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 and decrypted only on the </a:t>
            </a:r>
            <a:r>
              <a:rPr lang="en-US" sz="1300" b="1" u="none" strike="noStrike">
                <a:solidFill>
                  <a:srgbClr val="0B1A2E"/>
                </a:solidFill>
                <a:effectLst/>
                <a:uFillTx/>
                <a:latin typeface="Calibri"/>
                <a:ea typeface="Calibri"/>
              </a:rPr>
              <a:t>receiver's device</a:t>
            </a:r>
            <a:r>
              <a:rPr lang="en-US" sz="13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. The server only relays ciphertext — it cannot read the plaintext.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7"/>
          <p:cNvSpPr/>
          <p:nvPr/>
        </p:nvSpPr>
        <p:spPr>
          <a:xfrm>
            <a:off x="4754880" y="1417320"/>
            <a:ext cx="3931560" cy="68544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8"/>
          <p:cNvSpPr/>
          <p:nvPr/>
        </p:nvSpPr>
        <p:spPr>
          <a:xfrm>
            <a:off x="4892040" y="1563480"/>
            <a:ext cx="383760" cy="383760"/>
          </a:xfrm>
          <a:prstGeom prst="ellipse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9"/>
          <p:cNvSpPr/>
          <p:nvPr/>
        </p:nvSpPr>
        <p:spPr>
          <a:xfrm>
            <a:off x="4892040" y="15634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0"/>
          <p:cNvSpPr/>
          <p:nvPr/>
        </p:nvSpPr>
        <p:spPr>
          <a:xfrm>
            <a:off x="5440680" y="1417320"/>
            <a:ext cx="32000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B1A2E"/>
                </a:solidFill>
                <a:effectLst/>
                <a:uFillTx/>
                <a:latin typeface="Calibri"/>
                <a:ea typeface="Calibri"/>
              </a:rPr>
              <a:t>User types a message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1"/>
          <p:cNvSpPr/>
          <p:nvPr/>
        </p:nvSpPr>
        <p:spPr>
          <a:xfrm>
            <a:off x="4754880" y="2258640"/>
            <a:ext cx="3931560" cy="68544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2"/>
          <p:cNvSpPr/>
          <p:nvPr/>
        </p:nvSpPr>
        <p:spPr>
          <a:xfrm>
            <a:off x="4892040" y="2404800"/>
            <a:ext cx="383760" cy="383760"/>
          </a:xfrm>
          <a:prstGeom prst="ellipse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3"/>
          <p:cNvSpPr/>
          <p:nvPr/>
        </p:nvSpPr>
        <p:spPr>
          <a:xfrm>
            <a:off x="4892040" y="24048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4"/>
          <p:cNvSpPr/>
          <p:nvPr/>
        </p:nvSpPr>
        <p:spPr>
          <a:xfrm>
            <a:off x="5440680" y="2258640"/>
            <a:ext cx="32000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B1A2E"/>
                </a:solidFill>
                <a:effectLst/>
                <a:uFillTx/>
                <a:latin typeface="Calibri"/>
                <a:ea typeface="Calibri"/>
              </a:rPr>
              <a:t>Encrypted on the client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5"/>
          <p:cNvSpPr/>
          <p:nvPr/>
        </p:nvSpPr>
        <p:spPr>
          <a:xfrm>
            <a:off x="4754880" y="3099960"/>
            <a:ext cx="3931560" cy="68544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6"/>
          <p:cNvSpPr/>
          <p:nvPr/>
        </p:nvSpPr>
        <p:spPr>
          <a:xfrm>
            <a:off x="4892040" y="3246120"/>
            <a:ext cx="383760" cy="383760"/>
          </a:xfrm>
          <a:prstGeom prst="ellipse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7"/>
          <p:cNvSpPr/>
          <p:nvPr/>
        </p:nvSpPr>
        <p:spPr>
          <a:xfrm>
            <a:off x="4892040" y="32461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8"/>
          <p:cNvSpPr/>
          <p:nvPr/>
        </p:nvSpPr>
        <p:spPr>
          <a:xfrm>
            <a:off x="5440680" y="3099960"/>
            <a:ext cx="32000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B1A2E"/>
                </a:solidFill>
                <a:effectLst/>
                <a:uFillTx/>
                <a:latin typeface="Calibri"/>
                <a:ea typeface="Calibri"/>
              </a:rPr>
              <a:t>Ciphertext relayed by server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9"/>
          <p:cNvSpPr/>
          <p:nvPr/>
        </p:nvSpPr>
        <p:spPr>
          <a:xfrm>
            <a:off x="4754880" y="3940920"/>
            <a:ext cx="3931560" cy="68544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0"/>
          <p:cNvSpPr/>
          <p:nvPr/>
        </p:nvSpPr>
        <p:spPr>
          <a:xfrm>
            <a:off x="4892040" y="4087440"/>
            <a:ext cx="383760" cy="383760"/>
          </a:xfrm>
          <a:prstGeom prst="ellipse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1"/>
          <p:cNvSpPr/>
          <p:nvPr/>
        </p:nvSpPr>
        <p:spPr>
          <a:xfrm>
            <a:off x="4892040" y="40874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2"/>
          <p:cNvSpPr/>
          <p:nvPr/>
        </p:nvSpPr>
        <p:spPr>
          <a:xfrm>
            <a:off x="5440680" y="3940920"/>
            <a:ext cx="32000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B1A2E"/>
                </a:solidFill>
                <a:effectLst/>
                <a:uFillTx/>
                <a:latin typeface="Calibri"/>
                <a:ea typeface="Calibri"/>
              </a:rPr>
              <a:t>Receiver decrypts on client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3"/>
          <p:cNvSpPr/>
          <p:nvPr/>
        </p:nvSpPr>
        <p:spPr>
          <a:xfrm>
            <a:off x="8275320" y="4851000"/>
            <a:ext cx="164160" cy="45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4"/>
          <p:cNvSpPr/>
          <p:nvPr/>
        </p:nvSpPr>
        <p:spPr>
          <a:xfrm>
            <a:off x="8503920" y="4851000"/>
            <a:ext cx="365400" cy="45360"/>
          </a:xfrm>
          <a:prstGeom prst="rect">
            <a:avLst/>
          </a:prstGeom>
          <a:solidFill>
            <a:srgbClr val="0D9488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5"/>
          <p:cNvSpPr/>
          <p:nvPr/>
        </p:nvSpPr>
        <p:spPr>
          <a:xfrm>
            <a:off x="6400800" y="47595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 spc="201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CHACHA20-POLY1305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6"/>
          <p:cNvSpPr/>
          <p:nvPr/>
        </p:nvSpPr>
        <p:spPr>
          <a:xfrm>
            <a:off x="365760" y="47595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99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02 / 32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457200" y="502920"/>
            <a:ext cx="164160" cy="1641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"/>
          <p:cNvSpPr/>
          <p:nvPr/>
        </p:nvSpPr>
        <p:spPr>
          <a:xfrm>
            <a:off x="713160" y="36576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The Problem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"/>
          <p:cNvSpPr/>
          <p:nvPr/>
        </p:nvSpPr>
        <p:spPr>
          <a:xfrm>
            <a:off x="713160" y="86868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Plain TCP is easy. Securing it against real adversaries is not.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457200" y="1417320"/>
            <a:ext cx="3657240" cy="3200040"/>
          </a:xfrm>
          <a:prstGeom prst="rect">
            <a:avLst/>
          </a:prstGeom>
          <a:solidFill>
            <a:srgbClr val="F97066"/>
          </a:solidFill>
          <a:ln w="0">
            <a:noFill/>
          </a:ln>
          <a:effectLst>
            <a:outerShdw blurRad="101520" dist="25560" dir="5400000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" name="Image 0" descr="preencoded.png"/>
          <p:cNvPicPr/>
          <p:nvPr/>
        </p:nvPicPr>
        <p:blipFill>
          <a:blip r:embed="rId3"/>
          <a:stretch/>
        </p:blipFill>
        <p:spPr>
          <a:xfrm>
            <a:off x="1554480" y="1691640"/>
            <a:ext cx="1462680" cy="146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Text 4"/>
          <p:cNvSpPr/>
          <p:nvPr/>
        </p:nvSpPr>
        <p:spPr>
          <a:xfrm>
            <a:off x="640080" y="324612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Without encryption,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5"/>
          <p:cNvSpPr/>
          <p:nvPr/>
        </p:nvSpPr>
        <p:spPr>
          <a:xfrm>
            <a:off x="640080" y="3611880"/>
            <a:ext cx="3291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anyone in the middle can read everything.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6"/>
          <p:cNvSpPr/>
          <p:nvPr/>
        </p:nvSpPr>
        <p:spPr>
          <a:xfrm>
            <a:off x="4434840" y="1417320"/>
            <a:ext cx="4251600" cy="71280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7"/>
          <p:cNvSpPr/>
          <p:nvPr/>
        </p:nvSpPr>
        <p:spPr>
          <a:xfrm>
            <a:off x="4434840" y="1417320"/>
            <a:ext cx="54360" cy="712800"/>
          </a:xfrm>
          <a:prstGeom prst="rect">
            <a:avLst/>
          </a:prstGeom>
          <a:solidFill>
            <a:srgbClr val="F970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8"/>
          <p:cNvSpPr/>
          <p:nvPr/>
        </p:nvSpPr>
        <p:spPr>
          <a:xfrm>
            <a:off x="4572000" y="1472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Interception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9"/>
          <p:cNvSpPr/>
          <p:nvPr/>
        </p:nvSpPr>
        <p:spPr>
          <a:xfrm>
            <a:off x="4572000" y="1728360"/>
            <a:ext cx="4023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Messages can be captured by ISPs, network operators, or attackers on shared Wi-Fi.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0"/>
          <p:cNvSpPr/>
          <p:nvPr/>
        </p:nvSpPr>
        <p:spPr>
          <a:xfrm>
            <a:off x="4434840" y="2240280"/>
            <a:ext cx="4251600" cy="71280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1"/>
          <p:cNvSpPr/>
          <p:nvPr/>
        </p:nvSpPr>
        <p:spPr>
          <a:xfrm>
            <a:off x="4434840" y="2240280"/>
            <a:ext cx="54360" cy="712800"/>
          </a:xfrm>
          <a:prstGeom prst="rect">
            <a:avLst/>
          </a:prstGeom>
          <a:solidFill>
            <a:srgbClr val="F5B4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2"/>
          <p:cNvSpPr/>
          <p:nvPr/>
        </p:nvSpPr>
        <p:spPr>
          <a:xfrm>
            <a:off x="4572000" y="229500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Server Trust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3"/>
          <p:cNvSpPr/>
          <p:nvPr/>
        </p:nvSpPr>
        <p:spPr>
          <a:xfrm>
            <a:off x="4572000" y="2551320"/>
            <a:ext cx="4023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Without E2E, the server sees plaintext — one compromise leaks every conversation.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4"/>
          <p:cNvSpPr/>
          <p:nvPr/>
        </p:nvSpPr>
        <p:spPr>
          <a:xfrm>
            <a:off x="4434840" y="3063240"/>
            <a:ext cx="4251600" cy="71280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5"/>
          <p:cNvSpPr/>
          <p:nvPr/>
        </p:nvSpPr>
        <p:spPr>
          <a:xfrm>
            <a:off x="4434840" y="3063240"/>
            <a:ext cx="54360" cy="7128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6"/>
          <p:cNvSpPr/>
          <p:nvPr/>
        </p:nvSpPr>
        <p:spPr>
          <a:xfrm>
            <a:off x="4572000" y="311796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Tampering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7"/>
          <p:cNvSpPr/>
          <p:nvPr/>
        </p:nvSpPr>
        <p:spPr>
          <a:xfrm>
            <a:off x="4572000" y="3374280"/>
            <a:ext cx="4023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Without authentication, ciphertext can be modified and the receiver wouldn't know.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8"/>
          <p:cNvSpPr/>
          <p:nvPr/>
        </p:nvSpPr>
        <p:spPr>
          <a:xfrm>
            <a:off x="4434840" y="3886200"/>
            <a:ext cx="4251600" cy="71280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9"/>
          <p:cNvSpPr/>
          <p:nvPr/>
        </p:nvSpPr>
        <p:spPr>
          <a:xfrm>
            <a:off x="4434840" y="3886200"/>
            <a:ext cx="54360" cy="71280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0"/>
          <p:cNvSpPr/>
          <p:nvPr/>
        </p:nvSpPr>
        <p:spPr>
          <a:xfrm>
            <a:off x="4572000" y="394092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No Identity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1"/>
          <p:cNvSpPr/>
          <p:nvPr/>
        </p:nvSpPr>
        <p:spPr>
          <a:xfrm>
            <a:off x="4572000" y="4197240"/>
            <a:ext cx="4023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Without verification, anyone could impersonate the sender.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22"/>
          <p:cNvSpPr/>
          <p:nvPr/>
        </p:nvSpPr>
        <p:spPr>
          <a:xfrm>
            <a:off x="8275320" y="4851000"/>
            <a:ext cx="164160" cy="45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23"/>
          <p:cNvSpPr/>
          <p:nvPr/>
        </p:nvSpPr>
        <p:spPr>
          <a:xfrm>
            <a:off x="8503920" y="4851000"/>
            <a:ext cx="365400" cy="45360"/>
          </a:xfrm>
          <a:prstGeom prst="rect">
            <a:avLst/>
          </a:prstGeom>
          <a:solidFill>
            <a:srgbClr val="0D9488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4"/>
          <p:cNvSpPr/>
          <p:nvPr/>
        </p:nvSpPr>
        <p:spPr>
          <a:xfrm>
            <a:off x="6400800" y="47595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 spc="201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CHACHA20-POLY1305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5"/>
          <p:cNvSpPr/>
          <p:nvPr/>
        </p:nvSpPr>
        <p:spPr>
          <a:xfrm>
            <a:off x="365760" y="47595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99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03 / 32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/>
          <p:cNvSpPr/>
          <p:nvPr/>
        </p:nvSpPr>
        <p:spPr>
          <a:xfrm>
            <a:off x="457200" y="502920"/>
            <a:ext cx="164160" cy="1641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713160" y="365760"/>
            <a:ext cx="77720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E8EEF7"/>
                </a:solidFill>
                <a:effectLst/>
                <a:uFillTx/>
                <a:latin typeface="Georgia"/>
                <a:ea typeface="Georgia"/>
              </a:rPr>
              <a:t>Project Goal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"/>
          <p:cNvSpPr/>
          <p:nvPr/>
        </p:nvSpPr>
        <p:spPr>
          <a:xfrm>
            <a:off x="713160" y="868680"/>
            <a:ext cx="7772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Build a working chat application where the server can never read user messages.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3"/>
          <p:cNvSpPr/>
          <p:nvPr/>
        </p:nvSpPr>
        <p:spPr>
          <a:xfrm>
            <a:off x="457200" y="1417320"/>
            <a:ext cx="2048040" cy="3382920"/>
          </a:xfrm>
          <a:prstGeom prst="rect">
            <a:avLst/>
          </a:prstGeom>
          <a:solidFill>
            <a:srgbClr val="13243F"/>
          </a:solidFill>
          <a:ln w="9360">
            <a:solidFill>
              <a:srgbClr val="1E3A5F"/>
            </a:solidFill>
            <a:round/>
          </a:ln>
          <a:effectLst>
            <a:outerShdw blurRad="101520" dist="25560" dir="5400000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4"/>
          <p:cNvSpPr/>
          <p:nvPr/>
        </p:nvSpPr>
        <p:spPr>
          <a:xfrm>
            <a:off x="1046880" y="1691640"/>
            <a:ext cx="868320" cy="868320"/>
          </a:xfrm>
          <a:prstGeom prst="ellipse">
            <a:avLst/>
          </a:prstGeom>
          <a:solidFill>
            <a:srgbClr val="14B8A6">
              <a:alpha val="20000"/>
            </a:srgbClr>
          </a:solidFill>
          <a:ln w="1260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Image 0" descr="preencoded.png"/>
          <p:cNvPicPr/>
          <p:nvPr/>
        </p:nvPicPr>
        <p:blipFill>
          <a:blip r:embed="rId3"/>
          <a:stretch/>
        </p:blipFill>
        <p:spPr>
          <a:xfrm>
            <a:off x="1252800" y="18975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Text 5"/>
          <p:cNvSpPr/>
          <p:nvPr/>
        </p:nvSpPr>
        <p:spPr>
          <a:xfrm>
            <a:off x="594360" y="2697480"/>
            <a:ext cx="17737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8EEF7"/>
                </a:solidFill>
                <a:effectLst/>
                <a:uFillTx/>
                <a:latin typeface="Georgia"/>
                <a:ea typeface="Georgia"/>
              </a:rPr>
              <a:t>Build a secure chat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6"/>
          <p:cNvSpPr/>
          <p:nvPr/>
        </p:nvSpPr>
        <p:spPr>
          <a:xfrm>
            <a:off x="1298520" y="3291840"/>
            <a:ext cx="365400" cy="2268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7"/>
          <p:cNvSpPr/>
          <p:nvPr/>
        </p:nvSpPr>
        <p:spPr>
          <a:xfrm>
            <a:off x="640080" y="3429000"/>
            <a:ext cx="16822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Functional Python client/server with real socket communication.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8"/>
          <p:cNvSpPr/>
          <p:nvPr/>
        </p:nvSpPr>
        <p:spPr>
          <a:xfrm>
            <a:off x="2624400" y="1417320"/>
            <a:ext cx="2048040" cy="3382920"/>
          </a:xfrm>
          <a:prstGeom prst="rect">
            <a:avLst/>
          </a:prstGeom>
          <a:solidFill>
            <a:srgbClr val="13243F"/>
          </a:solidFill>
          <a:ln w="9360">
            <a:solidFill>
              <a:srgbClr val="1E3A5F"/>
            </a:solidFill>
            <a:round/>
          </a:ln>
          <a:effectLst>
            <a:outerShdw blurRad="101520" dist="25560" dir="5400000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9"/>
          <p:cNvSpPr/>
          <p:nvPr/>
        </p:nvSpPr>
        <p:spPr>
          <a:xfrm>
            <a:off x="3214080" y="1691640"/>
            <a:ext cx="868320" cy="868320"/>
          </a:xfrm>
          <a:prstGeom prst="ellipse">
            <a:avLst/>
          </a:prstGeom>
          <a:solidFill>
            <a:srgbClr val="14B8A6">
              <a:alpha val="20000"/>
            </a:srgbClr>
          </a:solidFill>
          <a:ln w="1260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1" descr="preencoded.png"/>
          <p:cNvPicPr/>
          <p:nvPr/>
        </p:nvPicPr>
        <p:blipFill>
          <a:blip r:embed="rId4"/>
          <a:stretch/>
        </p:blipFill>
        <p:spPr>
          <a:xfrm>
            <a:off x="3420000" y="18975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 10"/>
          <p:cNvSpPr/>
          <p:nvPr/>
        </p:nvSpPr>
        <p:spPr>
          <a:xfrm>
            <a:off x="2761560" y="2697480"/>
            <a:ext cx="17737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8EEF7"/>
                </a:solidFill>
                <a:effectLst/>
                <a:uFillTx/>
                <a:latin typeface="Georgia"/>
                <a:ea typeface="Georgia"/>
              </a:rPr>
              <a:t>End-to-end encrypted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1"/>
          <p:cNvSpPr/>
          <p:nvPr/>
        </p:nvSpPr>
        <p:spPr>
          <a:xfrm>
            <a:off x="3465720" y="3291840"/>
            <a:ext cx="365400" cy="2268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2"/>
          <p:cNvSpPr/>
          <p:nvPr/>
        </p:nvSpPr>
        <p:spPr>
          <a:xfrm>
            <a:off x="2807280" y="3429000"/>
            <a:ext cx="16822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Plaintext never leaves the client; only ciphertext crosses the wire.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3"/>
          <p:cNvSpPr/>
          <p:nvPr/>
        </p:nvSpPr>
        <p:spPr>
          <a:xfrm>
            <a:off x="4791600" y="1417320"/>
            <a:ext cx="2048040" cy="3382920"/>
          </a:xfrm>
          <a:prstGeom prst="rect">
            <a:avLst/>
          </a:prstGeom>
          <a:solidFill>
            <a:srgbClr val="13243F"/>
          </a:solidFill>
          <a:ln w="9360">
            <a:solidFill>
              <a:srgbClr val="1E3A5F"/>
            </a:solidFill>
            <a:round/>
          </a:ln>
          <a:effectLst>
            <a:outerShdw blurRad="101520" dist="25560" dir="5400000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4"/>
          <p:cNvSpPr/>
          <p:nvPr/>
        </p:nvSpPr>
        <p:spPr>
          <a:xfrm>
            <a:off x="5381280" y="1691640"/>
            <a:ext cx="868320" cy="868320"/>
          </a:xfrm>
          <a:prstGeom prst="ellipse">
            <a:avLst/>
          </a:prstGeom>
          <a:solidFill>
            <a:srgbClr val="14B8A6">
              <a:alpha val="20000"/>
            </a:srgbClr>
          </a:solidFill>
          <a:ln w="1260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Image 2" descr="preencoded.png"/>
          <p:cNvPicPr/>
          <p:nvPr/>
        </p:nvPicPr>
        <p:blipFill>
          <a:blip r:embed="rId5"/>
          <a:stretch/>
        </p:blipFill>
        <p:spPr>
          <a:xfrm>
            <a:off x="5586840" y="18975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Text 15"/>
          <p:cNvSpPr/>
          <p:nvPr/>
        </p:nvSpPr>
        <p:spPr>
          <a:xfrm>
            <a:off x="4928760" y="2697480"/>
            <a:ext cx="17737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8EEF7"/>
                </a:solidFill>
                <a:effectLst/>
                <a:uFillTx/>
                <a:latin typeface="Georgia"/>
                <a:ea typeface="Georgia"/>
              </a:rPr>
              <a:t>Server is blind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6"/>
          <p:cNvSpPr/>
          <p:nvPr/>
        </p:nvSpPr>
        <p:spPr>
          <a:xfrm>
            <a:off x="5632560" y="3291840"/>
            <a:ext cx="365400" cy="2268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7"/>
          <p:cNvSpPr/>
          <p:nvPr/>
        </p:nvSpPr>
        <p:spPr>
          <a:xfrm>
            <a:off x="4974480" y="3429000"/>
            <a:ext cx="16822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Relay forwards opaque ciphertext — no key, no read access.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8"/>
          <p:cNvSpPr/>
          <p:nvPr/>
        </p:nvSpPr>
        <p:spPr>
          <a:xfrm>
            <a:off x="6958440" y="1417320"/>
            <a:ext cx="2048040" cy="3382920"/>
          </a:xfrm>
          <a:prstGeom prst="rect">
            <a:avLst/>
          </a:prstGeom>
          <a:solidFill>
            <a:srgbClr val="13243F"/>
          </a:solidFill>
          <a:ln w="9360">
            <a:solidFill>
              <a:srgbClr val="1E3A5F"/>
            </a:solidFill>
            <a:round/>
          </a:ln>
          <a:effectLst>
            <a:outerShdw blurRad="101520" dist="25560" dir="5400000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9"/>
          <p:cNvSpPr/>
          <p:nvPr/>
        </p:nvSpPr>
        <p:spPr>
          <a:xfrm>
            <a:off x="7548480" y="1691640"/>
            <a:ext cx="868320" cy="868320"/>
          </a:xfrm>
          <a:prstGeom prst="ellipse">
            <a:avLst/>
          </a:prstGeom>
          <a:solidFill>
            <a:srgbClr val="14B8A6">
              <a:alpha val="20000"/>
            </a:srgbClr>
          </a:solidFill>
          <a:ln w="1260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Image 3" descr="preencoded.png"/>
          <p:cNvPicPr/>
          <p:nvPr/>
        </p:nvPicPr>
        <p:blipFill>
          <a:blip r:embed="rId6"/>
          <a:stretch/>
        </p:blipFill>
        <p:spPr>
          <a:xfrm>
            <a:off x="7754040" y="18975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 20"/>
          <p:cNvSpPr/>
          <p:nvPr/>
        </p:nvSpPr>
        <p:spPr>
          <a:xfrm>
            <a:off x="7095600" y="2697480"/>
            <a:ext cx="17737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8EEF7"/>
                </a:solidFill>
                <a:effectLst/>
                <a:uFillTx/>
                <a:latin typeface="Georgia"/>
                <a:ea typeface="Georgia"/>
              </a:rPr>
              <a:t>ChaCha20-Poly1305 core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1"/>
          <p:cNvSpPr/>
          <p:nvPr/>
        </p:nvSpPr>
        <p:spPr>
          <a:xfrm>
            <a:off x="7799760" y="3291840"/>
            <a:ext cx="365400" cy="2268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2"/>
          <p:cNvSpPr/>
          <p:nvPr/>
        </p:nvSpPr>
        <p:spPr>
          <a:xfrm>
            <a:off x="7141320" y="3429000"/>
            <a:ext cx="16822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Use a modern AEAD cipher with built-in authentication.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23"/>
          <p:cNvSpPr/>
          <p:nvPr/>
        </p:nvSpPr>
        <p:spPr>
          <a:xfrm>
            <a:off x="8275320" y="4851000"/>
            <a:ext cx="164160" cy="453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24"/>
          <p:cNvSpPr/>
          <p:nvPr/>
        </p:nvSpPr>
        <p:spPr>
          <a:xfrm>
            <a:off x="8503920" y="4851000"/>
            <a:ext cx="365400" cy="45360"/>
          </a:xfrm>
          <a:prstGeom prst="rect">
            <a:avLst/>
          </a:prstGeom>
          <a:solidFill>
            <a:srgbClr val="14B8A6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5"/>
          <p:cNvSpPr/>
          <p:nvPr/>
        </p:nvSpPr>
        <p:spPr>
          <a:xfrm>
            <a:off x="6400800" y="47595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 spc="201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CHACHA20-POLY1305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6"/>
          <p:cNvSpPr/>
          <p:nvPr/>
        </p:nvSpPr>
        <p:spPr>
          <a:xfrm>
            <a:off x="365760" y="47595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99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04 / 32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0"/>
          <p:cNvSpPr/>
          <p:nvPr/>
        </p:nvSpPr>
        <p:spPr>
          <a:xfrm>
            <a:off x="457200" y="502920"/>
            <a:ext cx="164160" cy="1641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"/>
          <p:cNvSpPr/>
          <p:nvPr/>
        </p:nvSpPr>
        <p:spPr>
          <a:xfrm>
            <a:off x="713160" y="36576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System Architecture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"/>
          <p:cNvSpPr/>
          <p:nvPr/>
        </p:nvSpPr>
        <p:spPr>
          <a:xfrm>
            <a:off x="713160" y="86868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 relay-only server forwards ciphertext between authenticated clients.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3"/>
          <p:cNvSpPr/>
          <p:nvPr/>
        </p:nvSpPr>
        <p:spPr>
          <a:xfrm>
            <a:off x="548640" y="2011680"/>
            <a:ext cx="1737000" cy="1371240"/>
          </a:xfrm>
          <a:prstGeom prst="rect">
            <a:avLst/>
          </a:prstGeom>
          <a:solidFill>
            <a:srgbClr val="FFFFFF"/>
          </a:solidFill>
          <a:ln w="19080">
            <a:solidFill>
              <a:srgbClr val="14B8A6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Image 0" descr="preencoded.png"/>
          <p:cNvPicPr/>
          <p:nvPr/>
        </p:nvPicPr>
        <p:blipFill>
          <a:blip r:embed="rId3"/>
          <a:stretch/>
        </p:blipFill>
        <p:spPr>
          <a:xfrm>
            <a:off x="1166040" y="219456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 4"/>
          <p:cNvSpPr/>
          <p:nvPr/>
        </p:nvSpPr>
        <p:spPr>
          <a:xfrm>
            <a:off x="548640" y="2743200"/>
            <a:ext cx="17370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Client 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548640" y="3035880"/>
            <a:ext cx="17370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Encrypts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6"/>
          <p:cNvSpPr/>
          <p:nvPr/>
        </p:nvSpPr>
        <p:spPr>
          <a:xfrm>
            <a:off x="3703320" y="2011680"/>
            <a:ext cx="1737000" cy="1371240"/>
          </a:xfrm>
          <a:prstGeom prst="rect">
            <a:avLst/>
          </a:prstGeom>
          <a:solidFill>
            <a:srgbClr val="FFFFFF"/>
          </a:solidFill>
          <a:ln w="19080">
            <a:solidFill>
              <a:srgbClr val="475569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Image 1" descr="preencoded.png"/>
          <p:cNvPicPr/>
          <p:nvPr/>
        </p:nvPicPr>
        <p:blipFill>
          <a:blip r:embed="rId4"/>
          <a:stretch/>
        </p:blipFill>
        <p:spPr>
          <a:xfrm>
            <a:off x="4320720" y="219456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Text 7"/>
          <p:cNvSpPr/>
          <p:nvPr/>
        </p:nvSpPr>
        <p:spPr>
          <a:xfrm>
            <a:off x="3703320" y="2743200"/>
            <a:ext cx="17370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Server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8"/>
          <p:cNvSpPr/>
          <p:nvPr/>
        </p:nvSpPr>
        <p:spPr>
          <a:xfrm>
            <a:off x="3703320" y="3035880"/>
            <a:ext cx="17370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Relays only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9"/>
          <p:cNvSpPr/>
          <p:nvPr/>
        </p:nvSpPr>
        <p:spPr>
          <a:xfrm>
            <a:off x="6858000" y="2011680"/>
            <a:ext cx="1737000" cy="1371240"/>
          </a:xfrm>
          <a:prstGeom prst="rect">
            <a:avLst/>
          </a:prstGeom>
          <a:solidFill>
            <a:srgbClr val="FFFFFF"/>
          </a:solidFill>
          <a:ln w="19080">
            <a:solidFill>
              <a:srgbClr val="14B8A6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Image 2" descr="preencoded.png"/>
          <p:cNvPicPr/>
          <p:nvPr/>
        </p:nvPicPr>
        <p:blipFill>
          <a:blip r:embed="rId5"/>
          <a:stretch/>
        </p:blipFill>
        <p:spPr>
          <a:xfrm>
            <a:off x="7475400" y="219456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Text 10"/>
          <p:cNvSpPr/>
          <p:nvPr/>
        </p:nvSpPr>
        <p:spPr>
          <a:xfrm>
            <a:off x="6858000" y="2743200"/>
            <a:ext cx="17370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Client B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1"/>
          <p:cNvSpPr/>
          <p:nvPr/>
        </p:nvSpPr>
        <p:spPr>
          <a:xfrm>
            <a:off x="6858000" y="3035880"/>
            <a:ext cx="17370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Decrypts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2"/>
          <p:cNvSpPr/>
          <p:nvPr/>
        </p:nvSpPr>
        <p:spPr>
          <a:xfrm>
            <a:off x="2286000" y="233172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0D9488"/>
                </a:solidFill>
                <a:effectLst/>
                <a:uFillTx/>
                <a:latin typeface="Consolas"/>
                <a:ea typeface="Consolas"/>
              </a:rPr>
              <a:t>ciphertext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3"/>
          <p:cNvSpPr/>
          <p:nvPr/>
        </p:nvSpPr>
        <p:spPr>
          <a:xfrm>
            <a:off x="2286000" y="2697480"/>
            <a:ext cx="1417320" cy="360"/>
          </a:xfrm>
          <a:prstGeom prst="line">
            <a:avLst/>
          </a:prstGeom>
          <a:ln w="31680">
            <a:solidFill>
              <a:srgbClr val="14B8A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4"/>
          <p:cNvSpPr/>
          <p:nvPr/>
        </p:nvSpPr>
        <p:spPr>
          <a:xfrm>
            <a:off x="5440680" y="233172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0D9488"/>
                </a:solidFill>
                <a:effectLst/>
                <a:uFillTx/>
                <a:latin typeface="Consolas"/>
                <a:ea typeface="Consolas"/>
              </a:rPr>
              <a:t>ciphertext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5"/>
          <p:cNvSpPr/>
          <p:nvPr/>
        </p:nvSpPr>
        <p:spPr>
          <a:xfrm>
            <a:off x="5440680" y="2697480"/>
            <a:ext cx="1417320" cy="360"/>
          </a:xfrm>
          <a:prstGeom prst="line">
            <a:avLst/>
          </a:prstGeom>
          <a:ln w="31680">
            <a:solidFill>
              <a:srgbClr val="14B8A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6"/>
          <p:cNvSpPr/>
          <p:nvPr/>
        </p:nvSpPr>
        <p:spPr>
          <a:xfrm>
            <a:off x="3703320" y="3657600"/>
            <a:ext cx="1737000" cy="868320"/>
          </a:xfrm>
          <a:prstGeom prst="rect">
            <a:avLst/>
          </a:prstGeom>
          <a:solidFill>
            <a:srgbClr val="F4F7FB"/>
          </a:solidFill>
          <a:ln w="12600">
            <a:solidFill>
              <a:srgbClr val="F97066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7"/>
          <p:cNvSpPr/>
          <p:nvPr/>
        </p:nvSpPr>
        <p:spPr>
          <a:xfrm>
            <a:off x="3749040" y="370332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server sees: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8"/>
          <p:cNvSpPr/>
          <p:nvPr/>
        </p:nvSpPr>
        <p:spPr>
          <a:xfrm>
            <a:off x="3749040" y="397764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97066"/>
                </a:solidFill>
                <a:effectLst/>
                <a:uFillTx/>
                <a:latin typeface="Consolas"/>
                <a:ea typeface="Consolas"/>
              </a:rPr>
              <a:t>0xA3F2…91BC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9"/>
          <p:cNvSpPr/>
          <p:nvPr/>
        </p:nvSpPr>
        <p:spPr>
          <a:xfrm>
            <a:off x="8275320" y="4851000"/>
            <a:ext cx="164160" cy="45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20"/>
          <p:cNvSpPr/>
          <p:nvPr/>
        </p:nvSpPr>
        <p:spPr>
          <a:xfrm>
            <a:off x="8503920" y="4851000"/>
            <a:ext cx="365400" cy="45360"/>
          </a:xfrm>
          <a:prstGeom prst="rect">
            <a:avLst/>
          </a:prstGeom>
          <a:solidFill>
            <a:srgbClr val="0D9488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1"/>
          <p:cNvSpPr/>
          <p:nvPr/>
        </p:nvSpPr>
        <p:spPr>
          <a:xfrm>
            <a:off x="6400800" y="47595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 spc="201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CHACHA20-POLY1305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2"/>
          <p:cNvSpPr/>
          <p:nvPr/>
        </p:nvSpPr>
        <p:spPr>
          <a:xfrm>
            <a:off x="365760" y="47595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99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05 / 32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0"/>
          <p:cNvSpPr/>
          <p:nvPr/>
        </p:nvSpPr>
        <p:spPr>
          <a:xfrm>
            <a:off x="457200" y="502920"/>
            <a:ext cx="164160" cy="1641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"/>
          <p:cNvSpPr/>
          <p:nvPr/>
        </p:nvSpPr>
        <p:spPr>
          <a:xfrm>
            <a:off x="713160" y="36576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Communication Phases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"/>
          <p:cNvSpPr/>
          <p:nvPr/>
        </p:nvSpPr>
        <p:spPr>
          <a:xfrm>
            <a:off x="713160" y="86868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Two phases: a one-time handshake, then fast symmetric messaging.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3"/>
          <p:cNvSpPr/>
          <p:nvPr/>
        </p:nvSpPr>
        <p:spPr>
          <a:xfrm>
            <a:off x="457200" y="1434572"/>
            <a:ext cx="3977280" cy="32457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4"/>
          <p:cNvSpPr/>
          <p:nvPr/>
        </p:nvSpPr>
        <p:spPr>
          <a:xfrm>
            <a:off x="640080" y="1417320"/>
            <a:ext cx="127980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0" b="1" u="none" strike="noStrike">
                <a:solidFill>
                  <a:srgbClr val="FCE49A"/>
                </a:solidFill>
                <a:effectLst/>
                <a:uFillTx/>
                <a:latin typeface="Georgia"/>
                <a:ea typeface="Georgia"/>
              </a:rPr>
              <a:t>1</a:t>
            </a:r>
            <a:endParaRPr lang="en-US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5"/>
          <p:cNvSpPr/>
          <p:nvPr/>
        </p:nvSpPr>
        <p:spPr>
          <a:xfrm>
            <a:off x="3566160" y="1600200"/>
            <a:ext cx="731160" cy="731160"/>
          </a:xfrm>
          <a:prstGeom prst="ellipse">
            <a:avLst/>
          </a:prstGeom>
          <a:solidFill>
            <a:srgbClr val="F5B400">
              <a:alpha val="20000"/>
            </a:srgbClr>
          </a:solidFill>
          <a:ln w="12600">
            <a:solidFill>
              <a:srgbClr val="F5B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Image 0" descr="preencoded.png"/>
          <p:cNvPicPr/>
          <p:nvPr/>
        </p:nvPicPr>
        <p:blipFill>
          <a:blip r:embed="rId3"/>
          <a:stretch/>
        </p:blipFill>
        <p:spPr>
          <a:xfrm>
            <a:off x="3749040" y="1783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 6"/>
          <p:cNvSpPr/>
          <p:nvPr/>
        </p:nvSpPr>
        <p:spPr>
          <a:xfrm>
            <a:off x="731520" y="269748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400">
                <a:solidFill>
                  <a:srgbClr val="F5B400"/>
                </a:solidFill>
                <a:effectLst/>
                <a:uFillTx/>
                <a:latin typeface="Calibri"/>
                <a:ea typeface="Calibri"/>
              </a:rPr>
              <a:t>PHASE 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7"/>
          <p:cNvSpPr/>
          <p:nvPr/>
        </p:nvSpPr>
        <p:spPr>
          <a:xfrm>
            <a:off x="731520" y="292608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 dirty="0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Key Exchange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8"/>
          <p:cNvSpPr/>
          <p:nvPr/>
        </p:nvSpPr>
        <p:spPr>
          <a:xfrm>
            <a:off x="731520" y="338328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F5B400"/>
                </a:solidFill>
                <a:effectLst/>
                <a:uFillTx/>
                <a:latin typeface="Consolas"/>
                <a:ea typeface="Consolas"/>
              </a:rPr>
              <a:t>RSA-2048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9"/>
          <p:cNvSpPr/>
          <p:nvPr/>
        </p:nvSpPr>
        <p:spPr>
          <a:xfrm>
            <a:off x="731520" y="3749040"/>
            <a:ext cx="36572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Public-key cryptography establishes a shared symmetric key. RSA is slow but only runs once per session.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0"/>
          <p:cNvSpPr/>
          <p:nvPr/>
        </p:nvSpPr>
        <p:spPr>
          <a:xfrm>
            <a:off x="4709160" y="1417320"/>
            <a:ext cx="3977280" cy="32457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1"/>
          <p:cNvSpPr/>
          <p:nvPr/>
        </p:nvSpPr>
        <p:spPr>
          <a:xfrm>
            <a:off x="4892040" y="1417320"/>
            <a:ext cx="127980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0" b="1" u="none" strike="noStrike">
                <a:solidFill>
                  <a:srgbClr val="9DECDD"/>
                </a:solidFill>
                <a:effectLst/>
                <a:uFillTx/>
                <a:latin typeface="Georgia"/>
                <a:ea typeface="Georgia"/>
              </a:rPr>
              <a:t>2</a:t>
            </a:r>
            <a:endParaRPr lang="en-US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2"/>
          <p:cNvSpPr/>
          <p:nvPr/>
        </p:nvSpPr>
        <p:spPr>
          <a:xfrm>
            <a:off x="7818120" y="1600200"/>
            <a:ext cx="731160" cy="731160"/>
          </a:xfrm>
          <a:prstGeom prst="ellipse">
            <a:avLst/>
          </a:prstGeom>
          <a:solidFill>
            <a:srgbClr val="14B8A6">
              <a:alpha val="20000"/>
            </a:srgbClr>
          </a:solidFill>
          <a:ln w="1260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" name="Image 1" descr="preencoded.png"/>
          <p:cNvPicPr/>
          <p:nvPr/>
        </p:nvPicPr>
        <p:blipFill>
          <a:blip r:embed="rId4"/>
          <a:stretch/>
        </p:blipFill>
        <p:spPr>
          <a:xfrm>
            <a:off x="8001000" y="1783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Text 13"/>
          <p:cNvSpPr/>
          <p:nvPr/>
        </p:nvSpPr>
        <p:spPr>
          <a:xfrm>
            <a:off x="4983480" y="269748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400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PHASE 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4"/>
          <p:cNvSpPr/>
          <p:nvPr/>
        </p:nvSpPr>
        <p:spPr>
          <a:xfrm>
            <a:off x="4983480" y="292608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Secure Messaging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5"/>
          <p:cNvSpPr/>
          <p:nvPr/>
        </p:nvSpPr>
        <p:spPr>
          <a:xfrm>
            <a:off x="4983480" y="338328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14B8A6"/>
                </a:solidFill>
                <a:effectLst/>
                <a:uFillTx/>
                <a:latin typeface="Consolas"/>
                <a:ea typeface="Consolas"/>
              </a:rPr>
              <a:t>ChaCha20-Poly1305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6"/>
          <p:cNvSpPr/>
          <p:nvPr/>
        </p:nvSpPr>
        <p:spPr>
          <a:xfrm>
            <a:off x="4983480" y="3749040"/>
            <a:ext cx="36572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All subsequent messages are encrypted with the shared symmetric key. Fast, authenticated, repeatable.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7"/>
          <p:cNvSpPr/>
          <p:nvPr/>
        </p:nvSpPr>
        <p:spPr>
          <a:xfrm>
            <a:off x="4434840" y="3017520"/>
            <a:ext cx="274320" cy="360"/>
          </a:xfrm>
          <a:prstGeom prst="line">
            <a:avLst/>
          </a:prstGeom>
          <a:ln w="25560">
            <a:solidFill>
              <a:srgbClr val="4755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8"/>
          <p:cNvSpPr/>
          <p:nvPr/>
        </p:nvSpPr>
        <p:spPr>
          <a:xfrm>
            <a:off x="8275320" y="4851000"/>
            <a:ext cx="164160" cy="45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9"/>
          <p:cNvSpPr/>
          <p:nvPr/>
        </p:nvSpPr>
        <p:spPr>
          <a:xfrm>
            <a:off x="8503920" y="4851000"/>
            <a:ext cx="365400" cy="45360"/>
          </a:xfrm>
          <a:prstGeom prst="rect">
            <a:avLst/>
          </a:prstGeom>
          <a:solidFill>
            <a:srgbClr val="0D9488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0"/>
          <p:cNvSpPr/>
          <p:nvPr/>
        </p:nvSpPr>
        <p:spPr>
          <a:xfrm>
            <a:off x="6400800" y="47595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 spc="201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CHACHA20-POLY1305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1"/>
          <p:cNvSpPr/>
          <p:nvPr/>
        </p:nvSpPr>
        <p:spPr>
          <a:xfrm>
            <a:off x="365760" y="47595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99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06 / 32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0"/>
          <p:cNvSpPr/>
          <p:nvPr/>
        </p:nvSpPr>
        <p:spPr>
          <a:xfrm>
            <a:off x="457200" y="502920"/>
            <a:ext cx="164160" cy="1641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"/>
          <p:cNvSpPr/>
          <p:nvPr/>
        </p:nvSpPr>
        <p:spPr>
          <a:xfrm>
            <a:off x="713160" y="36576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What is ChaCha20-Poly1305?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"/>
          <p:cNvSpPr/>
          <p:nvPr/>
        </p:nvSpPr>
        <p:spPr>
          <a:xfrm>
            <a:off x="713160" y="86868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An Authenticated Encryption with Associated Data (AEAD) cipher.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3"/>
          <p:cNvSpPr/>
          <p:nvPr/>
        </p:nvSpPr>
        <p:spPr>
          <a:xfrm>
            <a:off x="457200" y="1417320"/>
            <a:ext cx="8229240" cy="1279800"/>
          </a:xfrm>
          <a:prstGeom prst="rect">
            <a:avLst/>
          </a:prstGeom>
          <a:solidFill>
            <a:srgbClr val="0B1A2E"/>
          </a:solidFill>
          <a:ln w="0">
            <a:noFill/>
          </a:ln>
          <a:effectLst>
            <a:outerShdw blurRad="101520" dist="25560" dir="5400000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4"/>
          <p:cNvSpPr/>
          <p:nvPr/>
        </p:nvSpPr>
        <p:spPr>
          <a:xfrm>
            <a:off x="822960" y="1691640"/>
            <a:ext cx="2377080" cy="7311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5"/>
          <p:cNvSpPr/>
          <p:nvPr/>
        </p:nvSpPr>
        <p:spPr>
          <a:xfrm>
            <a:off x="822960" y="169164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ChaCha20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6"/>
          <p:cNvSpPr/>
          <p:nvPr/>
        </p:nvSpPr>
        <p:spPr>
          <a:xfrm>
            <a:off x="822960" y="207576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stream cipher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7"/>
          <p:cNvSpPr/>
          <p:nvPr/>
        </p:nvSpPr>
        <p:spPr>
          <a:xfrm>
            <a:off x="3246120" y="1691640"/>
            <a:ext cx="4568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E8EEF7"/>
                </a:solidFill>
                <a:effectLst/>
                <a:uFillTx/>
                <a:latin typeface="Georgia"/>
                <a:ea typeface="Georgia"/>
              </a:rPr>
              <a:t>+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8"/>
          <p:cNvSpPr/>
          <p:nvPr/>
        </p:nvSpPr>
        <p:spPr>
          <a:xfrm>
            <a:off x="3749040" y="1691640"/>
            <a:ext cx="2377080" cy="73116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9"/>
          <p:cNvSpPr/>
          <p:nvPr/>
        </p:nvSpPr>
        <p:spPr>
          <a:xfrm>
            <a:off x="3749040" y="169164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Poly1305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0"/>
          <p:cNvSpPr/>
          <p:nvPr/>
        </p:nvSpPr>
        <p:spPr>
          <a:xfrm>
            <a:off x="3749040" y="207576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1"/>
          <p:cNvSpPr/>
          <p:nvPr/>
        </p:nvSpPr>
        <p:spPr>
          <a:xfrm>
            <a:off x="6172200" y="1691640"/>
            <a:ext cx="4568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E8EEF7"/>
                </a:solidFill>
                <a:effectLst/>
                <a:uFillTx/>
                <a:latin typeface="Georgia"/>
                <a:ea typeface="Georgia"/>
              </a:rPr>
              <a:t>=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2"/>
          <p:cNvSpPr/>
          <p:nvPr/>
        </p:nvSpPr>
        <p:spPr>
          <a:xfrm>
            <a:off x="6675120" y="1691640"/>
            <a:ext cx="1645560" cy="731160"/>
          </a:xfrm>
          <a:prstGeom prst="rect">
            <a:avLst/>
          </a:prstGeom>
          <a:solidFill>
            <a:srgbClr val="F5B4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3"/>
          <p:cNvSpPr/>
          <p:nvPr/>
        </p:nvSpPr>
        <p:spPr>
          <a:xfrm>
            <a:off x="6675120" y="169164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AEAD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4"/>
          <p:cNvSpPr/>
          <p:nvPr/>
        </p:nvSpPr>
        <p:spPr>
          <a:xfrm>
            <a:off x="6675120" y="207576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0B1A2E"/>
                </a:solidFill>
                <a:effectLst/>
                <a:uFillTx/>
                <a:latin typeface="Calibri"/>
                <a:ea typeface="Calibri"/>
              </a:rPr>
              <a:t>authenticated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5"/>
          <p:cNvSpPr/>
          <p:nvPr/>
        </p:nvSpPr>
        <p:spPr>
          <a:xfrm>
            <a:off x="457200" y="2971800"/>
            <a:ext cx="2651400" cy="169128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8" name="Image 0" descr="preencoded.png"/>
          <p:cNvPicPr/>
          <p:nvPr/>
        </p:nvPicPr>
        <p:blipFill>
          <a:blip r:embed="rId3"/>
          <a:stretch/>
        </p:blipFill>
        <p:spPr>
          <a:xfrm>
            <a:off x="685800" y="31546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Text 16"/>
          <p:cNvSpPr/>
          <p:nvPr/>
        </p:nvSpPr>
        <p:spPr>
          <a:xfrm>
            <a:off x="1143000" y="3108960"/>
            <a:ext cx="1874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Confidentiality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7"/>
          <p:cNvSpPr/>
          <p:nvPr/>
        </p:nvSpPr>
        <p:spPr>
          <a:xfrm>
            <a:off x="685800" y="3611880"/>
            <a:ext cx="223992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ChaCha20 hides the plaintext from eavesdroppers.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8"/>
          <p:cNvSpPr/>
          <p:nvPr/>
        </p:nvSpPr>
        <p:spPr>
          <a:xfrm>
            <a:off x="3246120" y="2971800"/>
            <a:ext cx="2651400" cy="169128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2" name="Image 1" descr="preencoded.png"/>
          <p:cNvPicPr/>
          <p:nvPr/>
        </p:nvPicPr>
        <p:blipFill>
          <a:blip r:embed="rId4"/>
          <a:stretch/>
        </p:blipFill>
        <p:spPr>
          <a:xfrm>
            <a:off x="3474720" y="31546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Text 19"/>
          <p:cNvSpPr/>
          <p:nvPr/>
        </p:nvSpPr>
        <p:spPr>
          <a:xfrm>
            <a:off x="3931920" y="3108960"/>
            <a:ext cx="1874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Integrity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0"/>
          <p:cNvSpPr/>
          <p:nvPr/>
        </p:nvSpPr>
        <p:spPr>
          <a:xfrm>
            <a:off x="3474720" y="3611880"/>
            <a:ext cx="223992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Poly1305 detects any modification of the ciphertext.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1"/>
          <p:cNvSpPr/>
          <p:nvPr/>
        </p:nvSpPr>
        <p:spPr>
          <a:xfrm>
            <a:off x="6035040" y="2971800"/>
            <a:ext cx="2651400" cy="169128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6" name="Image 2" descr="preencoded.png"/>
          <p:cNvPicPr/>
          <p:nvPr/>
        </p:nvPicPr>
        <p:blipFill>
          <a:blip r:embed="rId5"/>
          <a:stretch/>
        </p:blipFill>
        <p:spPr>
          <a:xfrm>
            <a:off x="6263640" y="31546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Text 22"/>
          <p:cNvSpPr/>
          <p:nvPr/>
        </p:nvSpPr>
        <p:spPr>
          <a:xfrm>
            <a:off x="6720840" y="3108960"/>
            <a:ext cx="1874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Single primitive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3"/>
          <p:cNvSpPr/>
          <p:nvPr/>
        </p:nvSpPr>
        <p:spPr>
          <a:xfrm>
            <a:off x="6263640" y="3611880"/>
            <a:ext cx="223992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One operation provides both — no separate MAC step.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4"/>
          <p:cNvSpPr/>
          <p:nvPr/>
        </p:nvSpPr>
        <p:spPr>
          <a:xfrm>
            <a:off x="457200" y="470916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Used in WireGuard, TLS 1.3, and Signal.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25"/>
          <p:cNvSpPr/>
          <p:nvPr/>
        </p:nvSpPr>
        <p:spPr>
          <a:xfrm>
            <a:off x="8275320" y="4851000"/>
            <a:ext cx="164160" cy="45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26"/>
          <p:cNvSpPr/>
          <p:nvPr/>
        </p:nvSpPr>
        <p:spPr>
          <a:xfrm>
            <a:off x="8503920" y="4851000"/>
            <a:ext cx="365400" cy="45360"/>
          </a:xfrm>
          <a:prstGeom prst="rect">
            <a:avLst/>
          </a:prstGeom>
          <a:solidFill>
            <a:srgbClr val="0D9488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7"/>
          <p:cNvSpPr/>
          <p:nvPr/>
        </p:nvSpPr>
        <p:spPr>
          <a:xfrm>
            <a:off x="6400800" y="47595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 spc="201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CHACHA20-POLY1305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8"/>
          <p:cNvSpPr/>
          <p:nvPr/>
        </p:nvSpPr>
        <p:spPr>
          <a:xfrm>
            <a:off x="365760" y="47595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99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07 / 32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0"/>
          <p:cNvSpPr/>
          <p:nvPr/>
        </p:nvSpPr>
        <p:spPr>
          <a:xfrm>
            <a:off x="457200" y="502920"/>
            <a:ext cx="164160" cy="1641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"/>
          <p:cNvSpPr/>
          <p:nvPr/>
        </p:nvSpPr>
        <p:spPr>
          <a:xfrm>
            <a:off x="713160" y="36576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Why ChaCha20-Poly1305?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"/>
          <p:cNvSpPr/>
          <p:nvPr/>
        </p:nvSpPr>
        <p:spPr>
          <a:xfrm>
            <a:off x="713160" y="86868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Three reasons it has displaced AES-GCM in many modern protocols.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3"/>
          <p:cNvSpPr/>
          <p:nvPr/>
        </p:nvSpPr>
        <p:spPr>
          <a:xfrm>
            <a:off x="457200" y="1417320"/>
            <a:ext cx="8229240" cy="9597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4"/>
          <p:cNvSpPr/>
          <p:nvPr/>
        </p:nvSpPr>
        <p:spPr>
          <a:xfrm>
            <a:off x="457200" y="1417320"/>
            <a:ext cx="72720" cy="959760"/>
          </a:xfrm>
          <a:prstGeom prst="rect">
            <a:avLst/>
          </a:prstGeom>
          <a:solidFill>
            <a:srgbClr val="F5B4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5"/>
          <p:cNvSpPr/>
          <p:nvPr/>
        </p:nvSpPr>
        <p:spPr>
          <a:xfrm>
            <a:off x="777240" y="1645920"/>
            <a:ext cx="502560" cy="502560"/>
          </a:xfrm>
          <a:prstGeom prst="ellipse">
            <a:avLst/>
          </a:prstGeom>
          <a:solidFill>
            <a:srgbClr val="F5B400">
              <a:alpha val="1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0" name="Image 0" descr="preencoded.png"/>
          <p:cNvPicPr/>
          <p:nvPr/>
        </p:nvPicPr>
        <p:blipFill>
          <a:blip r:embed="rId3"/>
          <a:stretch/>
        </p:blipFill>
        <p:spPr>
          <a:xfrm>
            <a:off x="877680" y="174636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Text 6"/>
          <p:cNvSpPr/>
          <p:nvPr/>
        </p:nvSpPr>
        <p:spPr>
          <a:xfrm>
            <a:off x="1463040" y="1527120"/>
            <a:ext cx="7040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Fast in software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7"/>
          <p:cNvSpPr/>
          <p:nvPr/>
        </p:nvSpPr>
        <p:spPr>
          <a:xfrm>
            <a:off x="1463040" y="1856160"/>
            <a:ext cx="7040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Uses only addition, XOR, and bit rotation. Performs well even without dedicated AES hardware acceleration.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8"/>
          <p:cNvSpPr/>
          <p:nvPr/>
        </p:nvSpPr>
        <p:spPr>
          <a:xfrm>
            <a:off x="457200" y="2514600"/>
            <a:ext cx="8229240" cy="9597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9"/>
          <p:cNvSpPr/>
          <p:nvPr/>
        </p:nvSpPr>
        <p:spPr>
          <a:xfrm>
            <a:off x="457200" y="2514600"/>
            <a:ext cx="72720" cy="9597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0"/>
          <p:cNvSpPr/>
          <p:nvPr/>
        </p:nvSpPr>
        <p:spPr>
          <a:xfrm>
            <a:off x="777240" y="2743200"/>
            <a:ext cx="502560" cy="502560"/>
          </a:xfrm>
          <a:prstGeom prst="ellipse">
            <a:avLst/>
          </a:prstGeom>
          <a:solidFill>
            <a:srgbClr val="14B8A6">
              <a:alpha val="1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6" name="Image 1" descr="preencoded.png"/>
          <p:cNvPicPr/>
          <p:nvPr/>
        </p:nvPicPr>
        <p:blipFill>
          <a:blip r:embed="rId4"/>
          <a:stretch/>
        </p:blipFill>
        <p:spPr>
          <a:xfrm>
            <a:off x="877680" y="284364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Text 11"/>
          <p:cNvSpPr/>
          <p:nvPr/>
        </p:nvSpPr>
        <p:spPr>
          <a:xfrm>
            <a:off x="1463040" y="2624400"/>
            <a:ext cx="7040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Side-channel resistant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2"/>
          <p:cNvSpPr/>
          <p:nvPr/>
        </p:nvSpPr>
        <p:spPr>
          <a:xfrm>
            <a:off x="1463040" y="2953440"/>
            <a:ext cx="7040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Avoids lookup tables used by some block ciphers. More uniform execution reduces timing and cache leaks.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3"/>
          <p:cNvSpPr/>
          <p:nvPr/>
        </p:nvSpPr>
        <p:spPr>
          <a:xfrm>
            <a:off x="457200" y="3611880"/>
            <a:ext cx="8229240" cy="9597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4"/>
          <p:cNvSpPr/>
          <p:nvPr/>
        </p:nvSpPr>
        <p:spPr>
          <a:xfrm>
            <a:off x="457200" y="3611880"/>
            <a:ext cx="72720" cy="95976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5"/>
          <p:cNvSpPr/>
          <p:nvPr/>
        </p:nvSpPr>
        <p:spPr>
          <a:xfrm>
            <a:off x="777240" y="3840480"/>
            <a:ext cx="502560" cy="502560"/>
          </a:xfrm>
          <a:prstGeom prst="ellipse">
            <a:avLst/>
          </a:prstGeom>
          <a:solidFill>
            <a:srgbClr val="8B5CF6">
              <a:alpha val="1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2" name="Image 2" descr="preencoded.png"/>
          <p:cNvPicPr/>
          <p:nvPr/>
        </p:nvPicPr>
        <p:blipFill>
          <a:blip r:embed="rId5"/>
          <a:stretch/>
        </p:blipFill>
        <p:spPr>
          <a:xfrm>
            <a:off x="877680" y="394092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3" name="Text 16"/>
          <p:cNvSpPr/>
          <p:nvPr/>
        </p:nvSpPr>
        <p:spPr>
          <a:xfrm>
            <a:off x="1463040" y="3721680"/>
            <a:ext cx="7040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Battle-tested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7"/>
          <p:cNvSpPr/>
          <p:nvPr/>
        </p:nvSpPr>
        <p:spPr>
          <a:xfrm>
            <a:off x="1463040" y="4050720"/>
            <a:ext cx="7040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Adopted in TLS 1.3, QUIC, OpenSSH, WireGuard VPN, and Signal. RFC 8439 is the IETF standard.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8"/>
          <p:cNvSpPr/>
          <p:nvPr/>
        </p:nvSpPr>
        <p:spPr>
          <a:xfrm>
            <a:off x="8275320" y="4851000"/>
            <a:ext cx="164160" cy="45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9"/>
          <p:cNvSpPr/>
          <p:nvPr/>
        </p:nvSpPr>
        <p:spPr>
          <a:xfrm>
            <a:off x="8503920" y="4851000"/>
            <a:ext cx="365400" cy="45360"/>
          </a:xfrm>
          <a:prstGeom prst="rect">
            <a:avLst/>
          </a:prstGeom>
          <a:solidFill>
            <a:srgbClr val="0D9488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0"/>
          <p:cNvSpPr/>
          <p:nvPr/>
        </p:nvSpPr>
        <p:spPr>
          <a:xfrm>
            <a:off x="6400800" y="47595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 spc="201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CHACHA20-POLY1305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1"/>
          <p:cNvSpPr/>
          <p:nvPr/>
        </p:nvSpPr>
        <p:spPr>
          <a:xfrm>
            <a:off x="365760" y="47595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99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08 / 32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0"/>
          <p:cNvSpPr/>
          <p:nvPr/>
        </p:nvSpPr>
        <p:spPr>
          <a:xfrm>
            <a:off x="457200" y="502920"/>
            <a:ext cx="164160" cy="1641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"/>
          <p:cNvSpPr/>
          <p:nvPr/>
        </p:nvSpPr>
        <p:spPr>
          <a:xfrm>
            <a:off x="713160" y="36576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ChaCha20: A Stream Cipher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2"/>
          <p:cNvSpPr/>
          <p:nvPr/>
        </p:nvSpPr>
        <p:spPr>
          <a:xfrm>
            <a:off x="713160" y="86868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Generates a pseudorandom keystream — never encrypts plaintext directly.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3"/>
          <p:cNvSpPr/>
          <p:nvPr/>
        </p:nvSpPr>
        <p:spPr>
          <a:xfrm>
            <a:off x="457200" y="1417320"/>
            <a:ext cx="4845960" cy="7311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4"/>
          <p:cNvSpPr/>
          <p:nvPr/>
        </p:nvSpPr>
        <p:spPr>
          <a:xfrm>
            <a:off x="457200" y="1417320"/>
            <a:ext cx="54360" cy="7311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5"/>
          <p:cNvSpPr/>
          <p:nvPr/>
        </p:nvSpPr>
        <p:spPr>
          <a:xfrm>
            <a:off x="640080" y="1508760"/>
            <a:ext cx="1188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4B8A6"/>
                </a:solidFill>
                <a:effectLst/>
                <a:uFillTx/>
                <a:latin typeface="Georgia"/>
                <a:ea typeface="Georgia"/>
              </a:rPr>
              <a:t>Inputs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6"/>
          <p:cNvSpPr/>
          <p:nvPr/>
        </p:nvSpPr>
        <p:spPr>
          <a:xfrm>
            <a:off x="1874520" y="1508760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B1A2E"/>
                </a:solidFill>
                <a:effectLst/>
                <a:uFillTx/>
                <a:latin typeface="Calibri"/>
                <a:ea typeface="Consolas"/>
              </a:rPr>
              <a:t>256-bit key + 96-bit nonce + counter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6" name="Shape 7"/>
          <p:cNvSpPr/>
          <p:nvPr/>
        </p:nvSpPr>
        <p:spPr>
          <a:xfrm>
            <a:off x="457200" y="2258640"/>
            <a:ext cx="4845960" cy="7311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8"/>
          <p:cNvSpPr/>
          <p:nvPr/>
        </p:nvSpPr>
        <p:spPr>
          <a:xfrm>
            <a:off x="457200" y="2258640"/>
            <a:ext cx="54360" cy="731160"/>
          </a:xfrm>
          <a:prstGeom prst="rect">
            <a:avLst/>
          </a:prstGeom>
          <a:solidFill>
            <a:srgbClr val="F970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9"/>
          <p:cNvSpPr/>
          <p:nvPr/>
        </p:nvSpPr>
        <p:spPr>
          <a:xfrm>
            <a:off x="640080" y="2350080"/>
            <a:ext cx="1188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97066"/>
                </a:solidFill>
                <a:effectLst/>
                <a:uFillTx/>
                <a:latin typeface="Georgia"/>
                <a:ea typeface="Georgia"/>
              </a:rPr>
              <a:t>Output</a:t>
            </a:r>
            <a:endParaRPr lang="en-US" sz="1300" b="0" u="none" strike="noStrike">
              <a:solidFill>
                <a:srgbClr val="F97066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0"/>
          <p:cNvSpPr/>
          <p:nvPr/>
        </p:nvSpPr>
        <p:spPr>
          <a:xfrm>
            <a:off x="1874520" y="2350080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B1A2E"/>
                </a:solidFill>
                <a:effectLst/>
                <a:uFillTx/>
                <a:latin typeface="Calibri"/>
                <a:ea typeface="Consolas"/>
              </a:rPr>
              <a:t>A pseudorandom keystream block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0" name="Shape 11"/>
          <p:cNvSpPr/>
          <p:nvPr/>
        </p:nvSpPr>
        <p:spPr>
          <a:xfrm>
            <a:off x="457200" y="3099960"/>
            <a:ext cx="4845960" cy="7311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2"/>
          <p:cNvSpPr/>
          <p:nvPr/>
        </p:nvSpPr>
        <p:spPr>
          <a:xfrm>
            <a:off x="457200" y="3099960"/>
            <a:ext cx="54360" cy="73116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3"/>
          <p:cNvSpPr/>
          <p:nvPr/>
        </p:nvSpPr>
        <p:spPr>
          <a:xfrm>
            <a:off x="640080" y="3191400"/>
            <a:ext cx="1188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B5CF6"/>
                </a:solidFill>
                <a:effectLst/>
                <a:uFillTx/>
                <a:latin typeface="Georgia"/>
                <a:ea typeface="Georgia"/>
              </a:rPr>
              <a:t>Encrypt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4"/>
          <p:cNvSpPr/>
          <p:nvPr/>
        </p:nvSpPr>
        <p:spPr>
          <a:xfrm>
            <a:off x="1874520" y="3191400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B1A2E"/>
                </a:solidFill>
                <a:effectLst/>
                <a:uFillTx/>
                <a:latin typeface="Calibri"/>
                <a:ea typeface="Consolas"/>
              </a:rPr>
              <a:t>ciphertext = plaintext XOR keystream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4" name="Shape 15"/>
          <p:cNvSpPr/>
          <p:nvPr/>
        </p:nvSpPr>
        <p:spPr>
          <a:xfrm>
            <a:off x="457200" y="3940920"/>
            <a:ext cx="4845960" cy="7311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6"/>
          <p:cNvSpPr/>
          <p:nvPr/>
        </p:nvSpPr>
        <p:spPr>
          <a:xfrm>
            <a:off x="457200" y="3940920"/>
            <a:ext cx="54360" cy="73116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7"/>
          <p:cNvSpPr/>
          <p:nvPr/>
        </p:nvSpPr>
        <p:spPr>
          <a:xfrm>
            <a:off x="640080" y="4032360"/>
            <a:ext cx="1188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B5CF6"/>
                </a:solidFill>
                <a:effectLst/>
                <a:uFillTx/>
                <a:latin typeface="Georgia"/>
                <a:ea typeface="Georgia"/>
              </a:rPr>
              <a:t>Decrypt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8"/>
          <p:cNvSpPr/>
          <p:nvPr/>
        </p:nvSpPr>
        <p:spPr>
          <a:xfrm>
            <a:off x="1874520" y="4032360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B1A2E"/>
                </a:solidFill>
                <a:effectLst/>
                <a:uFillTx/>
                <a:latin typeface="Calibri"/>
                <a:ea typeface="Consolas"/>
              </a:rPr>
              <a:t>plaintext = ciphertext XOR keystream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8" name="Shape 19"/>
          <p:cNvSpPr/>
          <p:nvPr/>
        </p:nvSpPr>
        <p:spPr>
          <a:xfrm>
            <a:off x="5486400" y="1417320"/>
            <a:ext cx="3200040" cy="3017160"/>
          </a:xfrm>
          <a:prstGeom prst="rect">
            <a:avLst/>
          </a:prstGeom>
          <a:solidFill>
            <a:srgbClr val="0B1A2E"/>
          </a:solidFill>
          <a:ln w="0">
            <a:noFill/>
          </a:ln>
          <a:effectLst>
            <a:outerShdw blurRad="101520" dist="25560" dir="5400000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20"/>
          <p:cNvSpPr/>
          <p:nvPr/>
        </p:nvSpPr>
        <p:spPr>
          <a:xfrm>
            <a:off x="5486400" y="155448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300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ENCRYPTION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21"/>
          <p:cNvSpPr/>
          <p:nvPr/>
        </p:nvSpPr>
        <p:spPr>
          <a:xfrm>
            <a:off x="5623560" y="20116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plaintext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22"/>
          <p:cNvSpPr/>
          <p:nvPr/>
        </p:nvSpPr>
        <p:spPr>
          <a:xfrm>
            <a:off x="6583680" y="2057400"/>
            <a:ext cx="1965600" cy="36540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3"/>
          <p:cNvSpPr/>
          <p:nvPr/>
        </p:nvSpPr>
        <p:spPr>
          <a:xfrm>
            <a:off x="6583680" y="2057400"/>
            <a:ext cx="1965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Hel l o!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4"/>
          <p:cNvSpPr/>
          <p:nvPr/>
        </p:nvSpPr>
        <p:spPr>
          <a:xfrm>
            <a:off x="5486400" y="251460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5B400"/>
                </a:solidFill>
                <a:effectLst/>
                <a:uFillTx/>
                <a:latin typeface="Georgia"/>
                <a:ea typeface="Georgia"/>
              </a:rPr>
              <a:t>⊕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25"/>
          <p:cNvSpPr/>
          <p:nvPr/>
        </p:nvSpPr>
        <p:spPr>
          <a:xfrm>
            <a:off x="5623560" y="29260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keystream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26"/>
          <p:cNvSpPr/>
          <p:nvPr/>
        </p:nvSpPr>
        <p:spPr>
          <a:xfrm>
            <a:off x="6583680" y="2971800"/>
            <a:ext cx="1965600" cy="3654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27"/>
          <p:cNvSpPr/>
          <p:nvPr/>
        </p:nvSpPr>
        <p:spPr>
          <a:xfrm>
            <a:off x="6583680" y="2971800"/>
            <a:ext cx="1965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0x9F2A…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28"/>
          <p:cNvSpPr/>
          <p:nvPr/>
        </p:nvSpPr>
        <p:spPr>
          <a:xfrm>
            <a:off x="5623560" y="3474720"/>
            <a:ext cx="2926080" cy="360"/>
          </a:xfrm>
          <a:prstGeom prst="line">
            <a:avLst/>
          </a:prstGeom>
          <a:ln w="12600">
            <a:solidFill>
              <a:srgbClr val="94A3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9"/>
          <p:cNvSpPr/>
          <p:nvPr/>
        </p:nvSpPr>
        <p:spPr>
          <a:xfrm>
            <a:off x="5623560" y="356616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ciphertext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30"/>
          <p:cNvSpPr/>
          <p:nvPr/>
        </p:nvSpPr>
        <p:spPr>
          <a:xfrm>
            <a:off x="6583680" y="3611880"/>
            <a:ext cx="1965600" cy="365400"/>
          </a:xfrm>
          <a:prstGeom prst="rect">
            <a:avLst/>
          </a:prstGeom>
          <a:solidFill>
            <a:srgbClr val="F970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31"/>
          <p:cNvSpPr/>
          <p:nvPr/>
        </p:nvSpPr>
        <p:spPr>
          <a:xfrm>
            <a:off x="6583680" y="3611880"/>
            <a:ext cx="1965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0xC10B…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32"/>
          <p:cNvSpPr/>
          <p:nvPr/>
        </p:nvSpPr>
        <p:spPr>
          <a:xfrm>
            <a:off x="8275320" y="4851000"/>
            <a:ext cx="164160" cy="45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33"/>
          <p:cNvSpPr/>
          <p:nvPr/>
        </p:nvSpPr>
        <p:spPr>
          <a:xfrm>
            <a:off x="8503920" y="4851000"/>
            <a:ext cx="365400" cy="45360"/>
          </a:xfrm>
          <a:prstGeom prst="rect">
            <a:avLst/>
          </a:prstGeom>
          <a:solidFill>
            <a:srgbClr val="0D9488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34"/>
          <p:cNvSpPr/>
          <p:nvPr/>
        </p:nvSpPr>
        <p:spPr>
          <a:xfrm>
            <a:off x="6400800" y="47595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 spc="201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CHACHA20-POLY1305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35"/>
          <p:cNvSpPr/>
          <p:nvPr/>
        </p:nvSpPr>
        <p:spPr>
          <a:xfrm>
            <a:off x="365760" y="47595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99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09 / 32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0"/>
          <p:cNvSpPr/>
          <p:nvPr/>
        </p:nvSpPr>
        <p:spPr>
          <a:xfrm>
            <a:off x="457200" y="502920"/>
            <a:ext cx="164160" cy="1641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"/>
          <p:cNvSpPr/>
          <p:nvPr/>
        </p:nvSpPr>
        <p:spPr>
          <a:xfrm>
            <a:off x="713160" y="36576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ChaCha20: Internal State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2"/>
          <p:cNvSpPr/>
          <p:nvPr/>
        </p:nvSpPr>
        <p:spPr>
          <a:xfrm>
            <a:off x="713160" y="86868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 4×4 matrix of 32-bit words — 16 words × 32 bits = 512 bits.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3"/>
          <p:cNvSpPr/>
          <p:nvPr/>
        </p:nvSpPr>
        <p:spPr>
          <a:xfrm>
            <a:off x="640080" y="1554480"/>
            <a:ext cx="712800" cy="712800"/>
          </a:xfrm>
          <a:prstGeom prst="rect">
            <a:avLst/>
          </a:prstGeom>
          <a:solidFill>
            <a:srgbClr val="14B8A6"/>
          </a:solidFill>
          <a:ln w="0">
            <a:noFill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4"/>
          <p:cNvSpPr/>
          <p:nvPr/>
        </p:nvSpPr>
        <p:spPr>
          <a:xfrm>
            <a:off x="640080" y="155448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5"/>
          <p:cNvSpPr/>
          <p:nvPr/>
        </p:nvSpPr>
        <p:spPr>
          <a:xfrm>
            <a:off x="1408320" y="1554480"/>
            <a:ext cx="712800" cy="712800"/>
          </a:xfrm>
          <a:prstGeom prst="rect">
            <a:avLst/>
          </a:prstGeom>
          <a:solidFill>
            <a:srgbClr val="14B8A6"/>
          </a:solidFill>
          <a:ln w="0">
            <a:noFill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6"/>
          <p:cNvSpPr/>
          <p:nvPr/>
        </p:nvSpPr>
        <p:spPr>
          <a:xfrm>
            <a:off x="1408320" y="155448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7"/>
          <p:cNvSpPr/>
          <p:nvPr/>
        </p:nvSpPr>
        <p:spPr>
          <a:xfrm>
            <a:off x="2176200" y="1554480"/>
            <a:ext cx="712800" cy="712800"/>
          </a:xfrm>
          <a:prstGeom prst="rect">
            <a:avLst/>
          </a:prstGeom>
          <a:solidFill>
            <a:srgbClr val="14B8A6"/>
          </a:solidFill>
          <a:ln w="0">
            <a:noFill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8"/>
          <p:cNvSpPr/>
          <p:nvPr/>
        </p:nvSpPr>
        <p:spPr>
          <a:xfrm>
            <a:off x="2176200" y="155448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9"/>
          <p:cNvSpPr/>
          <p:nvPr/>
        </p:nvSpPr>
        <p:spPr>
          <a:xfrm>
            <a:off x="2944440" y="1554480"/>
            <a:ext cx="712800" cy="712800"/>
          </a:xfrm>
          <a:prstGeom prst="rect">
            <a:avLst/>
          </a:prstGeom>
          <a:solidFill>
            <a:srgbClr val="14B8A6"/>
          </a:solidFill>
          <a:ln w="0">
            <a:noFill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0"/>
          <p:cNvSpPr/>
          <p:nvPr/>
        </p:nvSpPr>
        <p:spPr>
          <a:xfrm>
            <a:off x="2944440" y="155448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1"/>
          <p:cNvSpPr/>
          <p:nvPr/>
        </p:nvSpPr>
        <p:spPr>
          <a:xfrm>
            <a:off x="640080" y="2322720"/>
            <a:ext cx="712800" cy="712800"/>
          </a:xfrm>
          <a:prstGeom prst="rect">
            <a:avLst/>
          </a:prstGeom>
          <a:solidFill>
            <a:srgbClr val="F5B400"/>
          </a:solidFill>
          <a:ln w="0">
            <a:noFill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2"/>
          <p:cNvSpPr/>
          <p:nvPr/>
        </p:nvSpPr>
        <p:spPr>
          <a:xfrm>
            <a:off x="640080" y="232272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3"/>
          <p:cNvSpPr/>
          <p:nvPr/>
        </p:nvSpPr>
        <p:spPr>
          <a:xfrm>
            <a:off x="1408320" y="2322720"/>
            <a:ext cx="712800" cy="712800"/>
          </a:xfrm>
          <a:prstGeom prst="rect">
            <a:avLst/>
          </a:prstGeom>
          <a:solidFill>
            <a:srgbClr val="F5B400"/>
          </a:solidFill>
          <a:ln w="0">
            <a:noFill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4"/>
          <p:cNvSpPr/>
          <p:nvPr/>
        </p:nvSpPr>
        <p:spPr>
          <a:xfrm>
            <a:off x="1408320" y="232272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5"/>
          <p:cNvSpPr/>
          <p:nvPr/>
        </p:nvSpPr>
        <p:spPr>
          <a:xfrm>
            <a:off x="2176200" y="2322720"/>
            <a:ext cx="712800" cy="712800"/>
          </a:xfrm>
          <a:prstGeom prst="rect">
            <a:avLst/>
          </a:prstGeom>
          <a:solidFill>
            <a:srgbClr val="F5B400"/>
          </a:solidFill>
          <a:ln w="0">
            <a:noFill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6"/>
          <p:cNvSpPr/>
          <p:nvPr/>
        </p:nvSpPr>
        <p:spPr>
          <a:xfrm>
            <a:off x="2176200" y="232272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7"/>
          <p:cNvSpPr/>
          <p:nvPr/>
        </p:nvSpPr>
        <p:spPr>
          <a:xfrm>
            <a:off x="2944440" y="2322720"/>
            <a:ext cx="712800" cy="712800"/>
          </a:xfrm>
          <a:prstGeom prst="rect">
            <a:avLst/>
          </a:prstGeom>
          <a:solidFill>
            <a:srgbClr val="F5B400"/>
          </a:solidFill>
          <a:ln w="0">
            <a:noFill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8"/>
          <p:cNvSpPr/>
          <p:nvPr/>
        </p:nvSpPr>
        <p:spPr>
          <a:xfrm>
            <a:off x="2944440" y="232272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9"/>
          <p:cNvSpPr/>
          <p:nvPr/>
        </p:nvSpPr>
        <p:spPr>
          <a:xfrm>
            <a:off x="640080" y="3090600"/>
            <a:ext cx="712800" cy="712800"/>
          </a:xfrm>
          <a:prstGeom prst="rect">
            <a:avLst/>
          </a:prstGeom>
          <a:solidFill>
            <a:srgbClr val="F5B400"/>
          </a:solidFill>
          <a:ln w="0">
            <a:noFill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20"/>
          <p:cNvSpPr/>
          <p:nvPr/>
        </p:nvSpPr>
        <p:spPr>
          <a:xfrm>
            <a:off x="640080" y="309060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21"/>
          <p:cNvSpPr/>
          <p:nvPr/>
        </p:nvSpPr>
        <p:spPr>
          <a:xfrm>
            <a:off x="1408320" y="3090600"/>
            <a:ext cx="712800" cy="712800"/>
          </a:xfrm>
          <a:prstGeom prst="rect">
            <a:avLst/>
          </a:prstGeom>
          <a:solidFill>
            <a:srgbClr val="F5B400"/>
          </a:solidFill>
          <a:ln w="0">
            <a:noFill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22"/>
          <p:cNvSpPr/>
          <p:nvPr/>
        </p:nvSpPr>
        <p:spPr>
          <a:xfrm>
            <a:off x="1408320" y="309060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23"/>
          <p:cNvSpPr/>
          <p:nvPr/>
        </p:nvSpPr>
        <p:spPr>
          <a:xfrm>
            <a:off x="2176200" y="3090600"/>
            <a:ext cx="712800" cy="712800"/>
          </a:xfrm>
          <a:prstGeom prst="rect">
            <a:avLst/>
          </a:prstGeom>
          <a:solidFill>
            <a:srgbClr val="F5B400"/>
          </a:solidFill>
          <a:ln w="0">
            <a:noFill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24"/>
          <p:cNvSpPr/>
          <p:nvPr/>
        </p:nvSpPr>
        <p:spPr>
          <a:xfrm>
            <a:off x="2176200" y="309060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25"/>
          <p:cNvSpPr/>
          <p:nvPr/>
        </p:nvSpPr>
        <p:spPr>
          <a:xfrm>
            <a:off x="2944440" y="3090600"/>
            <a:ext cx="712800" cy="712800"/>
          </a:xfrm>
          <a:prstGeom prst="rect">
            <a:avLst/>
          </a:prstGeom>
          <a:solidFill>
            <a:srgbClr val="F5B400"/>
          </a:solidFill>
          <a:ln w="0">
            <a:noFill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26"/>
          <p:cNvSpPr/>
          <p:nvPr/>
        </p:nvSpPr>
        <p:spPr>
          <a:xfrm>
            <a:off x="2944440" y="309060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27"/>
          <p:cNvSpPr/>
          <p:nvPr/>
        </p:nvSpPr>
        <p:spPr>
          <a:xfrm>
            <a:off x="640080" y="3858840"/>
            <a:ext cx="712800" cy="712800"/>
          </a:xfrm>
          <a:prstGeom prst="rect">
            <a:avLst/>
          </a:prstGeom>
          <a:solidFill>
            <a:srgbClr val="F97066"/>
          </a:solidFill>
          <a:ln w="0">
            <a:noFill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28"/>
          <p:cNvSpPr/>
          <p:nvPr/>
        </p:nvSpPr>
        <p:spPr>
          <a:xfrm>
            <a:off x="640080" y="385884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ctr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29"/>
          <p:cNvSpPr/>
          <p:nvPr/>
        </p:nvSpPr>
        <p:spPr>
          <a:xfrm>
            <a:off x="1408320" y="3858840"/>
            <a:ext cx="712800" cy="712800"/>
          </a:xfrm>
          <a:prstGeom prst="rect">
            <a:avLst/>
          </a:prstGeom>
          <a:solidFill>
            <a:srgbClr val="8B5CF6"/>
          </a:solidFill>
          <a:ln w="0">
            <a:noFill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30"/>
          <p:cNvSpPr/>
          <p:nvPr/>
        </p:nvSpPr>
        <p:spPr>
          <a:xfrm>
            <a:off x="1408320" y="385884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nonce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31"/>
          <p:cNvSpPr/>
          <p:nvPr/>
        </p:nvSpPr>
        <p:spPr>
          <a:xfrm>
            <a:off x="2176200" y="3858840"/>
            <a:ext cx="712800" cy="712800"/>
          </a:xfrm>
          <a:prstGeom prst="rect">
            <a:avLst/>
          </a:prstGeom>
          <a:solidFill>
            <a:srgbClr val="8B5CF6"/>
          </a:solidFill>
          <a:ln w="0">
            <a:noFill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32"/>
          <p:cNvSpPr/>
          <p:nvPr/>
        </p:nvSpPr>
        <p:spPr>
          <a:xfrm>
            <a:off x="2176200" y="385884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nonce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33"/>
          <p:cNvSpPr/>
          <p:nvPr/>
        </p:nvSpPr>
        <p:spPr>
          <a:xfrm>
            <a:off x="2944440" y="3858840"/>
            <a:ext cx="712800" cy="712800"/>
          </a:xfrm>
          <a:prstGeom prst="rect">
            <a:avLst/>
          </a:prstGeom>
          <a:solidFill>
            <a:srgbClr val="8B5CF6"/>
          </a:solidFill>
          <a:ln w="0">
            <a:noFill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34"/>
          <p:cNvSpPr/>
          <p:nvPr/>
        </p:nvSpPr>
        <p:spPr>
          <a:xfrm>
            <a:off x="2944440" y="385884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nonce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35"/>
          <p:cNvSpPr/>
          <p:nvPr/>
        </p:nvSpPr>
        <p:spPr>
          <a:xfrm>
            <a:off x="640080" y="4572000"/>
            <a:ext cx="3017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16 words × 32 bits = 512 bits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36"/>
          <p:cNvSpPr/>
          <p:nvPr/>
        </p:nvSpPr>
        <p:spPr>
          <a:xfrm>
            <a:off x="4297680" y="1600200"/>
            <a:ext cx="319680" cy="31968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37"/>
          <p:cNvSpPr/>
          <p:nvPr/>
        </p:nvSpPr>
        <p:spPr>
          <a:xfrm>
            <a:off x="4754880" y="155448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Constants (4 words)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38"/>
          <p:cNvSpPr/>
          <p:nvPr/>
        </p:nvSpPr>
        <p:spPr>
          <a:xfrm>
            <a:off x="4754880" y="181044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Fixed: "expand 32-byte k"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39"/>
          <p:cNvSpPr/>
          <p:nvPr/>
        </p:nvSpPr>
        <p:spPr>
          <a:xfrm>
            <a:off x="4297680" y="2194560"/>
            <a:ext cx="319680" cy="319680"/>
          </a:xfrm>
          <a:prstGeom prst="rect">
            <a:avLst/>
          </a:prstGeom>
          <a:solidFill>
            <a:srgbClr val="F5B4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40"/>
          <p:cNvSpPr/>
          <p:nvPr/>
        </p:nvSpPr>
        <p:spPr>
          <a:xfrm>
            <a:off x="4754880" y="214884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Key (8 words)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41"/>
          <p:cNvSpPr/>
          <p:nvPr/>
        </p:nvSpPr>
        <p:spPr>
          <a:xfrm>
            <a:off x="4754880" y="240480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256-bit shared secret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42"/>
          <p:cNvSpPr/>
          <p:nvPr/>
        </p:nvSpPr>
        <p:spPr>
          <a:xfrm>
            <a:off x="4297680" y="2788920"/>
            <a:ext cx="319680" cy="319680"/>
          </a:xfrm>
          <a:prstGeom prst="rect">
            <a:avLst/>
          </a:prstGeom>
          <a:solidFill>
            <a:srgbClr val="F970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43"/>
          <p:cNvSpPr/>
          <p:nvPr/>
        </p:nvSpPr>
        <p:spPr>
          <a:xfrm>
            <a:off x="4754880" y="274320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Counter (1 word)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44"/>
          <p:cNvSpPr/>
          <p:nvPr/>
        </p:nvSpPr>
        <p:spPr>
          <a:xfrm>
            <a:off x="4754880" y="299916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Tracks each 512 bit block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45"/>
          <p:cNvSpPr/>
          <p:nvPr/>
        </p:nvSpPr>
        <p:spPr>
          <a:xfrm>
            <a:off x="4297680" y="3383280"/>
            <a:ext cx="319680" cy="31968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46"/>
          <p:cNvSpPr/>
          <p:nvPr/>
        </p:nvSpPr>
        <p:spPr>
          <a:xfrm>
            <a:off x="4754880" y="333756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Nonce (3 words)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47"/>
          <p:cNvSpPr/>
          <p:nvPr/>
        </p:nvSpPr>
        <p:spPr>
          <a:xfrm>
            <a:off x="4754880" y="359352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96-bit unique-per-message value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48"/>
          <p:cNvSpPr/>
          <p:nvPr/>
        </p:nvSpPr>
        <p:spPr>
          <a:xfrm>
            <a:off x="4297680" y="4069080"/>
            <a:ext cx="4297320" cy="639720"/>
          </a:xfrm>
          <a:prstGeom prst="rect">
            <a:avLst/>
          </a:prstGeom>
          <a:solidFill>
            <a:srgbClr val="0B1A2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49"/>
          <p:cNvSpPr/>
          <p:nvPr/>
        </p:nvSpPr>
        <p:spPr>
          <a:xfrm>
            <a:off x="4434840" y="411480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Georgia"/>
                <a:ea typeface="Georgia"/>
              </a:rPr>
              <a:t>20 rounds = 10 double-rounds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50"/>
          <p:cNvSpPr/>
          <p:nvPr/>
        </p:nvSpPr>
        <p:spPr>
          <a:xfrm>
            <a:off x="4434840" y="438912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That's where the "20" in ChaCha20 comes from.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51"/>
          <p:cNvSpPr/>
          <p:nvPr/>
        </p:nvSpPr>
        <p:spPr>
          <a:xfrm>
            <a:off x="8275320" y="4851000"/>
            <a:ext cx="164160" cy="45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52"/>
          <p:cNvSpPr/>
          <p:nvPr/>
        </p:nvSpPr>
        <p:spPr>
          <a:xfrm>
            <a:off x="8503920" y="4851000"/>
            <a:ext cx="365400" cy="45360"/>
          </a:xfrm>
          <a:prstGeom prst="rect">
            <a:avLst/>
          </a:prstGeom>
          <a:solidFill>
            <a:srgbClr val="0D9488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53"/>
          <p:cNvSpPr/>
          <p:nvPr/>
        </p:nvSpPr>
        <p:spPr>
          <a:xfrm>
            <a:off x="6400800" y="47595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 spc="201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CHACHA20-POLY1305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54"/>
          <p:cNvSpPr/>
          <p:nvPr/>
        </p:nvSpPr>
        <p:spPr>
          <a:xfrm>
            <a:off x="365760" y="47595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99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10 / 32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0"/>
          <p:cNvSpPr/>
          <p:nvPr/>
        </p:nvSpPr>
        <p:spPr>
          <a:xfrm>
            <a:off x="457200" y="502920"/>
            <a:ext cx="164160" cy="1641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"/>
          <p:cNvSpPr/>
          <p:nvPr/>
        </p:nvSpPr>
        <p:spPr>
          <a:xfrm>
            <a:off x="713160" y="36576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The Quarter Round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2"/>
          <p:cNvSpPr/>
          <p:nvPr/>
        </p:nvSpPr>
        <p:spPr>
          <a:xfrm>
            <a:off x="713160" y="86868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The atomic mixing operation. Scrambles four 32-bit words using only ARX.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3"/>
          <p:cNvSpPr/>
          <p:nvPr/>
        </p:nvSpPr>
        <p:spPr>
          <a:xfrm>
            <a:off x="457200" y="1417320"/>
            <a:ext cx="3657240" cy="320004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4"/>
          <p:cNvSpPr/>
          <p:nvPr/>
        </p:nvSpPr>
        <p:spPr>
          <a:xfrm>
            <a:off x="640080" y="155448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ARX operations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5"/>
          <p:cNvSpPr/>
          <p:nvPr/>
        </p:nvSpPr>
        <p:spPr>
          <a:xfrm>
            <a:off x="640080" y="2011680"/>
            <a:ext cx="548280" cy="548280"/>
          </a:xfrm>
          <a:prstGeom prst="ellipse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6"/>
          <p:cNvSpPr/>
          <p:nvPr/>
        </p:nvSpPr>
        <p:spPr>
          <a:xfrm>
            <a:off x="640080" y="20116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7"/>
          <p:cNvSpPr/>
          <p:nvPr/>
        </p:nvSpPr>
        <p:spPr>
          <a:xfrm>
            <a:off x="1325880" y="205740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Addition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8"/>
          <p:cNvSpPr/>
          <p:nvPr/>
        </p:nvSpPr>
        <p:spPr>
          <a:xfrm>
            <a:off x="1325880" y="230436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(mod 2³²)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9"/>
          <p:cNvSpPr/>
          <p:nvPr/>
        </p:nvSpPr>
        <p:spPr>
          <a:xfrm>
            <a:off x="640080" y="2788920"/>
            <a:ext cx="548280" cy="548280"/>
          </a:xfrm>
          <a:prstGeom prst="ellipse">
            <a:avLst/>
          </a:prstGeom>
          <a:solidFill>
            <a:srgbClr val="F5B4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0"/>
          <p:cNvSpPr/>
          <p:nvPr/>
        </p:nvSpPr>
        <p:spPr>
          <a:xfrm>
            <a:off x="640080" y="27889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1"/>
          <p:cNvSpPr/>
          <p:nvPr/>
        </p:nvSpPr>
        <p:spPr>
          <a:xfrm>
            <a:off x="1325880" y="283464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Rotation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2"/>
          <p:cNvSpPr/>
          <p:nvPr/>
        </p:nvSpPr>
        <p:spPr>
          <a:xfrm>
            <a:off x="1325880" y="308160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(left bit-rotate)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13"/>
          <p:cNvSpPr/>
          <p:nvPr/>
        </p:nvSpPr>
        <p:spPr>
          <a:xfrm>
            <a:off x="640080" y="3566160"/>
            <a:ext cx="548280" cy="54828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4"/>
          <p:cNvSpPr/>
          <p:nvPr/>
        </p:nvSpPr>
        <p:spPr>
          <a:xfrm>
            <a:off x="640080" y="35661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X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5"/>
          <p:cNvSpPr/>
          <p:nvPr/>
        </p:nvSpPr>
        <p:spPr>
          <a:xfrm>
            <a:off x="1325880" y="361188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XOR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6"/>
          <p:cNvSpPr/>
          <p:nvPr/>
        </p:nvSpPr>
        <p:spPr>
          <a:xfrm>
            <a:off x="1325880" y="385884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(exclusive or)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7"/>
          <p:cNvSpPr/>
          <p:nvPr/>
        </p:nvSpPr>
        <p:spPr>
          <a:xfrm>
            <a:off x="640080" y="425196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CPU accelerated operations, fast in that architecture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8"/>
          <p:cNvSpPr/>
          <p:nvPr/>
        </p:nvSpPr>
        <p:spPr>
          <a:xfrm>
            <a:off x="4389120" y="1417320"/>
            <a:ext cx="4297320" cy="3200040"/>
          </a:xfrm>
          <a:prstGeom prst="rect">
            <a:avLst/>
          </a:prstGeom>
          <a:solidFill>
            <a:srgbClr val="0B1A2E"/>
          </a:solidFill>
          <a:ln w="0">
            <a:noFill/>
          </a:ln>
          <a:effectLst>
            <a:outerShdw blurRad="101520" dist="25560" dir="5400000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9"/>
          <p:cNvSpPr/>
          <p:nvPr/>
        </p:nvSpPr>
        <p:spPr>
          <a:xfrm>
            <a:off x="4526280" y="155448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99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QUARTERROUND(a, b, c, d)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20"/>
          <p:cNvSpPr/>
          <p:nvPr/>
        </p:nvSpPr>
        <p:spPr>
          <a:xfrm>
            <a:off x="4526280" y="1965960"/>
            <a:ext cx="4023000" cy="456840"/>
          </a:xfrm>
          <a:prstGeom prst="rect">
            <a:avLst/>
          </a:prstGeom>
          <a:solidFill>
            <a:srgbClr val="13243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21"/>
          <p:cNvSpPr/>
          <p:nvPr/>
        </p:nvSpPr>
        <p:spPr>
          <a:xfrm>
            <a:off x="4572000" y="1965960"/>
            <a:ext cx="273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1.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22"/>
          <p:cNvSpPr/>
          <p:nvPr/>
        </p:nvSpPr>
        <p:spPr>
          <a:xfrm>
            <a:off x="4892040" y="196596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EF7"/>
                </a:solidFill>
                <a:effectLst/>
                <a:uFillTx/>
                <a:latin typeface="Consolas"/>
                <a:ea typeface="Consolas"/>
              </a:rPr>
              <a:t>a += b;   d ^= a;   d &lt;&lt;&lt;= 16;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23"/>
          <p:cNvSpPr/>
          <p:nvPr/>
        </p:nvSpPr>
        <p:spPr>
          <a:xfrm>
            <a:off x="4526280" y="2514600"/>
            <a:ext cx="4023000" cy="456840"/>
          </a:xfrm>
          <a:prstGeom prst="rect">
            <a:avLst/>
          </a:prstGeom>
          <a:solidFill>
            <a:srgbClr val="13243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4"/>
          <p:cNvSpPr/>
          <p:nvPr/>
        </p:nvSpPr>
        <p:spPr>
          <a:xfrm>
            <a:off x="4572000" y="2514600"/>
            <a:ext cx="273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2.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25"/>
          <p:cNvSpPr/>
          <p:nvPr/>
        </p:nvSpPr>
        <p:spPr>
          <a:xfrm>
            <a:off x="4892040" y="251460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EF7"/>
                </a:solidFill>
                <a:effectLst/>
                <a:uFillTx/>
                <a:latin typeface="Consolas"/>
                <a:ea typeface="Consolas"/>
              </a:rPr>
              <a:t>c += d;   b ^= c;   b &lt;&lt;&lt;= 12;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26"/>
          <p:cNvSpPr/>
          <p:nvPr/>
        </p:nvSpPr>
        <p:spPr>
          <a:xfrm>
            <a:off x="4526280" y="3063240"/>
            <a:ext cx="4023000" cy="456840"/>
          </a:xfrm>
          <a:prstGeom prst="rect">
            <a:avLst/>
          </a:prstGeom>
          <a:solidFill>
            <a:srgbClr val="13243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27"/>
          <p:cNvSpPr/>
          <p:nvPr/>
        </p:nvSpPr>
        <p:spPr>
          <a:xfrm>
            <a:off x="4572000" y="3063240"/>
            <a:ext cx="273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3.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28"/>
          <p:cNvSpPr/>
          <p:nvPr/>
        </p:nvSpPr>
        <p:spPr>
          <a:xfrm>
            <a:off x="4892040" y="306324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EF7"/>
                </a:solidFill>
                <a:effectLst/>
                <a:uFillTx/>
                <a:latin typeface="Consolas"/>
                <a:ea typeface="Consolas"/>
              </a:rPr>
              <a:t>a += b;   d ^= a;   d &lt;&lt;&lt;= 8;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29"/>
          <p:cNvSpPr/>
          <p:nvPr/>
        </p:nvSpPr>
        <p:spPr>
          <a:xfrm>
            <a:off x="4526280" y="3611880"/>
            <a:ext cx="4023000" cy="456840"/>
          </a:xfrm>
          <a:prstGeom prst="rect">
            <a:avLst/>
          </a:prstGeom>
          <a:solidFill>
            <a:srgbClr val="13243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30"/>
          <p:cNvSpPr/>
          <p:nvPr/>
        </p:nvSpPr>
        <p:spPr>
          <a:xfrm>
            <a:off x="4572000" y="3611880"/>
            <a:ext cx="273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4.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31"/>
          <p:cNvSpPr/>
          <p:nvPr/>
        </p:nvSpPr>
        <p:spPr>
          <a:xfrm>
            <a:off x="4892040" y="361188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EF7"/>
                </a:solidFill>
                <a:effectLst/>
                <a:uFillTx/>
                <a:latin typeface="Consolas"/>
                <a:ea typeface="Consolas"/>
              </a:rPr>
              <a:t>c += d;   b ^= c;   b &lt;&lt;&lt;= 7;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32"/>
          <p:cNvSpPr/>
          <p:nvPr/>
        </p:nvSpPr>
        <p:spPr>
          <a:xfrm>
            <a:off x="4526280" y="429768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Apply 80 quarter rounds total — 4 columns × 4 diagonals × 10 double-rounds.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33"/>
          <p:cNvSpPr/>
          <p:nvPr/>
        </p:nvSpPr>
        <p:spPr>
          <a:xfrm>
            <a:off x="8275320" y="4851000"/>
            <a:ext cx="164160" cy="45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34"/>
          <p:cNvSpPr/>
          <p:nvPr/>
        </p:nvSpPr>
        <p:spPr>
          <a:xfrm>
            <a:off x="8503920" y="4851000"/>
            <a:ext cx="365400" cy="45360"/>
          </a:xfrm>
          <a:prstGeom prst="rect">
            <a:avLst/>
          </a:prstGeom>
          <a:solidFill>
            <a:srgbClr val="0D9488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35"/>
          <p:cNvSpPr/>
          <p:nvPr/>
        </p:nvSpPr>
        <p:spPr>
          <a:xfrm>
            <a:off x="6400800" y="47595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 spc="201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CHACHA20-POLY1305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36"/>
          <p:cNvSpPr/>
          <p:nvPr/>
        </p:nvSpPr>
        <p:spPr>
          <a:xfrm>
            <a:off x="365760" y="47595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99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11 / 32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0"/>
          <p:cNvSpPr/>
          <p:nvPr/>
        </p:nvSpPr>
        <p:spPr>
          <a:xfrm>
            <a:off x="457200" y="502920"/>
            <a:ext cx="164160" cy="1641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1"/>
          <p:cNvSpPr/>
          <p:nvPr/>
        </p:nvSpPr>
        <p:spPr>
          <a:xfrm>
            <a:off x="713160" y="36576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Column and Diagonal Rounds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2"/>
          <p:cNvSpPr/>
          <p:nvPr/>
        </p:nvSpPr>
        <p:spPr>
          <a:xfrm>
            <a:off x="713160" y="86868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 double-round mixes the matrix two ways: by column, then by diagonal.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3"/>
          <p:cNvSpPr/>
          <p:nvPr/>
        </p:nvSpPr>
        <p:spPr>
          <a:xfrm>
            <a:off x="640080" y="1463040"/>
            <a:ext cx="2121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Index Map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4"/>
          <p:cNvSpPr/>
          <p:nvPr/>
        </p:nvSpPr>
        <p:spPr>
          <a:xfrm>
            <a:off x="640080" y="187452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5"/>
          <p:cNvSpPr/>
          <p:nvPr/>
        </p:nvSpPr>
        <p:spPr>
          <a:xfrm>
            <a:off x="640080" y="18745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6"/>
          <p:cNvSpPr/>
          <p:nvPr/>
        </p:nvSpPr>
        <p:spPr>
          <a:xfrm>
            <a:off x="1179720" y="187452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7"/>
          <p:cNvSpPr/>
          <p:nvPr/>
        </p:nvSpPr>
        <p:spPr>
          <a:xfrm>
            <a:off x="1179720" y="18745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8"/>
          <p:cNvSpPr/>
          <p:nvPr/>
        </p:nvSpPr>
        <p:spPr>
          <a:xfrm>
            <a:off x="1719000" y="187452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9"/>
          <p:cNvSpPr/>
          <p:nvPr/>
        </p:nvSpPr>
        <p:spPr>
          <a:xfrm>
            <a:off x="1719000" y="18745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10"/>
          <p:cNvSpPr/>
          <p:nvPr/>
        </p:nvSpPr>
        <p:spPr>
          <a:xfrm>
            <a:off x="2258640" y="187452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1"/>
          <p:cNvSpPr/>
          <p:nvPr/>
        </p:nvSpPr>
        <p:spPr>
          <a:xfrm>
            <a:off x="2258640" y="18745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12"/>
          <p:cNvSpPr/>
          <p:nvPr/>
        </p:nvSpPr>
        <p:spPr>
          <a:xfrm>
            <a:off x="640080" y="241416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3"/>
          <p:cNvSpPr/>
          <p:nvPr/>
        </p:nvSpPr>
        <p:spPr>
          <a:xfrm>
            <a:off x="640080" y="24141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14"/>
          <p:cNvSpPr/>
          <p:nvPr/>
        </p:nvSpPr>
        <p:spPr>
          <a:xfrm>
            <a:off x="1179720" y="241416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5"/>
          <p:cNvSpPr/>
          <p:nvPr/>
        </p:nvSpPr>
        <p:spPr>
          <a:xfrm>
            <a:off x="1179720" y="24141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16"/>
          <p:cNvSpPr/>
          <p:nvPr/>
        </p:nvSpPr>
        <p:spPr>
          <a:xfrm>
            <a:off x="1719000" y="241416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17"/>
          <p:cNvSpPr/>
          <p:nvPr/>
        </p:nvSpPr>
        <p:spPr>
          <a:xfrm>
            <a:off x="1719000" y="24141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18"/>
          <p:cNvSpPr/>
          <p:nvPr/>
        </p:nvSpPr>
        <p:spPr>
          <a:xfrm>
            <a:off x="2258640" y="241416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19"/>
          <p:cNvSpPr/>
          <p:nvPr/>
        </p:nvSpPr>
        <p:spPr>
          <a:xfrm>
            <a:off x="2258640" y="24141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20"/>
          <p:cNvSpPr/>
          <p:nvPr/>
        </p:nvSpPr>
        <p:spPr>
          <a:xfrm>
            <a:off x="640080" y="295344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21"/>
          <p:cNvSpPr/>
          <p:nvPr/>
        </p:nvSpPr>
        <p:spPr>
          <a:xfrm>
            <a:off x="640080" y="29534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22"/>
          <p:cNvSpPr/>
          <p:nvPr/>
        </p:nvSpPr>
        <p:spPr>
          <a:xfrm>
            <a:off x="1179720" y="295344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23"/>
          <p:cNvSpPr/>
          <p:nvPr/>
        </p:nvSpPr>
        <p:spPr>
          <a:xfrm>
            <a:off x="1179720" y="29534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9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24"/>
          <p:cNvSpPr/>
          <p:nvPr/>
        </p:nvSpPr>
        <p:spPr>
          <a:xfrm>
            <a:off x="1719000" y="295344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25"/>
          <p:cNvSpPr/>
          <p:nvPr/>
        </p:nvSpPr>
        <p:spPr>
          <a:xfrm>
            <a:off x="1719000" y="29534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10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26"/>
          <p:cNvSpPr/>
          <p:nvPr/>
        </p:nvSpPr>
        <p:spPr>
          <a:xfrm>
            <a:off x="2258640" y="295344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27"/>
          <p:cNvSpPr/>
          <p:nvPr/>
        </p:nvSpPr>
        <p:spPr>
          <a:xfrm>
            <a:off x="2258640" y="29534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11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28"/>
          <p:cNvSpPr/>
          <p:nvPr/>
        </p:nvSpPr>
        <p:spPr>
          <a:xfrm>
            <a:off x="640080" y="349308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29"/>
          <p:cNvSpPr/>
          <p:nvPr/>
        </p:nvSpPr>
        <p:spPr>
          <a:xfrm>
            <a:off x="640080" y="34930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12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30"/>
          <p:cNvSpPr/>
          <p:nvPr/>
        </p:nvSpPr>
        <p:spPr>
          <a:xfrm>
            <a:off x="1179720" y="349308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31"/>
          <p:cNvSpPr/>
          <p:nvPr/>
        </p:nvSpPr>
        <p:spPr>
          <a:xfrm>
            <a:off x="1179720" y="34930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13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32"/>
          <p:cNvSpPr/>
          <p:nvPr/>
        </p:nvSpPr>
        <p:spPr>
          <a:xfrm>
            <a:off x="1719000" y="349308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33"/>
          <p:cNvSpPr/>
          <p:nvPr/>
        </p:nvSpPr>
        <p:spPr>
          <a:xfrm>
            <a:off x="1719000" y="34930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14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34"/>
          <p:cNvSpPr/>
          <p:nvPr/>
        </p:nvSpPr>
        <p:spPr>
          <a:xfrm>
            <a:off x="2258640" y="349308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35"/>
          <p:cNvSpPr/>
          <p:nvPr/>
        </p:nvSpPr>
        <p:spPr>
          <a:xfrm>
            <a:off x="2258640" y="34930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36"/>
          <p:cNvSpPr/>
          <p:nvPr/>
        </p:nvSpPr>
        <p:spPr>
          <a:xfrm>
            <a:off x="3703320" y="1463040"/>
            <a:ext cx="2121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Column Round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37"/>
          <p:cNvSpPr/>
          <p:nvPr/>
        </p:nvSpPr>
        <p:spPr>
          <a:xfrm>
            <a:off x="3703320" y="1874520"/>
            <a:ext cx="502560" cy="502560"/>
          </a:xfrm>
          <a:prstGeom prst="rect">
            <a:avLst/>
          </a:prstGeom>
          <a:solidFill>
            <a:srgbClr val="14B8A6"/>
          </a:solidFill>
          <a:ln w="648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38"/>
          <p:cNvSpPr/>
          <p:nvPr/>
        </p:nvSpPr>
        <p:spPr>
          <a:xfrm>
            <a:off x="3703320" y="18745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39"/>
          <p:cNvSpPr/>
          <p:nvPr/>
        </p:nvSpPr>
        <p:spPr>
          <a:xfrm>
            <a:off x="4242960" y="187452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40"/>
          <p:cNvSpPr/>
          <p:nvPr/>
        </p:nvSpPr>
        <p:spPr>
          <a:xfrm>
            <a:off x="4242960" y="18745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41"/>
          <p:cNvSpPr/>
          <p:nvPr/>
        </p:nvSpPr>
        <p:spPr>
          <a:xfrm>
            <a:off x="4782240" y="187452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42"/>
          <p:cNvSpPr/>
          <p:nvPr/>
        </p:nvSpPr>
        <p:spPr>
          <a:xfrm>
            <a:off x="4782240" y="18745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43"/>
          <p:cNvSpPr/>
          <p:nvPr/>
        </p:nvSpPr>
        <p:spPr>
          <a:xfrm>
            <a:off x="5321880" y="187452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44"/>
          <p:cNvSpPr/>
          <p:nvPr/>
        </p:nvSpPr>
        <p:spPr>
          <a:xfrm>
            <a:off x="5321880" y="18745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45"/>
          <p:cNvSpPr/>
          <p:nvPr/>
        </p:nvSpPr>
        <p:spPr>
          <a:xfrm>
            <a:off x="3703320" y="2414160"/>
            <a:ext cx="502560" cy="502560"/>
          </a:xfrm>
          <a:prstGeom prst="rect">
            <a:avLst/>
          </a:prstGeom>
          <a:solidFill>
            <a:srgbClr val="14B8A6"/>
          </a:solidFill>
          <a:ln w="648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46"/>
          <p:cNvSpPr/>
          <p:nvPr/>
        </p:nvSpPr>
        <p:spPr>
          <a:xfrm>
            <a:off x="3703320" y="24141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47"/>
          <p:cNvSpPr/>
          <p:nvPr/>
        </p:nvSpPr>
        <p:spPr>
          <a:xfrm>
            <a:off x="4242960" y="241416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48"/>
          <p:cNvSpPr/>
          <p:nvPr/>
        </p:nvSpPr>
        <p:spPr>
          <a:xfrm>
            <a:off x="4242960" y="24141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49"/>
          <p:cNvSpPr/>
          <p:nvPr/>
        </p:nvSpPr>
        <p:spPr>
          <a:xfrm>
            <a:off x="4782240" y="241416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50"/>
          <p:cNvSpPr/>
          <p:nvPr/>
        </p:nvSpPr>
        <p:spPr>
          <a:xfrm>
            <a:off x="4782240" y="24141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51"/>
          <p:cNvSpPr/>
          <p:nvPr/>
        </p:nvSpPr>
        <p:spPr>
          <a:xfrm>
            <a:off x="5321880" y="241416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52"/>
          <p:cNvSpPr/>
          <p:nvPr/>
        </p:nvSpPr>
        <p:spPr>
          <a:xfrm>
            <a:off x="5321880" y="24141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53"/>
          <p:cNvSpPr/>
          <p:nvPr/>
        </p:nvSpPr>
        <p:spPr>
          <a:xfrm>
            <a:off x="3703320" y="2953440"/>
            <a:ext cx="502560" cy="502560"/>
          </a:xfrm>
          <a:prstGeom prst="rect">
            <a:avLst/>
          </a:prstGeom>
          <a:solidFill>
            <a:srgbClr val="14B8A6"/>
          </a:solidFill>
          <a:ln w="648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54"/>
          <p:cNvSpPr/>
          <p:nvPr/>
        </p:nvSpPr>
        <p:spPr>
          <a:xfrm>
            <a:off x="3703320" y="29534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55"/>
          <p:cNvSpPr/>
          <p:nvPr/>
        </p:nvSpPr>
        <p:spPr>
          <a:xfrm>
            <a:off x="4242960" y="295344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56"/>
          <p:cNvSpPr/>
          <p:nvPr/>
        </p:nvSpPr>
        <p:spPr>
          <a:xfrm>
            <a:off x="4242960" y="29534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9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57"/>
          <p:cNvSpPr/>
          <p:nvPr/>
        </p:nvSpPr>
        <p:spPr>
          <a:xfrm>
            <a:off x="4782240" y="295344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58"/>
          <p:cNvSpPr/>
          <p:nvPr/>
        </p:nvSpPr>
        <p:spPr>
          <a:xfrm>
            <a:off x="4782240" y="29534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10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59"/>
          <p:cNvSpPr/>
          <p:nvPr/>
        </p:nvSpPr>
        <p:spPr>
          <a:xfrm>
            <a:off x="5321880" y="295344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60"/>
          <p:cNvSpPr/>
          <p:nvPr/>
        </p:nvSpPr>
        <p:spPr>
          <a:xfrm>
            <a:off x="5321880" y="29534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11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61"/>
          <p:cNvSpPr/>
          <p:nvPr/>
        </p:nvSpPr>
        <p:spPr>
          <a:xfrm>
            <a:off x="3703320" y="3493080"/>
            <a:ext cx="502560" cy="502560"/>
          </a:xfrm>
          <a:prstGeom prst="rect">
            <a:avLst/>
          </a:prstGeom>
          <a:solidFill>
            <a:srgbClr val="14B8A6"/>
          </a:solidFill>
          <a:ln w="648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62"/>
          <p:cNvSpPr/>
          <p:nvPr/>
        </p:nvSpPr>
        <p:spPr>
          <a:xfrm>
            <a:off x="3703320" y="34930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12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63"/>
          <p:cNvSpPr/>
          <p:nvPr/>
        </p:nvSpPr>
        <p:spPr>
          <a:xfrm>
            <a:off x="4242960" y="349308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64"/>
          <p:cNvSpPr/>
          <p:nvPr/>
        </p:nvSpPr>
        <p:spPr>
          <a:xfrm>
            <a:off x="4242960" y="34930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13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65"/>
          <p:cNvSpPr/>
          <p:nvPr/>
        </p:nvSpPr>
        <p:spPr>
          <a:xfrm>
            <a:off x="4782240" y="349308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66"/>
          <p:cNvSpPr/>
          <p:nvPr/>
        </p:nvSpPr>
        <p:spPr>
          <a:xfrm>
            <a:off x="4782240" y="34930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14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67"/>
          <p:cNvSpPr/>
          <p:nvPr/>
        </p:nvSpPr>
        <p:spPr>
          <a:xfrm>
            <a:off x="5321880" y="349308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68"/>
          <p:cNvSpPr/>
          <p:nvPr/>
        </p:nvSpPr>
        <p:spPr>
          <a:xfrm>
            <a:off x="5321880" y="34930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69"/>
          <p:cNvSpPr/>
          <p:nvPr/>
        </p:nvSpPr>
        <p:spPr>
          <a:xfrm>
            <a:off x="6766560" y="1463040"/>
            <a:ext cx="2121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Diagonal Round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70"/>
          <p:cNvSpPr/>
          <p:nvPr/>
        </p:nvSpPr>
        <p:spPr>
          <a:xfrm>
            <a:off x="6766560" y="1874520"/>
            <a:ext cx="502560" cy="502560"/>
          </a:xfrm>
          <a:prstGeom prst="rect">
            <a:avLst/>
          </a:prstGeom>
          <a:solidFill>
            <a:srgbClr val="F5B400"/>
          </a:solidFill>
          <a:ln w="6480">
            <a:solidFill>
              <a:srgbClr val="F5B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71"/>
          <p:cNvSpPr/>
          <p:nvPr/>
        </p:nvSpPr>
        <p:spPr>
          <a:xfrm>
            <a:off x="6766560" y="18745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72"/>
          <p:cNvSpPr/>
          <p:nvPr/>
        </p:nvSpPr>
        <p:spPr>
          <a:xfrm>
            <a:off x="7306200" y="187452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73"/>
          <p:cNvSpPr/>
          <p:nvPr/>
        </p:nvSpPr>
        <p:spPr>
          <a:xfrm>
            <a:off x="7306200" y="18745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74"/>
          <p:cNvSpPr/>
          <p:nvPr/>
        </p:nvSpPr>
        <p:spPr>
          <a:xfrm>
            <a:off x="7845480" y="187452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75"/>
          <p:cNvSpPr/>
          <p:nvPr/>
        </p:nvSpPr>
        <p:spPr>
          <a:xfrm>
            <a:off x="7845480" y="18745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76"/>
          <p:cNvSpPr/>
          <p:nvPr/>
        </p:nvSpPr>
        <p:spPr>
          <a:xfrm>
            <a:off x="8385120" y="187452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77"/>
          <p:cNvSpPr/>
          <p:nvPr/>
        </p:nvSpPr>
        <p:spPr>
          <a:xfrm>
            <a:off x="8385120" y="18745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78"/>
          <p:cNvSpPr/>
          <p:nvPr/>
        </p:nvSpPr>
        <p:spPr>
          <a:xfrm>
            <a:off x="6766560" y="241416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79"/>
          <p:cNvSpPr/>
          <p:nvPr/>
        </p:nvSpPr>
        <p:spPr>
          <a:xfrm>
            <a:off x="6766560" y="24141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80"/>
          <p:cNvSpPr/>
          <p:nvPr/>
        </p:nvSpPr>
        <p:spPr>
          <a:xfrm>
            <a:off x="7306200" y="2414160"/>
            <a:ext cx="502560" cy="502560"/>
          </a:xfrm>
          <a:prstGeom prst="rect">
            <a:avLst/>
          </a:prstGeom>
          <a:solidFill>
            <a:srgbClr val="F5B400"/>
          </a:solidFill>
          <a:ln w="6480">
            <a:solidFill>
              <a:srgbClr val="F5B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81"/>
          <p:cNvSpPr/>
          <p:nvPr/>
        </p:nvSpPr>
        <p:spPr>
          <a:xfrm>
            <a:off x="7306200" y="24141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82"/>
          <p:cNvSpPr/>
          <p:nvPr/>
        </p:nvSpPr>
        <p:spPr>
          <a:xfrm>
            <a:off x="7845480" y="241416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83"/>
          <p:cNvSpPr/>
          <p:nvPr/>
        </p:nvSpPr>
        <p:spPr>
          <a:xfrm>
            <a:off x="7845480" y="24141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84"/>
          <p:cNvSpPr/>
          <p:nvPr/>
        </p:nvSpPr>
        <p:spPr>
          <a:xfrm>
            <a:off x="8385120" y="241416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85"/>
          <p:cNvSpPr/>
          <p:nvPr/>
        </p:nvSpPr>
        <p:spPr>
          <a:xfrm>
            <a:off x="8385120" y="24141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86"/>
          <p:cNvSpPr/>
          <p:nvPr/>
        </p:nvSpPr>
        <p:spPr>
          <a:xfrm>
            <a:off x="6766560" y="295344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87"/>
          <p:cNvSpPr/>
          <p:nvPr/>
        </p:nvSpPr>
        <p:spPr>
          <a:xfrm>
            <a:off x="6766560" y="29534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88"/>
          <p:cNvSpPr/>
          <p:nvPr/>
        </p:nvSpPr>
        <p:spPr>
          <a:xfrm>
            <a:off x="7306200" y="295344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89"/>
          <p:cNvSpPr/>
          <p:nvPr/>
        </p:nvSpPr>
        <p:spPr>
          <a:xfrm>
            <a:off x="7306200" y="29534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9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90"/>
          <p:cNvSpPr/>
          <p:nvPr/>
        </p:nvSpPr>
        <p:spPr>
          <a:xfrm>
            <a:off x="7845480" y="2953440"/>
            <a:ext cx="502560" cy="502560"/>
          </a:xfrm>
          <a:prstGeom prst="rect">
            <a:avLst/>
          </a:prstGeom>
          <a:solidFill>
            <a:srgbClr val="F5B400"/>
          </a:solidFill>
          <a:ln w="6480">
            <a:solidFill>
              <a:srgbClr val="F5B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91"/>
          <p:cNvSpPr/>
          <p:nvPr/>
        </p:nvSpPr>
        <p:spPr>
          <a:xfrm>
            <a:off x="7845480" y="29534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10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92"/>
          <p:cNvSpPr/>
          <p:nvPr/>
        </p:nvSpPr>
        <p:spPr>
          <a:xfrm>
            <a:off x="8385120" y="295344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93"/>
          <p:cNvSpPr/>
          <p:nvPr/>
        </p:nvSpPr>
        <p:spPr>
          <a:xfrm>
            <a:off x="8385120" y="29534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11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94"/>
          <p:cNvSpPr/>
          <p:nvPr/>
        </p:nvSpPr>
        <p:spPr>
          <a:xfrm>
            <a:off x="6766560" y="349308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95"/>
          <p:cNvSpPr/>
          <p:nvPr/>
        </p:nvSpPr>
        <p:spPr>
          <a:xfrm>
            <a:off x="6766560" y="34930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12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96"/>
          <p:cNvSpPr/>
          <p:nvPr/>
        </p:nvSpPr>
        <p:spPr>
          <a:xfrm>
            <a:off x="7306200" y="349308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97"/>
          <p:cNvSpPr/>
          <p:nvPr/>
        </p:nvSpPr>
        <p:spPr>
          <a:xfrm>
            <a:off x="7306200" y="34930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13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98"/>
          <p:cNvSpPr/>
          <p:nvPr/>
        </p:nvSpPr>
        <p:spPr>
          <a:xfrm>
            <a:off x="7845480" y="3493080"/>
            <a:ext cx="50256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99"/>
          <p:cNvSpPr/>
          <p:nvPr/>
        </p:nvSpPr>
        <p:spPr>
          <a:xfrm>
            <a:off x="7845480" y="34930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onsolas"/>
                <a:ea typeface="Consolas"/>
              </a:rPr>
              <a:t>14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100"/>
          <p:cNvSpPr/>
          <p:nvPr/>
        </p:nvSpPr>
        <p:spPr>
          <a:xfrm>
            <a:off x="8385120" y="3493080"/>
            <a:ext cx="502560" cy="502560"/>
          </a:xfrm>
          <a:prstGeom prst="rect">
            <a:avLst/>
          </a:prstGeom>
          <a:solidFill>
            <a:srgbClr val="F5B400"/>
          </a:solidFill>
          <a:ln w="6480">
            <a:solidFill>
              <a:srgbClr val="F5B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101"/>
          <p:cNvSpPr/>
          <p:nvPr/>
        </p:nvSpPr>
        <p:spPr>
          <a:xfrm>
            <a:off x="8385120" y="34930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102"/>
          <p:cNvSpPr/>
          <p:nvPr/>
        </p:nvSpPr>
        <p:spPr>
          <a:xfrm>
            <a:off x="457200" y="4160520"/>
            <a:ext cx="8229240" cy="59400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103"/>
          <p:cNvSpPr/>
          <p:nvPr/>
        </p:nvSpPr>
        <p:spPr>
          <a:xfrm>
            <a:off x="640080" y="4160520"/>
            <a:ext cx="78634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One double-round</a:t>
            </a: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 = 4 quarter rounds on columns + 4 quarter rounds on diagonals. </a:t>
            </a:r>
            <a:r>
              <a:rPr lang="en-US" sz="1200" b="1" u="none" strike="noStrike">
                <a:solidFill>
                  <a:srgbClr val="0B1A2E"/>
                </a:solidFill>
                <a:effectLst/>
                <a:uFillTx/>
                <a:latin typeface="Calibri"/>
                <a:ea typeface="Calibri"/>
              </a:rPr>
              <a:t>ChaCha20 runs 10 double-rounds → 20 total mixing rounds.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104"/>
          <p:cNvSpPr/>
          <p:nvPr/>
        </p:nvSpPr>
        <p:spPr>
          <a:xfrm>
            <a:off x="8275320" y="4851000"/>
            <a:ext cx="164160" cy="45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105"/>
          <p:cNvSpPr/>
          <p:nvPr/>
        </p:nvSpPr>
        <p:spPr>
          <a:xfrm>
            <a:off x="8503920" y="4851000"/>
            <a:ext cx="365400" cy="45360"/>
          </a:xfrm>
          <a:prstGeom prst="rect">
            <a:avLst/>
          </a:prstGeom>
          <a:solidFill>
            <a:srgbClr val="0D9488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106"/>
          <p:cNvSpPr/>
          <p:nvPr/>
        </p:nvSpPr>
        <p:spPr>
          <a:xfrm>
            <a:off x="6400800" y="47595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 spc="201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CHACHA20-POLY1305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107"/>
          <p:cNvSpPr/>
          <p:nvPr/>
        </p:nvSpPr>
        <p:spPr>
          <a:xfrm>
            <a:off x="365760" y="47595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99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12 / 32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Shape 0"/>
          <p:cNvSpPr/>
          <p:nvPr/>
        </p:nvSpPr>
        <p:spPr>
          <a:xfrm>
            <a:off x="457200" y="502920"/>
            <a:ext cx="164160" cy="1641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1"/>
          <p:cNvSpPr/>
          <p:nvPr/>
        </p:nvSpPr>
        <p:spPr>
          <a:xfrm>
            <a:off x="713160" y="365760"/>
            <a:ext cx="77720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E8EEF7"/>
                </a:solidFill>
                <a:effectLst/>
                <a:uFillTx/>
                <a:latin typeface="Georgia"/>
                <a:ea typeface="Georgia"/>
              </a:rPr>
              <a:t>From State to Ciphertext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2"/>
          <p:cNvSpPr/>
          <p:nvPr/>
        </p:nvSpPr>
        <p:spPr>
          <a:xfrm>
            <a:off x="713160" y="868680"/>
            <a:ext cx="7772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The full pipeline from inputs to encrypted output.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3"/>
          <p:cNvSpPr/>
          <p:nvPr/>
        </p:nvSpPr>
        <p:spPr>
          <a:xfrm>
            <a:off x="411480" y="1691640"/>
            <a:ext cx="1371240" cy="1371240"/>
          </a:xfrm>
          <a:prstGeom prst="rect">
            <a:avLst/>
          </a:prstGeom>
          <a:solidFill>
            <a:srgbClr val="13243F"/>
          </a:solidFill>
          <a:ln w="19080">
            <a:solidFill>
              <a:srgbClr val="F5B400"/>
            </a:solidFill>
            <a:round/>
          </a:ln>
          <a:effectLst>
            <a:outerShdw blurRad="101520" dist="25560" dir="5400000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4"/>
          <p:cNvSpPr/>
          <p:nvPr/>
        </p:nvSpPr>
        <p:spPr>
          <a:xfrm>
            <a:off x="411480" y="1691640"/>
            <a:ext cx="1371240" cy="109440"/>
          </a:xfrm>
          <a:prstGeom prst="rect">
            <a:avLst/>
          </a:prstGeom>
          <a:solidFill>
            <a:srgbClr val="F5B4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5"/>
          <p:cNvSpPr/>
          <p:nvPr/>
        </p:nvSpPr>
        <p:spPr>
          <a:xfrm>
            <a:off x="411480" y="1874520"/>
            <a:ext cx="1371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EEF7"/>
                </a:solidFill>
                <a:effectLst/>
                <a:uFillTx/>
                <a:latin typeface="Georgia"/>
                <a:ea typeface="Georgia"/>
              </a:rPr>
              <a:t>Inputs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6"/>
          <p:cNvSpPr/>
          <p:nvPr/>
        </p:nvSpPr>
        <p:spPr>
          <a:xfrm>
            <a:off x="457200" y="2286000"/>
            <a:ext cx="12798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Key + Nonce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+ Counter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7"/>
          <p:cNvSpPr/>
          <p:nvPr/>
        </p:nvSpPr>
        <p:spPr>
          <a:xfrm>
            <a:off x="1828800" y="2377440"/>
            <a:ext cx="274320" cy="360"/>
          </a:xfrm>
          <a:prstGeom prst="line">
            <a:avLst/>
          </a:prstGeom>
          <a:ln w="31680">
            <a:solidFill>
              <a:srgbClr val="14B8A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8"/>
          <p:cNvSpPr/>
          <p:nvPr/>
        </p:nvSpPr>
        <p:spPr>
          <a:xfrm>
            <a:off x="2148840" y="1691640"/>
            <a:ext cx="1371240" cy="1371240"/>
          </a:xfrm>
          <a:prstGeom prst="rect">
            <a:avLst/>
          </a:prstGeom>
          <a:solidFill>
            <a:srgbClr val="13243F"/>
          </a:solidFill>
          <a:ln w="19080">
            <a:solidFill>
              <a:srgbClr val="14B8A6"/>
            </a:solidFill>
            <a:round/>
          </a:ln>
          <a:effectLst>
            <a:outerShdw blurRad="101520" dist="25560" dir="5400000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9"/>
          <p:cNvSpPr/>
          <p:nvPr/>
        </p:nvSpPr>
        <p:spPr>
          <a:xfrm>
            <a:off x="2148840" y="1691640"/>
            <a:ext cx="1371240" cy="10944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10"/>
          <p:cNvSpPr/>
          <p:nvPr/>
        </p:nvSpPr>
        <p:spPr>
          <a:xfrm>
            <a:off x="2148840" y="1874520"/>
            <a:ext cx="1371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EEF7"/>
                </a:solidFill>
                <a:effectLst/>
                <a:uFillTx/>
                <a:latin typeface="Georgia"/>
                <a:ea typeface="Georgia"/>
              </a:rPr>
              <a:t>ChaCha20 State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11"/>
          <p:cNvSpPr/>
          <p:nvPr/>
        </p:nvSpPr>
        <p:spPr>
          <a:xfrm>
            <a:off x="2194560" y="2286000"/>
            <a:ext cx="12798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4×4 matrix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(512 bits)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12"/>
          <p:cNvSpPr/>
          <p:nvPr/>
        </p:nvSpPr>
        <p:spPr>
          <a:xfrm>
            <a:off x="3566160" y="2377440"/>
            <a:ext cx="274320" cy="360"/>
          </a:xfrm>
          <a:prstGeom prst="line">
            <a:avLst/>
          </a:prstGeom>
          <a:ln w="31680">
            <a:solidFill>
              <a:srgbClr val="14B8A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13"/>
          <p:cNvSpPr/>
          <p:nvPr/>
        </p:nvSpPr>
        <p:spPr>
          <a:xfrm>
            <a:off x="3886200" y="1691640"/>
            <a:ext cx="1371240" cy="1371240"/>
          </a:xfrm>
          <a:prstGeom prst="rect">
            <a:avLst/>
          </a:prstGeom>
          <a:solidFill>
            <a:srgbClr val="13243F"/>
          </a:solidFill>
          <a:ln w="19080">
            <a:solidFill>
              <a:srgbClr val="8B5CF6"/>
            </a:solidFill>
            <a:round/>
          </a:ln>
          <a:effectLst>
            <a:outerShdw blurRad="101520" dist="25560" dir="5400000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14"/>
          <p:cNvSpPr/>
          <p:nvPr/>
        </p:nvSpPr>
        <p:spPr>
          <a:xfrm>
            <a:off x="3886200" y="1691640"/>
            <a:ext cx="1371240" cy="10944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15"/>
          <p:cNvSpPr/>
          <p:nvPr/>
        </p:nvSpPr>
        <p:spPr>
          <a:xfrm>
            <a:off x="3886200" y="1874520"/>
            <a:ext cx="1371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EEF7"/>
                </a:solidFill>
                <a:effectLst/>
                <a:uFillTx/>
                <a:latin typeface="Georgia"/>
                <a:ea typeface="Georgia"/>
              </a:rPr>
              <a:t>Mix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16"/>
          <p:cNvSpPr/>
          <p:nvPr/>
        </p:nvSpPr>
        <p:spPr>
          <a:xfrm>
            <a:off x="3931920" y="2286000"/>
            <a:ext cx="12798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20 rounds of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quarter rounds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17"/>
          <p:cNvSpPr/>
          <p:nvPr/>
        </p:nvSpPr>
        <p:spPr>
          <a:xfrm>
            <a:off x="5303520" y="2377440"/>
            <a:ext cx="274320" cy="360"/>
          </a:xfrm>
          <a:prstGeom prst="line">
            <a:avLst/>
          </a:prstGeom>
          <a:ln w="31680">
            <a:solidFill>
              <a:srgbClr val="14B8A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18"/>
          <p:cNvSpPr/>
          <p:nvPr/>
        </p:nvSpPr>
        <p:spPr>
          <a:xfrm>
            <a:off x="5623560" y="1691640"/>
            <a:ext cx="1371240" cy="1371240"/>
          </a:xfrm>
          <a:prstGeom prst="rect">
            <a:avLst/>
          </a:prstGeom>
          <a:solidFill>
            <a:srgbClr val="13243F"/>
          </a:solidFill>
          <a:ln w="19080">
            <a:solidFill>
              <a:srgbClr val="14B8A6"/>
            </a:solidFill>
            <a:round/>
          </a:ln>
          <a:effectLst>
            <a:outerShdw blurRad="101520" dist="25560" dir="5400000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19"/>
          <p:cNvSpPr/>
          <p:nvPr/>
        </p:nvSpPr>
        <p:spPr>
          <a:xfrm>
            <a:off x="5623560" y="1691640"/>
            <a:ext cx="1371240" cy="10944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20"/>
          <p:cNvSpPr/>
          <p:nvPr/>
        </p:nvSpPr>
        <p:spPr>
          <a:xfrm>
            <a:off x="5623560" y="1874520"/>
            <a:ext cx="1371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EEF7"/>
                </a:solidFill>
                <a:effectLst/>
                <a:uFillTx/>
                <a:latin typeface="Georgia"/>
                <a:ea typeface="Georgia"/>
              </a:rPr>
              <a:t>Keystream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21"/>
          <p:cNvSpPr/>
          <p:nvPr/>
        </p:nvSpPr>
        <p:spPr>
          <a:xfrm>
            <a:off x="5669280" y="2286000"/>
            <a:ext cx="12798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512-bit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pseudorandom block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22"/>
          <p:cNvSpPr/>
          <p:nvPr/>
        </p:nvSpPr>
        <p:spPr>
          <a:xfrm>
            <a:off x="7040880" y="2377440"/>
            <a:ext cx="274320" cy="360"/>
          </a:xfrm>
          <a:prstGeom prst="line">
            <a:avLst/>
          </a:prstGeom>
          <a:ln w="31680">
            <a:solidFill>
              <a:srgbClr val="14B8A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23"/>
          <p:cNvSpPr/>
          <p:nvPr/>
        </p:nvSpPr>
        <p:spPr>
          <a:xfrm>
            <a:off x="7360920" y="1691640"/>
            <a:ext cx="1371240" cy="1371240"/>
          </a:xfrm>
          <a:prstGeom prst="rect">
            <a:avLst/>
          </a:prstGeom>
          <a:solidFill>
            <a:srgbClr val="13243F"/>
          </a:solidFill>
          <a:ln w="19080">
            <a:solidFill>
              <a:srgbClr val="F97066"/>
            </a:solidFill>
            <a:round/>
          </a:ln>
          <a:effectLst>
            <a:outerShdw blurRad="101520" dist="25560" dir="5400000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24"/>
          <p:cNvSpPr/>
          <p:nvPr/>
        </p:nvSpPr>
        <p:spPr>
          <a:xfrm>
            <a:off x="7360920" y="1691640"/>
            <a:ext cx="1371240" cy="109440"/>
          </a:xfrm>
          <a:prstGeom prst="rect">
            <a:avLst/>
          </a:prstGeom>
          <a:solidFill>
            <a:srgbClr val="F970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25"/>
          <p:cNvSpPr/>
          <p:nvPr/>
        </p:nvSpPr>
        <p:spPr>
          <a:xfrm>
            <a:off x="7360920" y="1874520"/>
            <a:ext cx="1371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EEF7"/>
                </a:solidFill>
                <a:effectLst/>
                <a:uFillTx/>
                <a:latin typeface="Georgia"/>
                <a:ea typeface="Georgia"/>
              </a:rPr>
              <a:t>Ciphertext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26"/>
          <p:cNvSpPr/>
          <p:nvPr/>
        </p:nvSpPr>
        <p:spPr>
          <a:xfrm>
            <a:off x="7406640" y="2286000"/>
            <a:ext cx="12798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Plaintext XOR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Keystream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27"/>
          <p:cNvSpPr/>
          <p:nvPr/>
        </p:nvSpPr>
        <p:spPr>
          <a:xfrm>
            <a:off x="640080" y="3520440"/>
            <a:ext cx="7863480" cy="1188360"/>
          </a:xfrm>
          <a:prstGeom prst="rect">
            <a:avLst/>
          </a:prstGeom>
          <a:solidFill>
            <a:srgbClr val="13243F"/>
          </a:solidFill>
          <a:ln w="648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28"/>
          <p:cNvSpPr/>
          <p:nvPr/>
        </p:nvSpPr>
        <p:spPr>
          <a:xfrm>
            <a:off x="777240" y="3611880"/>
            <a:ext cx="7589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Symmetry: encryption and decryption use the same operation.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29"/>
          <p:cNvSpPr/>
          <p:nvPr/>
        </p:nvSpPr>
        <p:spPr>
          <a:xfrm>
            <a:off x="777240" y="3886200"/>
            <a:ext cx="75891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E8EEF7"/>
                </a:solidFill>
                <a:effectLst/>
                <a:uFillTx/>
                <a:latin typeface="Calibri"/>
                <a:ea typeface="Consolas"/>
              </a:rPr>
              <a:t>Plaintext  XOR  Keystream  =  Ciphertext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14B8A6"/>
                </a:solidFill>
                <a:effectLst/>
                <a:uFillTx/>
                <a:latin typeface="Calibri"/>
                <a:ea typeface="Consolas"/>
              </a:rPr>
              <a:t>Ciphertext XOR  Keystream  =  Plaintext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485" name="Shape 30"/>
          <p:cNvSpPr/>
          <p:nvPr/>
        </p:nvSpPr>
        <p:spPr>
          <a:xfrm>
            <a:off x="8275320" y="4851000"/>
            <a:ext cx="164160" cy="453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31"/>
          <p:cNvSpPr/>
          <p:nvPr/>
        </p:nvSpPr>
        <p:spPr>
          <a:xfrm>
            <a:off x="8503920" y="4851000"/>
            <a:ext cx="365400" cy="45360"/>
          </a:xfrm>
          <a:prstGeom prst="rect">
            <a:avLst/>
          </a:prstGeom>
          <a:solidFill>
            <a:srgbClr val="14B8A6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32"/>
          <p:cNvSpPr/>
          <p:nvPr/>
        </p:nvSpPr>
        <p:spPr>
          <a:xfrm>
            <a:off x="6400800" y="47595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 spc="201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CHACHA20-POLY1305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33"/>
          <p:cNvSpPr/>
          <p:nvPr/>
        </p:nvSpPr>
        <p:spPr>
          <a:xfrm>
            <a:off x="365760" y="47595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99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13 / 32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Shape 0"/>
          <p:cNvSpPr/>
          <p:nvPr/>
        </p:nvSpPr>
        <p:spPr>
          <a:xfrm>
            <a:off x="457200" y="502920"/>
            <a:ext cx="164160" cy="1641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1"/>
          <p:cNvSpPr/>
          <p:nvPr/>
        </p:nvSpPr>
        <p:spPr>
          <a:xfrm>
            <a:off x="713160" y="36576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The Nonce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2"/>
          <p:cNvSpPr/>
          <p:nvPr/>
        </p:nvSpPr>
        <p:spPr>
          <a:xfrm>
            <a:off x="713160" y="86868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 "number used once" — public, but must be unique per message.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3"/>
          <p:cNvSpPr/>
          <p:nvPr/>
        </p:nvSpPr>
        <p:spPr>
          <a:xfrm>
            <a:off x="457200" y="1417320"/>
            <a:ext cx="3840120" cy="320004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3" name="Image 0" descr="preencoded.png"/>
          <p:cNvPicPr/>
          <p:nvPr/>
        </p:nvPicPr>
        <p:blipFill>
          <a:blip r:embed="rId3"/>
          <a:stretch/>
        </p:blipFill>
        <p:spPr>
          <a:xfrm>
            <a:off x="640080" y="16275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4" name="Text 4"/>
          <p:cNvSpPr/>
          <p:nvPr/>
        </p:nvSpPr>
        <p:spPr>
          <a:xfrm>
            <a:off x="1234440" y="162756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What it is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5"/>
          <p:cNvSpPr/>
          <p:nvPr/>
        </p:nvSpPr>
        <p:spPr>
          <a:xfrm>
            <a:off x="640080" y="2240280"/>
            <a:ext cx="3520080" cy="22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F5B400"/>
                </a:solidFill>
                <a:effectLst/>
                <a:uFillTx/>
                <a:latin typeface="Calibri"/>
                <a:ea typeface="Calibri"/>
              </a:rPr>
              <a:t>• </a:t>
            </a: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 96-bit value used alongside the key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F5B400"/>
                </a:solidFill>
                <a:effectLst/>
                <a:uFillTx/>
                <a:latin typeface="Calibri"/>
                <a:ea typeface="Calibri"/>
              </a:rPr>
              <a:t>• </a:t>
            </a: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Public — does not need to be secret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F5B400"/>
                </a:solidFill>
                <a:effectLst/>
                <a:uFillTx/>
                <a:latin typeface="Calibri"/>
                <a:ea typeface="Calibri"/>
              </a:rPr>
              <a:t>• </a:t>
            </a: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Must be unique for each message under the same key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1" u="none" strike="noStrike">
                <a:solidFill>
                  <a:srgbClr val="F5B400"/>
                </a:solidFill>
                <a:effectLst/>
                <a:uFillTx/>
                <a:latin typeface="Calibri"/>
                <a:ea typeface="Calibri"/>
              </a:rPr>
              <a:t>• </a:t>
            </a: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Sent alongside the ciphertext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6"/>
          <p:cNvSpPr/>
          <p:nvPr/>
        </p:nvSpPr>
        <p:spPr>
          <a:xfrm>
            <a:off x="4526280" y="1417320"/>
            <a:ext cx="4160160" cy="3200040"/>
          </a:xfrm>
          <a:prstGeom prst="rect">
            <a:avLst/>
          </a:prstGeom>
          <a:solidFill>
            <a:srgbClr val="0B1A2E"/>
          </a:solidFill>
          <a:ln w="0">
            <a:noFill/>
          </a:ln>
          <a:effectLst>
            <a:outerShdw blurRad="101520" dist="25560" dir="5400000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7"/>
          <p:cNvSpPr/>
          <p:nvPr/>
        </p:nvSpPr>
        <p:spPr>
          <a:xfrm>
            <a:off x="4526280" y="1554480"/>
            <a:ext cx="41601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400">
                <a:solidFill>
                  <a:srgbClr val="F5B400"/>
                </a:solidFill>
                <a:effectLst/>
                <a:uFillTx/>
                <a:latin typeface="Calibri"/>
                <a:ea typeface="Calibri"/>
              </a:rPr>
              <a:t>WHY IT MATTERS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8"/>
          <p:cNvSpPr/>
          <p:nvPr/>
        </p:nvSpPr>
        <p:spPr>
          <a:xfrm>
            <a:off x="4663440" y="1965960"/>
            <a:ext cx="1234080" cy="548280"/>
          </a:xfrm>
          <a:prstGeom prst="rect">
            <a:avLst/>
          </a:prstGeom>
          <a:solidFill>
            <a:srgbClr val="F5B4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9"/>
          <p:cNvSpPr/>
          <p:nvPr/>
        </p:nvSpPr>
        <p:spPr>
          <a:xfrm>
            <a:off x="4663440" y="201168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Key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10"/>
          <p:cNvSpPr/>
          <p:nvPr/>
        </p:nvSpPr>
        <p:spPr>
          <a:xfrm>
            <a:off x="4663440" y="2258640"/>
            <a:ext cx="1234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(secret)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11"/>
          <p:cNvSpPr/>
          <p:nvPr/>
        </p:nvSpPr>
        <p:spPr>
          <a:xfrm>
            <a:off x="5943600" y="1965960"/>
            <a:ext cx="1234080" cy="54828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12"/>
          <p:cNvSpPr/>
          <p:nvPr/>
        </p:nvSpPr>
        <p:spPr>
          <a:xfrm>
            <a:off x="5943600" y="201168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Nonce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13"/>
          <p:cNvSpPr/>
          <p:nvPr/>
        </p:nvSpPr>
        <p:spPr>
          <a:xfrm>
            <a:off x="5943600" y="2258640"/>
            <a:ext cx="1234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(unique)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14"/>
          <p:cNvSpPr/>
          <p:nvPr/>
        </p:nvSpPr>
        <p:spPr>
          <a:xfrm>
            <a:off x="7223760" y="1965960"/>
            <a:ext cx="1234080" cy="54828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15"/>
          <p:cNvSpPr/>
          <p:nvPr/>
        </p:nvSpPr>
        <p:spPr>
          <a:xfrm>
            <a:off x="7223760" y="201168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Counter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16"/>
          <p:cNvSpPr/>
          <p:nvPr/>
        </p:nvSpPr>
        <p:spPr>
          <a:xfrm>
            <a:off x="7223760" y="2258640"/>
            <a:ext cx="1234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(per block)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17"/>
          <p:cNvSpPr/>
          <p:nvPr/>
        </p:nvSpPr>
        <p:spPr>
          <a:xfrm>
            <a:off x="6606360" y="2606040"/>
            <a:ext cx="360" cy="457200"/>
          </a:xfrm>
          <a:prstGeom prst="line">
            <a:avLst/>
          </a:prstGeom>
          <a:ln w="25560">
            <a:solidFill>
              <a:srgbClr val="94A3B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18"/>
          <p:cNvSpPr/>
          <p:nvPr/>
        </p:nvSpPr>
        <p:spPr>
          <a:xfrm>
            <a:off x="4983480" y="3154680"/>
            <a:ext cx="3245760" cy="5025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19"/>
          <p:cNvSpPr/>
          <p:nvPr/>
        </p:nvSpPr>
        <p:spPr>
          <a:xfrm>
            <a:off x="4983480" y="3154680"/>
            <a:ext cx="3245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ChaCha20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20"/>
          <p:cNvSpPr/>
          <p:nvPr/>
        </p:nvSpPr>
        <p:spPr>
          <a:xfrm>
            <a:off x="6606360" y="3703320"/>
            <a:ext cx="360" cy="365760"/>
          </a:xfrm>
          <a:prstGeom prst="line">
            <a:avLst/>
          </a:prstGeom>
          <a:ln w="25560">
            <a:solidFill>
              <a:srgbClr val="94A3B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21"/>
          <p:cNvSpPr/>
          <p:nvPr/>
        </p:nvSpPr>
        <p:spPr>
          <a:xfrm>
            <a:off x="4572000" y="4160520"/>
            <a:ext cx="40687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E8EEF7"/>
                </a:solidFill>
                <a:effectLst/>
                <a:uFillTx/>
                <a:latin typeface="Calibri"/>
                <a:ea typeface="Calibri"/>
              </a:rPr>
              <a:t>→ Different nonce produces a different keystream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22"/>
          <p:cNvSpPr/>
          <p:nvPr/>
        </p:nvSpPr>
        <p:spPr>
          <a:xfrm>
            <a:off x="8275320" y="4851000"/>
            <a:ext cx="164160" cy="45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23"/>
          <p:cNvSpPr/>
          <p:nvPr/>
        </p:nvSpPr>
        <p:spPr>
          <a:xfrm>
            <a:off x="8503920" y="4851000"/>
            <a:ext cx="365400" cy="45360"/>
          </a:xfrm>
          <a:prstGeom prst="rect">
            <a:avLst/>
          </a:prstGeom>
          <a:solidFill>
            <a:srgbClr val="0D9488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24"/>
          <p:cNvSpPr/>
          <p:nvPr/>
        </p:nvSpPr>
        <p:spPr>
          <a:xfrm>
            <a:off x="6400800" y="47595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 spc="201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CHACHA20-POLY1305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25"/>
          <p:cNvSpPr/>
          <p:nvPr/>
        </p:nvSpPr>
        <p:spPr>
          <a:xfrm>
            <a:off x="365760" y="47595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99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14 / 32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Shape 0"/>
          <p:cNvSpPr/>
          <p:nvPr/>
        </p:nvSpPr>
        <p:spPr>
          <a:xfrm>
            <a:off x="457200" y="502920"/>
            <a:ext cx="164160" cy="1641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1"/>
          <p:cNvSpPr/>
          <p:nvPr/>
        </p:nvSpPr>
        <p:spPr>
          <a:xfrm>
            <a:off x="713160" y="36576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Can we re-use a nonce?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2"/>
          <p:cNvSpPr/>
          <p:nvPr/>
        </p:nvSpPr>
        <p:spPr>
          <a:xfrm>
            <a:off x="713160" y="86868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No. Reusing a nonce with the same key is catastrophic.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3"/>
          <p:cNvSpPr/>
          <p:nvPr/>
        </p:nvSpPr>
        <p:spPr>
          <a:xfrm>
            <a:off x="640080" y="1554480"/>
            <a:ext cx="1462680" cy="1462680"/>
          </a:xfrm>
          <a:prstGeom prst="ellipse">
            <a:avLst/>
          </a:prstGeom>
          <a:solidFill>
            <a:srgbClr val="F97066"/>
          </a:solidFill>
          <a:ln w="0">
            <a:noFill/>
          </a:ln>
          <a:effectLst>
            <a:outerShdw blurRad="101520" dist="25560" dir="5400000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4"/>
          <p:cNvSpPr/>
          <p:nvPr/>
        </p:nvSpPr>
        <p:spPr>
          <a:xfrm>
            <a:off x="640080" y="1554480"/>
            <a:ext cx="146268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NO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5"/>
          <p:cNvSpPr/>
          <p:nvPr/>
        </p:nvSpPr>
        <p:spPr>
          <a:xfrm>
            <a:off x="457200" y="310896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DC2626"/>
                </a:solidFill>
                <a:effectLst/>
                <a:uFillTx/>
                <a:latin typeface="Calibri"/>
                <a:ea typeface="Calibri"/>
              </a:rPr>
              <a:t>Never reuse with same 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6"/>
          <p:cNvSpPr/>
          <p:nvPr/>
        </p:nvSpPr>
        <p:spPr>
          <a:xfrm>
            <a:off x="2468880" y="1417320"/>
            <a:ext cx="6217560" cy="3245760"/>
          </a:xfrm>
          <a:prstGeom prst="rect">
            <a:avLst/>
          </a:prstGeom>
          <a:solidFill>
            <a:srgbClr val="0B1A2E"/>
          </a:solidFill>
          <a:ln w="0">
            <a:noFill/>
          </a:ln>
          <a:effectLst>
            <a:outerShdw blurRad="101520" dist="25560" dir="5400000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7"/>
          <p:cNvSpPr/>
          <p:nvPr/>
        </p:nvSpPr>
        <p:spPr>
          <a:xfrm>
            <a:off x="2606040" y="155448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Suppose two messages reuse the same nonce + key: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8"/>
          <p:cNvSpPr/>
          <p:nvPr/>
        </p:nvSpPr>
        <p:spPr>
          <a:xfrm>
            <a:off x="2606040" y="1965960"/>
            <a:ext cx="59432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800" b="1" u="none" strike="noStrike">
                <a:solidFill>
                  <a:srgbClr val="14B8A6"/>
                </a:solidFill>
                <a:effectLst/>
                <a:uFillTx/>
                <a:latin typeface="Calibri"/>
                <a:ea typeface="Consolas"/>
              </a:rPr>
              <a:t>C₁ = P₁ ⊕ Keystream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800" b="1" u="none" strike="noStrike">
                <a:solidFill>
                  <a:srgbClr val="14B8A6"/>
                </a:solidFill>
                <a:effectLst/>
                <a:uFillTx/>
                <a:latin typeface="Calibri"/>
                <a:ea typeface="Consolas"/>
              </a:rPr>
              <a:t>C₂ = P₂ ⊕ Keystream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25" name="Shape 9"/>
          <p:cNvSpPr/>
          <p:nvPr/>
        </p:nvSpPr>
        <p:spPr>
          <a:xfrm>
            <a:off x="3200400" y="2834640"/>
            <a:ext cx="4572000" cy="360"/>
          </a:xfrm>
          <a:prstGeom prst="line">
            <a:avLst/>
          </a:prstGeom>
          <a:ln w="936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10"/>
          <p:cNvSpPr/>
          <p:nvPr/>
        </p:nvSpPr>
        <p:spPr>
          <a:xfrm>
            <a:off x="2606040" y="29260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XOR them together: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11"/>
          <p:cNvSpPr/>
          <p:nvPr/>
        </p:nvSpPr>
        <p:spPr>
          <a:xfrm>
            <a:off x="2606040" y="3246120"/>
            <a:ext cx="5943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97066"/>
                </a:solidFill>
                <a:effectLst/>
                <a:uFillTx/>
                <a:latin typeface="Calibri"/>
                <a:ea typeface="Consolas"/>
              </a:rPr>
              <a:t>C₁ ⊕ C₂ = P₁ ⊕ P₂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28" name="Text 12"/>
          <p:cNvSpPr/>
          <p:nvPr/>
        </p:nvSpPr>
        <p:spPr>
          <a:xfrm>
            <a:off x="2606040" y="3840480"/>
            <a:ext cx="5943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E8EEF7"/>
                </a:solidFill>
                <a:effectLst/>
                <a:uFillTx/>
                <a:latin typeface="Calibri"/>
                <a:ea typeface="Calibri"/>
              </a:rPr>
              <a:t>→ keystream cancels, plaintext patterns leak, confidentiality broken.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Shape 13"/>
          <p:cNvSpPr/>
          <p:nvPr/>
        </p:nvSpPr>
        <p:spPr>
          <a:xfrm>
            <a:off x="457200" y="4754880"/>
            <a:ext cx="8229240" cy="45360"/>
          </a:xfrm>
          <a:prstGeom prst="rect">
            <a:avLst/>
          </a:prstGeom>
          <a:solidFill>
            <a:srgbClr val="F970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14"/>
          <p:cNvSpPr/>
          <p:nvPr/>
        </p:nvSpPr>
        <p:spPr>
          <a:xfrm>
            <a:off x="8275320" y="4851000"/>
            <a:ext cx="164160" cy="45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15"/>
          <p:cNvSpPr/>
          <p:nvPr/>
        </p:nvSpPr>
        <p:spPr>
          <a:xfrm>
            <a:off x="8503920" y="4851000"/>
            <a:ext cx="365400" cy="45360"/>
          </a:xfrm>
          <a:prstGeom prst="rect">
            <a:avLst/>
          </a:prstGeom>
          <a:solidFill>
            <a:srgbClr val="0D9488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16"/>
          <p:cNvSpPr/>
          <p:nvPr/>
        </p:nvSpPr>
        <p:spPr>
          <a:xfrm>
            <a:off x="6400800" y="47595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 spc="201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CHACHA20-POLY1305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17"/>
          <p:cNvSpPr/>
          <p:nvPr/>
        </p:nvSpPr>
        <p:spPr>
          <a:xfrm>
            <a:off x="365760" y="47595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99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15 / 32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Shape 0"/>
          <p:cNvSpPr/>
          <p:nvPr/>
        </p:nvSpPr>
        <p:spPr>
          <a:xfrm>
            <a:off x="457200" y="502920"/>
            <a:ext cx="164160" cy="1641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1"/>
          <p:cNvSpPr/>
          <p:nvPr/>
        </p:nvSpPr>
        <p:spPr>
          <a:xfrm>
            <a:off x="713160" y="36576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Poly1305: Message Authentication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2"/>
          <p:cNvSpPr/>
          <p:nvPr/>
        </p:nvSpPr>
        <p:spPr>
          <a:xfrm>
            <a:off x="713160" y="86868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Detects tampering. Does not encrypt — that's still ChaCha20's job.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Shape 3"/>
          <p:cNvSpPr/>
          <p:nvPr/>
        </p:nvSpPr>
        <p:spPr>
          <a:xfrm>
            <a:off x="457200" y="1417320"/>
            <a:ext cx="8229240" cy="77688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Shape 4"/>
          <p:cNvSpPr/>
          <p:nvPr/>
        </p:nvSpPr>
        <p:spPr>
          <a:xfrm>
            <a:off x="457200" y="1417320"/>
            <a:ext cx="4114440" cy="77688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9" name="Image 0" descr="preencoded.png"/>
          <p:cNvPicPr/>
          <p:nvPr/>
        </p:nvPicPr>
        <p:blipFill>
          <a:blip r:embed="rId3"/>
          <a:stretch/>
        </p:blipFill>
        <p:spPr>
          <a:xfrm>
            <a:off x="685800" y="16275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0" name="Text 5"/>
          <p:cNvSpPr/>
          <p:nvPr/>
        </p:nvSpPr>
        <p:spPr>
          <a:xfrm>
            <a:off x="1143000" y="1417320"/>
            <a:ext cx="3291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ChaCha20 → encrypts the message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1" name="Image 1" descr="preencoded.png"/>
          <p:cNvPicPr/>
          <p:nvPr/>
        </p:nvPicPr>
        <p:blipFill>
          <a:blip r:embed="rId4"/>
          <a:stretch/>
        </p:blipFill>
        <p:spPr>
          <a:xfrm>
            <a:off x="4800600" y="162756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2" name="Text 6"/>
          <p:cNvSpPr/>
          <p:nvPr/>
        </p:nvSpPr>
        <p:spPr>
          <a:xfrm>
            <a:off x="5257800" y="1417320"/>
            <a:ext cx="3291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B5CF6"/>
                </a:solidFill>
                <a:effectLst/>
                <a:uFillTx/>
                <a:latin typeface="Georgia"/>
                <a:ea typeface="Georgia"/>
              </a:rPr>
              <a:t>Poly1305 → protects it from modification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7"/>
          <p:cNvSpPr/>
          <p:nvPr/>
        </p:nvSpPr>
        <p:spPr>
          <a:xfrm>
            <a:off x="457200" y="2377440"/>
            <a:ext cx="3977280" cy="228564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8"/>
          <p:cNvSpPr/>
          <p:nvPr/>
        </p:nvSpPr>
        <p:spPr>
          <a:xfrm>
            <a:off x="457200" y="2377440"/>
            <a:ext cx="54360" cy="228564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9"/>
          <p:cNvSpPr/>
          <p:nvPr/>
        </p:nvSpPr>
        <p:spPr>
          <a:xfrm>
            <a:off x="685800" y="2541960"/>
            <a:ext cx="502560" cy="50256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6" name="Image 2" descr="preencoded.png"/>
          <p:cNvPicPr/>
          <p:nvPr/>
        </p:nvPicPr>
        <p:blipFill>
          <a:blip r:embed="rId5"/>
          <a:stretch/>
        </p:blipFill>
        <p:spPr>
          <a:xfrm>
            <a:off x="786240" y="264276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7" name="Text 10"/>
          <p:cNvSpPr/>
          <p:nvPr/>
        </p:nvSpPr>
        <p:spPr>
          <a:xfrm>
            <a:off x="1325880" y="246888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Produces a 16-byte tag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11"/>
          <p:cNvSpPr/>
          <p:nvPr/>
        </p:nvSpPr>
        <p:spPr>
          <a:xfrm>
            <a:off x="685800" y="3154680"/>
            <a:ext cx="3657240" cy="141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15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• </a:t>
            </a:r>
            <a:r>
              <a:rPr lang="en-US" sz="11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Computed from key + ciphertext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15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• </a:t>
            </a:r>
            <a:r>
              <a:rPr lang="en-US" sz="11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Sent alongside the message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15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• </a:t>
            </a:r>
            <a:r>
              <a:rPr lang="en-US" sz="11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Acts like a cryptographic fingerprint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12"/>
          <p:cNvSpPr/>
          <p:nvPr/>
        </p:nvSpPr>
        <p:spPr>
          <a:xfrm>
            <a:off x="4709160" y="2377440"/>
            <a:ext cx="3977280" cy="228564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13"/>
          <p:cNvSpPr/>
          <p:nvPr/>
        </p:nvSpPr>
        <p:spPr>
          <a:xfrm>
            <a:off x="4709160" y="2377440"/>
            <a:ext cx="54360" cy="228564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14"/>
          <p:cNvSpPr/>
          <p:nvPr/>
        </p:nvSpPr>
        <p:spPr>
          <a:xfrm>
            <a:off x="4937760" y="2541960"/>
            <a:ext cx="502560" cy="50256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2" name="Image 3" descr="preencoded.png"/>
          <p:cNvPicPr/>
          <p:nvPr/>
        </p:nvPicPr>
        <p:blipFill>
          <a:blip r:embed="rId6"/>
          <a:stretch/>
        </p:blipFill>
        <p:spPr>
          <a:xfrm>
            <a:off x="5038200" y="264276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3" name="Text 15"/>
          <p:cNvSpPr/>
          <p:nvPr/>
        </p:nvSpPr>
        <p:spPr>
          <a:xfrm>
            <a:off x="5577840" y="246888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Receiver verifies the tag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16"/>
          <p:cNvSpPr/>
          <p:nvPr/>
        </p:nvSpPr>
        <p:spPr>
          <a:xfrm>
            <a:off x="4937760" y="3154680"/>
            <a:ext cx="3657240" cy="141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15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• </a:t>
            </a:r>
            <a:r>
              <a:rPr lang="en-US" sz="11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Recomputes the tag during decryption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15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• </a:t>
            </a:r>
            <a:r>
              <a:rPr lang="en-US" sz="11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If tags differ → message rejected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150" b="1" u="none" strike="noStrike">
                <a:solidFill>
                  <a:srgbClr val="8B5CF6"/>
                </a:solidFill>
                <a:effectLst/>
                <a:uFillTx/>
                <a:latin typeface="Calibri"/>
                <a:ea typeface="Calibri"/>
              </a:rPr>
              <a:t>• </a:t>
            </a:r>
            <a:r>
              <a:rPr lang="en-US" sz="11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Tampering becomes detectable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17"/>
          <p:cNvSpPr/>
          <p:nvPr/>
        </p:nvSpPr>
        <p:spPr>
          <a:xfrm>
            <a:off x="8275320" y="4851000"/>
            <a:ext cx="164160" cy="45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18"/>
          <p:cNvSpPr/>
          <p:nvPr/>
        </p:nvSpPr>
        <p:spPr>
          <a:xfrm>
            <a:off x="8503920" y="4851000"/>
            <a:ext cx="365400" cy="45360"/>
          </a:xfrm>
          <a:prstGeom prst="rect">
            <a:avLst/>
          </a:prstGeom>
          <a:solidFill>
            <a:srgbClr val="0D9488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19"/>
          <p:cNvSpPr/>
          <p:nvPr/>
        </p:nvSpPr>
        <p:spPr>
          <a:xfrm>
            <a:off x="6400800" y="47595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 spc="201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CHACHA20-POLY1305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20"/>
          <p:cNvSpPr/>
          <p:nvPr/>
        </p:nvSpPr>
        <p:spPr>
          <a:xfrm>
            <a:off x="365760" y="47595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99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16 / 32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Shape 0"/>
          <p:cNvSpPr/>
          <p:nvPr/>
        </p:nvSpPr>
        <p:spPr>
          <a:xfrm>
            <a:off x="457200" y="502920"/>
            <a:ext cx="164160" cy="1641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 1"/>
          <p:cNvSpPr/>
          <p:nvPr/>
        </p:nvSpPr>
        <p:spPr>
          <a:xfrm>
            <a:off x="713160" y="36576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Poly1305: How the Tag is Created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2"/>
          <p:cNvSpPr/>
          <p:nvPr/>
        </p:nvSpPr>
        <p:spPr>
          <a:xfrm>
            <a:off x="713160" y="86868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Polynomial evaluation modulo a 130-bit prime.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Shape 3"/>
          <p:cNvSpPr/>
          <p:nvPr/>
        </p:nvSpPr>
        <p:spPr>
          <a:xfrm>
            <a:off x="457200" y="1463040"/>
            <a:ext cx="1992960" cy="237708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4"/>
          <p:cNvSpPr/>
          <p:nvPr/>
        </p:nvSpPr>
        <p:spPr>
          <a:xfrm>
            <a:off x="1225440" y="1627560"/>
            <a:ext cx="456840" cy="45684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5"/>
          <p:cNvSpPr/>
          <p:nvPr/>
        </p:nvSpPr>
        <p:spPr>
          <a:xfrm>
            <a:off x="1225440" y="16275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5" name="Image 0" descr="preencoded.png"/>
          <p:cNvPicPr/>
          <p:nvPr/>
        </p:nvPicPr>
        <p:blipFill>
          <a:blip r:embed="rId3"/>
          <a:stretch/>
        </p:blipFill>
        <p:spPr>
          <a:xfrm>
            <a:off x="1248120" y="219456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6" name="Text 6"/>
          <p:cNvSpPr/>
          <p:nvPr/>
        </p:nvSpPr>
        <p:spPr>
          <a:xfrm>
            <a:off x="548640" y="2697480"/>
            <a:ext cx="1810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One-time key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7"/>
          <p:cNvSpPr/>
          <p:nvPr/>
        </p:nvSpPr>
        <p:spPr>
          <a:xfrm>
            <a:off x="594360" y="3063240"/>
            <a:ext cx="17186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Derived from ChaCha20 with counter = 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Shape 8"/>
          <p:cNvSpPr/>
          <p:nvPr/>
        </p:nvSpPr>
        <p:spPr>
          <a:xfrm>
            <a:off x="2569320" y="1463040"/>
            <a:ext cx="1992960" cy="237708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9"/>
          <p:cNvSpPr/>
          <p:nvPr/>
        </p:nvSpPr>
        <p:spPr>
          <a:xfrm>
            <a:off x="3337560" y="1627560"/>
            <a:ext cx="456840" cy="45684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10"/>
          <p:cNvSpPr/>
          <p:nvPr/>
        </p:nvSpPr>
        <p:spPr>
          <a:xfrm>
            <a:off x="3337560" y="16275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1" name="Image 1" descr="preencoded.png"/>
          <p:cNvPicPr/>
          <p:nvPr/>
        </p:nvPicPr>
        <p:blipFill>
          <a:blip r:embed="rId4"/>
          <a:stretch/>
        </p:blipFill>
        <p:spPr>
          <a:xfrm>
            <a:off x="3360600" y="219456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2" name="Text 11"/>
          <p:cNvSpPr/>
          <p:nvPr/>
        </p:nvSpPr>
        <p:spPr>
          <a:xfrm>
            <a:off x="2660760" y="2697480"/>
            <a:ext cx="1810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Split message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12"/>
          <p:cNvSpPr/>
          <p:nvPr/>
        </p:nvSpPr>
        <p:spPr>
          <a:xfrm>
            <a:off x="2706480" y="3063240"/>
            <a:ext cx="17186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Ciphertext divided into 16-byte blocks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Shape 13"/>
          <p:cNvSpPr/>
          <p:nvPr/>
        </p:nvSpPr>
        <p:spPr>
          <a:xfrm>
            <a:off x="4681800" y="1463040"/>
            <a:ext cx="1992960" cy="237708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Shape 14"/>
          <p:cNvSpPr/>
          <p:nvPr/>
        </p:nvSpPr>
        <p:spPr>
          <a:xfrm>
            <a:off x="5449680" y="1627560"/>
            <a:ext cx="456840" cy="45684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 15"/>
          <p:cNvSpPr/>
          <p:nvPr/>
        </p:nvSpPr>
        <p:spPr>
          <a:xfrm>
            <a:off x="5449680" y="16275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7" name="Image 2" descr="preencoded.png"/>
          <p:cNvPicPr/>
          <p:nvPr/>
        </p:nvPicPr>
        <p:blipFill>
          <a:blip r:embed="rId5"/>
          <a:stretch/>
        </p:blipFill>
        <p:spPr>
          <a:xfrm>
            <a:off x="5472720" y="219456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8" name="Text 16"/>
          <p:cNvSpPr/>
          <p:nvPr/>
        </p:nvSpPr>
        <p:spPr>
          <a:xfrm>
            <a:off x="4773240" y="2697480"/>
            <a:ext cx="1810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Polynomial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17"/>
          <p:cNvSpPr/>
          <p:nvPr/>
        </p:nvSpPr>
        <p:spPr>
          <a:xfrm>
            <a:off x="4818960" y="3063240"/>
            <a:ext cx="17186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Evaluate mod 2¹³⁰ − 5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(a 130-bit prime)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Shape 18"/>
          <p:cNvSpPr/>
          <p:nvPr/>
        </p:nvSpPr>
        <p:spPr>
          <a:xfrm>
            <a:off x="6793920" y="1463040"/>
            <a:ext cx="1992960" cy="237708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Shape 19"/>
          <p:cNvSpPr/>
          <p:nvPr/>
        </p:nvSpPr>
        <p:spPr>
          <a:xfrm>
            <a:off x="7562160" y="1627560"/>
            <a:ext cx="456840" cy="45684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20"/>
          <p:cNvSpPr/>
          <p:nvPr/>
        </p:nvSpPr>
        <p:spPr>
          <a:xfrm>
            <a:off x="7562160" y="16275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3" name="Image 3" descr="preencoded.png"/>
          <p:cNvPicPr/>
          <p:nvPr/>
        </p:nvPicPr>
        <p:blipFill>
          <a:blip r:embed="rId6"/>
          <a:stretch/>
        </p:blipFill>
        <p:spPr>
          <a:xfrm>
            <a:off x="7584840" y="219456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4" name="Text 21"/>
          <p:cNvSpPr/>
          <p:nvPr/>
        </p:nvSpPr>
        <p:spPr>
          <a:xfrm>
            <a:off x="6885360" y="2697480"/>
            <a:ext cx="1810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16-byte tag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 22"/>
          <p:cNvSpPr/>
          <p:nvPr/>
        </p:nvSpPr>
        <p:spPr>
          <a:xfrm>
            <a:off x="6931080" y="3063240"/>
            <a:ext cx="17186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Output: highly sensitive to any change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Shape 23"/>
          <p:cNvSpPr/>
          <p:nvPr/>
        </p:nvSpPr>
        <p:spPr>
          <a:xfrm>
            <a:off x="457200" y="4114800"/>
            <a:ext cx="8229240" cy="594000"/>
          </a:xfrm>
          <a:prstGeom prst="rect">
            <a:avLst/>
          </a:prstGeom>
          <a:solidFill>
            <a:srgbClr val="0B1A2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 24"/>
          <p:cNvSpPr/>
          <p:nvPr/>
        </p:nvSpPr>
        <p:spPr>
          <a:xfrm>
            <a:off x="640080" y="4114800"/>
            <a:ext cx="78634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5B400"/>
                </a:solidFill>
                <a:effectLst/>
                <a:uFillTx/>
                <a:latin typeface="Calibri"/>
                <a:ea typeface="Calibri"/>
              </a:rPr>
              <a:t>Why polynomial math? </a:t>
            </a:r>
            <a:r>
              <a:rPr lang="en-US" sz="1150" b="0" u="none" strike="noStrike">
                <a:solidFill>
                  <a:srgbClr val="E8EEF7"/>
                </a:solidFill>
                <a:effectLst/>
                <a:uFillTx/>
                <a:latin typeface="Calibri"/>
                <a:ea typeface="Calibri"/>
              </a:rPr>
              <a:t>Even a single flipped bit in the ciphertext changes the tag completely — making forgery essentially impossible.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Shape 25"/>
          <p:cNvSpPr/>
          <p:nvPr/>
        </p:nvSpPr>
        <p:spPr>
          <a:xfrm>
            <a:off x="8275320" y="4851000"/>
            <a:ext cx="164160" cy="45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9" name="Shape 26"/>
          <p:cNvSpPr/>
          <p:nvPr/>
        </p:nvSpPr>
        <p:spPr>
          <a:xfrm>
            <a:off x="8503920" y="4851000"/>
            <a:ext cx="365400" cy="45360"/>
          </a:xfrm>
          <a:prstGeom prst="rect">
            <a:avLst/>
          </a:prstGeom>
          <a:solidFill>
            <a:srgbClr val="0D9488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27"/>
          <p:cNvSpPr/>
          <p:nvPr/>
        </p:nvSpPr>
        <p:spPr>
          <a:xfrm>
            <a:off x="6400800" y="47595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 spc="201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CHACHA20-POLY1305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28"/>
          <p:cNvSpPr/>
          <p:nvPr/>
        </p:nvSpPr>
        <p:spPr>
          <a:xfrm>
            <a:off x="365760" y="47595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99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17 / 32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Shape 0"/>
          <p:cNvSpPr/>
          <p:nvPr/>
        </p:nvSpPr>
        <p:spPr>
          <a:xfrm>
            <a:off x="457200" y="502920"/>
            <a:ext cx="164160" cy="1641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 1"/>
          <p:cNvSpPr/>
          <p:nvPr/>
        </p:nvSpPr>
        <p:spPr>
          <a:xfrm>
            <a:off x="713160" y="36576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AEAD Construction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 2"/>
          <p:cNvSpPr/>
          <p:nvPr/>
        </p:nvSpPr>
        <p:spPr>
          <a:xfrm>
            <a:off x="713160" y="86868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Authenticated Encryption with Associated Data — three guarantees in one cipher.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Shape 3"/>
          <p:cNvSpPr/>
          <p:nvPr/>
        </p:nvSpPr>
        <p:spPr>
          <a:xfrm>
            <a:off x="457200" y="1417320"/>
            <a:ext cx="2742840" cy="169128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Shape 4"/>
          <p:cNvSpPr/>
          <p:nvPr/>
        </p:nvSpPr>
        <p:spPr>
          <a:xfrm>
            <a:off x="457200" y="1417320"/>
            <a:ext cx="2742840" cy="7272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7" name="Image 0" descr="preencoded.png"/>
          <p:cNvPicPr/>
          <p:nvPr/>
        </p:nvPicPr>
        <p:blipFill>
          <a:blip r:embed="rId3"/>
          <a:stretch/>
        </p:blipFill>
        <p:spPr>
          <a:xfrm>
            <a:off x="685800" y="164592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8" name="Text 5"/>
          <p:cNvSpPr/>
          <p:nvPr/>
        </p:nvSpPr>
        <p:spPr>
          <a:xfrm>
            <a:off x="1234440" y="162756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4B8A6"/>
                </a:solidFill>
                <a:effectLst/>
                <a:uFillTx/>
                <a:latin typeface="Georgia"/>
                <a:ea typeface="Georgia"/>
              </a:rPr>
              <a:t>Confidentiality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6"/>
          <p:cNvSpPr/>
          <p:nvPr/>
        </p:nvSpPr>
        <p:spPr>
          <a:xfrm>
            <a:off x="685800" y="2194560"/>
            <a:ext cx="23313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Plaintext is hidden from anyone who doesn't have the key.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Shape 7"/>
          <p:cNvSpPr/>
          <p:nvPr/>
        </p:nvSpPr>
        <p:spPr>
          <a:xfrm>
            <a:off x="3319200" y="1417320"/>
            <a:ext cx="2742840" cy="169128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Shape 8"/>
          <p:cNvSpPr/>
          <p:nvPr/>
        </p:nvSpPr>
        <p:spPr>
          <a:xfrm>
            <a:off x="3319200" y="1417320"/>
            <a:ext cx="2742840" cy="7272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2" name="Image 1" descr="preencoded.png"/>
          <p:cNvPicPr/>
          <p:nvPr/>
        </p:nvPicPr>
        <p:blipFill>
          <a:blip r:embed="rId4"/>
          <a:stretch/>
        </p:blipFill>
        <p:spPr>
          <a:xfrm>
            <a:off x="3547800" y="164592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3" name="Text 9"/>
          <p:cNvSpPr/>
          <p:nvPr/>
        </p:nvSpPr>
        <p:spPr>
          <a:xfrm>
            <a:off x="4096440" y="162756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8B5CF6"/>
                </a:solidFill>
                <a:effectLst/>
                <a:uFillTx/>
                <a:latin typeface="Georgia"/>
                <a:ea typeface="Georgia"/>
              </a:rPr>
              <a:t>Integrity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 10"/>
          <p:cNvSpPr/>
          <p:nvPr/>
        </p:nvSpPr>
        <p:spPr>
          <a:xfrm>
            <a:off x="3547800" y="2194560"/>
            <a:ext cx="23313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Any modification of the ciphertext is detected.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Shape 11"/>
          <p:cNvSpPr/>
          <p:nvPr/>
        </p:nvSpPr>
        <p:spPr>
          <a:xfrm>
            <a:off x="6181200" y="1417320"/>
            <a:ext cx="2742840" cy="169128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Shape 12"/>
          <p:cNvSpPr/>
          <p:nvPr/>
        </p:nvSpPr>
        <p:spPr>
          <a:xfrm>
            <a:off x="6181200" y="1417320"/>
            <a:ext cx="2742840" cy="72720"/>
          </a:xfrm>
          <a:prstGeom prst="rect">
            <a:avLst/>
          </a:prstGeom>
          <a:solidFill>
            <a:srgbClr val="F5B4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7" name="Image 2" descr="preencoded.png"/>
          <p:cNvPicPr/>
          <p:nvPr/>
        </p:nvPicPr>
        <p:blipFill>
          <a:blip r:embed="rId5"/>
          <a:stretch/>
        </p:blipFill>
        <p:spPr>
          <a:xfrm>
            <a:off x="6409800" y="164592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8" name="Text 13"/>
          <p:cNvSpPr/>
          <p:nvPr/>
        </p:nvSpPr>
        <p:spPr>
          <a:xfrm>
            <a:off x="6958440" y="162756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5B400"/>
                </a:solidFill>
                <a:effectLst/>
                <a:uFillTx/>
                <a:latin typeface="Georgia"/>
                <a:ea typeface="Georgia"/>
              </a:rPr>
              <a:t>Authentication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14"/>
          <p:cNvSpPr/>
          <p:nvPr/>
        </p:nvSpPr>
        <p:spPr>
          <a:xfrm>
            <a:off x="6409800" y="2194560"/>
            <a:ext cx="23313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Only someone with the key could have produced the tag.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Shape 15"/>
          <p:cNvSpPr/>
          <p:nvPr/>
        </p:nvSpPr>
        <p:spPr>
          <a:xfrm>
            <a:off x="457200" y="3337560"/>
            <a:ext cx="8229240" cy="1325520"/>
          </a:xfrm>
          <a:prstGeom prst="rect">
            <a:avLst/>
          </a:prstGeom>
          <a:solidFill>
            <a:srgbClr val="0B1A2E"/>
          </a:solidFill>
          <a:ln w="0">
            <a:noFill/>
          </a:ln>
          <a:effectLst>
            <a:outerShdw blurRad="101520" dist="25560" dir="5400000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 16"/>
          <p:cNvSpPr/>
          <p:nvPr/>
        </p:nvSpPr>
        <p:spPr>
          <a:xfrm>
            <a:off x="640080" y="347472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400">
                <a:solidFill>
                  <a:srgbClr val="F5B400"/>
                </a:solidFill>
                <a:effectLst/>
                <a:uFillTx/>
                <a:latin typeface="Calibri"/>
                <a:ea typeface="Calibri"/>
              </a:rPr>
              <a:t>ASSOCIATED DATA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 17"/>
          <p:cNvSpPr/>
          <p:nvPr/>
        </p:nvSpPr>
        <p:spPr>
          <a:xfrm>
            <a:off x="640080" y="374904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8EEF7"/>
                </a:solidFill>
                <a:effectLst/>
                <a:uFillTx/>
                <a:latin typeface="Georgia"/>
                <a:ea typeface="Georgia"/>
              </a:rPr>
              <a:t>Data that is authenticated but NOT encrypted.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18"/>
          <p:cNvSpPr/>
          <p:nvPr/>
        </p:nvSpPr>
        <p:spPr>
          <a:xfrm>
            <a:off x="640080" y="4114800"/>
            <a:ext cx="78634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Examples: message headers, usernames, timestamps, message type. The AD travels in the clear but is bound to the ciphertext via the tag, so an attacker can't swap it out without detection.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Shape 19"/>
          <p:cNvSpPr/>
          <p:nvPr/>
        </p:nvSpPr>
        <p:spPr>
          <a:xfrm>
            <a:off x="8275320" y="4851000"/>
            <a:ext cx="164160" cy="45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5" name="Shape 20"/>
          <p:cNvSpPr/>
          <p:nvPr/>
        </p:nvSpPr>
        <p:spPr>
          <a:xfrm>
            <a:off x="8503920" y="4851000"/>
            <a:ext cx="365400" cy="45360"/>
          </a:xfrm>
          <a:prstGeom prst="rect">
            <a:avLst/>
          </a:prstGeom>
          <a:solidFill>
            <a:srgbClr val="0D9488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21"/>
          <p:cNvSpPr/>
          <p:nvPr/>
        </p:nvSpPr>
        <p:spPr>
          <a:xfrm>
            <a:off x="6400800" y="47595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 spc="201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CHACHA20-POLY1305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 22"/>
          <p:cNvSpPr/>
          <p:nvPr/>
        </p:nvSpPr>
        <p:spPr>
          <a:xfrm>
            <a:off x="365760" y="47595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99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18 / 32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Shape 0"/>
          <p:cNvSpPr/>
          <p:nvPr/>
        </p:nvSpPr>
        <p:spPr>
          <a:xfrm>
            <a:off x="457200" y="502920"/>
            <a:ext cx="164160" cy="1641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1"/>
          <p:cNvSpPr/>
          <p:nvPr/>
        </p:nvSpPr>
        <p:spPr>
          <a:xfrm>
            <a:off x="713160" y="36576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Encryption Process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Text 2"/>
          <p:cNvSpPr/>
          <p:nvPr/>
        </p:nvSpPr>
        <p:spPr>
          <a:xfrm>
            <a:off x="713160" y="86868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Five steps from plaintext to authenticated ciphertext.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3"/>
          <p:cNvSpPr/>
          <p:nvPr/>
        </p:nvSpPr>
        <p:spPr>
          <a:xfrm>
            <a:off x="457200" y="1371600"/>
            <a:ext cx="8229240" cy="54828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Shape 4"/>
          <p:cNvSpPr/>
          <p:nvPr/>
        </p:nvSpPr>
        <p:spPr>
          <a:xfrm>
            <a:off x="594360" y="1463040"/>
            <a:ext cx="365400" cy="365400"/>
          </a:xfrm>
          <a:prstGeom prst="ellipse">
            <a:avLst/>
          </a:prstGeom>
          <a:solidFill>
            <a:srgbClr val="F5B4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5"/>
          <p:cNvSpPr/>
          <p:nvPr/>
        </p:nvSpPr>
        <p:spPr>
          <a:xfrm>
            <a:off x="594360" y="14630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 6"/>
          <p:cNvSpPr/>
          <p:nvPr/>
        </p:nvSpPr>
        <p:spPr>
          <a:xfrm>
            <a:off x="1097280" y="141732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Load 256-bit key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7"/>
          <p:cNvSpPr/>
          <p:nvPr/>
        </p:nvSpPr>
        <p:spPr>
          <a:xfrm>
            <a:off x="3931920" y="1417320"/>
            <a:ext cx="4617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The shared secret. Same key used by sender and receiver.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Shape 8"/>
          <p:cNvSpPr/>
          <p:nvPr/>
        </p:nvSpPr>
        <p:spPr>
          <a:xfrm>
            <a:off x="457200" y="2011680"/>
            <a:ext cx="8229240" cy="54828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Shape 9"/>
          <p:cNvSpPr/>
          <p:nvPr/>
        </p:nvSpPr>
        <p:spPr>
          <a:xfrm>
            <a:off x="594360" y="2103120"/>
            <a:ext cx="365400" cy="36540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Text 10"/>
          <p:cNvSpPr/>
          <p:nvPr/>
        </p:nvSpPr>
        <p:spPr>
          <a:xfrm>
            <a:off x="594360" y="21031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Text 11"/>
          <p:cNvSpPr/>
          <p:nvPr/>
        </p:nvSpPr>
        <p:spPr>
          <a:xfrm>
            <a:off x="1097280" y="205740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Generate 96-bit nonce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12"/>
          <p:cNvSpPr/>
          <p:nvPr/>
        </p:nvSpPr>
        <p:spPr>
          <a:xfrm>
            <a:off x="3931920" y="2057400"/>
            <a:ext cx="4617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Random or counter-based. Public, but must be unique per message.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Shape 13"/>
          <p:cNvSpPr/>
          <p:nvPr/>
        </p:nvSpPr>
        <p:spPr>
          <a:xfrm>
            <a:off x="457200" y="2651760"/>
            <a:ext cx="8229240" cy="54828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Shape 14"/>
          <p:cNvSpPr/>
          <p:nvPr/>
        </p:nvSpPr>
        <p:spPr>
          <a:xfrm>
            <a:off x="594360" y="2743200"/>
            <a:ext cx="365400" cy="365400"/>
          </a:xfrm>
          <a:prstGeom prst="ellipse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Text 15"/>
          <p:cNvSpPr/>
          <p:nvPr/>
        </p:nvSpPr>
        <p:spPr>
          <a:xfrm>
            <a:off x="594360" y="27432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16"/>
          <p:cNvSpPr/>
          <p:nvPr/>
        </p:nvSpPr>
        <p:spPr>
          <a:xfrm>
            <a:off x="1097280" y="269748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Derive Poly1305 key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17"/>
          <p:cNvSpPr/>
          <p:nvPr/>
        </p:nvSpPr>
        <p:spPr>
          <a:xfrm>
            <a:off x="3931920" y="2697480"/>
            <a:ext cx="4617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ChaCha20 with counter = 0 produces the one-time MAC key.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Shape 18"/>
          <p:cNvSpPr/>
          <p:nvPr/>
        </p:nvSpPr>
        <p:spPr>
          <a:xfrm>
            <a:off x="457200" y="3291840"/>
            <a:ext cx="8229240" cy="54828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Shape 19"/>
          <p:cNvSpPr/>
          <p:nvPr/>
        </p:nvSpPr>
        <p:spPr>
          <a:xfrm>
            <a:off x="594360" y="3383280"/>
            <a:ext cx="365400" cy="365400"/>
          </a:xfrm>
          <a:prstGeom prst="ellipse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 20"/>
          <p:cNvSpPr/>
          <p:nvPr/>
        </p:nvSpPr>
        <p:spPr>
          <a:xfrm>
            <a:off x="594360" y="33832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Text 21"/>
          <p:cNvSpPr/>
          <p:nvPr/>
        </p:nvSpPr>
        <p:spPr>
          <a:xfrm>
            <a:off x="1097280" y="333756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Encrypt with ChaCha20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 22"/>
          <p:cNvSpPr/>
          <p:nvPr/>
        </p:nvSpPr>
        <p:spPr>
          <a:xfrm>
            <a:off x="3931920" y="3337560"/>
            <a:ext cx="4617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Counter starts at 1. Plaintext XOR keystream = ciphertext.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Shape 23"/>
          <p:cNvSpPr/>
          <p:nvPr/>
        </p:nvSpPr>
        <p:spPr>
          <a:xfrm>
            <a:off x="457200" y="3931920"/>
            <a:ext cx="8229240" cy="54828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Shape 24"/>
          <p:cNvSpPr/>
          <p:nvPr/>
        </p:nvSpPr>
        <p:spPr>
          <a:xfrm>
            <a:off x="594360" y="4023360"/>
            <a:ext cx="365400" cy="36540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 25"/>
          <p:cNvSpPr/>
          <p:nvPr/>
        </p:nvSpPr>
        <p:spPr>
          <a:xfrm>
            <a:off x="594360" y="402336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 26"/>
          <p:cNvSpPr/>
          <p:nvPr/>
        </p:nvSpPr>
        <p:spPr>
          <a:xfrm>
            <a:off x="1097280" y="397764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Compute Poly1305 tag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 27"/>
          <p:cNvSpPr/>
          <p:nvPr/>
        </p:nvSpPr>
        <p:spPr>
          <a:xfrm>
            <a:off x="3931920" y="3977640"/>
            <a:ext cx="4617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Tag covers associated data, ciphertext, and length fields.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Shape 28"/>
          <p:cNvSpPr/>
          <p:nvPr/>
        </p:nvSpPr>
        <p:spPr>
          <a:xfrm>
            <a:off x="1371600" y="4617720"/>
            <a:ext cx="6400440" cy="363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 29"/>
          <p:cNvSpPr/>
          <p:nvPr/>
        </p:nvSpPr>
        <p:spPr>
          <a:xfrm>
            <a:off x="1371600" y="4681800"/>
            <a:ext cx="6400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Output: Nonce + Ciphertext + Authentication Tag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Shape 30"/>
          <p:cNvSpPr/>
          <p:nvPr/>
        </p:nvSpPr>
        <p:spPr>
          <a:xfrm>
            <a:off x="8275320" y="4851000"/>
            <a:ext cx="164160" cy="45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Shape 31"/>
          <p:cNvSpPr/>
          <p:nvPr/>
        </p:nvSpPr>
        <p:spPr>
          <a:xfrm>
            <a:off x="8503920" y="4851000"/>
            <a:ext cx="365400" cy="45360"/>
          </a:xfrm>
          <a:prstGeom prst="rect">
            <a:avLst/>
          </a:prstGeom>
          <a:solidFill>
            <a:srgbClr val="0D9488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0" name="Text 32"/>
          <p:cNvSpPr/>
          <p:nvPr/>
        </p:nvSpPr>
        <p:spPr>
          <a:xfrm>
            <a:off x="6400800" y="47595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 spc="201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CHACHA20-POLY1305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Text 33"/>
          <p:cNvSpPr/>
          <p:nvPr/>
        </p:nvSpPr>
        <p:spPr>
          <a:xfrm>
            <a:off x="365760" y="47595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99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19 / 32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Shape 0"/>
          <p:cNvSpPr/>
          <p:nvPr/>
        </p:nvSpPr>
        <p:spPr>
          <a:xfrm>
            <a:off x="457200" y="502920"/>
            <a:ext cx="164160" cy="1641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 1"/>
          <p:cNvSpPr/>
          <p:nvPr/>
        </p:nvSpPr>
        <p:spPr>
          <a:xfrm>
            <a:off x="713160" y="36576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Decryption Process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Text 2"/>
          <p:cNvSpPr/>
          <p:nvPr/>
        </p:nvSpPr>
        <p:spPr>
          <a:xfrm>
            <a:off x="713160" y="86868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Verify before you decrypt — reject any tampered message.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Shape 3"/>
          <p:cNvSpPr/>
          <p:nvPr/>
        </p:nvSpPr>
        <p:spPr>
          <a:xfrm>
            <a:off x="457200" y="1371600"/>
            <a:ext cx="8229240" cy="54828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Shape 4"/>
          <p:cNvSpPr/>
          <p:nvPr/>
        </p:nvSpPr>
        <p:spPr>
          <a:xfrm>
            <a:off x="594360" y="1463040"/>
            <a:ext cx="365400" cy="365400"/>
          </a:xfrm>
          <a:prstGeom prst="ellipse">
            <a:avLst/>
          </a:prstGeom>
          <a:solidFill>
            <a:srgbClr val="F5B4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 5"/>
          <p:cNvSpPr/>
          <p:nvPr/>
        </p:nvSpPr>
        <p:spPr>
          <a:xfrm>
            <a:off x="594360" y="14630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6"/>
          <p:cNvSpPr/>
          <p:nvPr/>
        </p:nvSpPr>
        <p:spPr>
          <a:xfrm>
            <a:off x="1097280" y="141732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Receive package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 7"/>
          <p:cNvSpPr/>
          <p:nvPr/>
        </p:nvSpPr>
        <p:spPr>
          <a:xfrm>
            <a:off x="3931920" y="1417320"/>
            <a:ext cx="4617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Nonce + ciphertext + authentication tag arrive together.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Shape 8"/>
          <p:cNvSpPr/>
          <p:nvPr/>
        </p:nvSpPr>
        <p:spPr>
          <a:xfrm>
            <a:off x="457200" y="2011680"/>
            <a:ext cx="8229240" cy="54828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Shape 9"/>
          <p:cNvSpPr/>
          <p:nvPr/>
        </p:nvSpPr>
        <p:spPr>
          <a:xfrm>
            <a:off x="594360" y="2103120"/>
            <a:ext cx="365400" cy="36540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 10"/>
          <p:cNvSpPr/>
          <p:nvPr/>
        </p:nvSpPr>
        <p:spPr>
          <a:xfrm>
            <a:off x="594360" y="21031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 11"/>
          <p:cNvSpPr/>
          <p:nvPr/>
        </p:nvSpPr>
        <p:spPr>
          <a:xfrm>
            <a:off x="1097280" y="205740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Recompute the tag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 12"/>
          <p:cNvSpPr/>
          <p:nvPr/>
        </p:nvSpPr>
        <p:spPr>
          <a:xfrm>
            <a:off x="3931920" y="2057400"/>
            <a:ext cx="4617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Use the same key and nonce to recompute Poly1305 over the ciphertext.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Shape 13"/>
          <p:cNvSpPr/>
          <p:nvPr/>
        </p:nvSpPr>
        <p:spPr>
          <a:xfrm>
            <a:off x="457200" y="2651760"/>
            <a:ext cx="8229240" cy="54828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Shape 14"/>
          <p:cNvSpPr/>
          <p:nvPr/>
        </p:nvSpPr>
        <p:spPr>
          <a:xfrm>
            <a:off x="594360" y="2743200"/>
            <a:ext cx="365400" cy="365400"/>
          </a:xfrm>
          <a:prstGeom prst="ellipse">
            <a:avLst/>
          </a:prstGeom>
          <a:solidFill>
            <a:srgbClr val="F970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 15"/>
          <p:cNvSpPr/>
          <p:nvPr/>
        </p:nvSpPr>
        <p:spPr>
          <a:xfrm>
            <a:off x="594360" y="27432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 16"/>
          <p:cNvSpPr/>
          <p:nvPr/>
        </p:nvSpPr>
        <p:spPr>
          <a:xfrm>
            <a:off x="1097280" y="269748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Compare tags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 17"/>
          <p:cNvSpPr/>
          <p:nvPr/>
        </p:nvSpPr>
        <p:spPr>
          <a:xfrm>
            <a:off x="3931920" y="2697480"/>
            <a:ext cx="4617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If they don't match, REJECT — message was modified, drop it.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Shape 18"/>
          <p:cNvSpPr/>
          <p:nvPr/>
        </p:nvSpPr>
        <p:spPr>
          <a:xfrm>
            <a:off x="457200" y="3291840"/>
            <a:ext cx="8229240" cy="54828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Shape 19"/>
          <p:cNvSpPr/>
          <p:nvPr/>
        </p:nvSpPr>
        <p:spPr>
          <a:xfrm>
            <a:off x="594360" y="3383280"/>
            <a:ext cx="365400" cy="365400"/>
          </a:xfrm>
          <a:prstGeom prst="ellipse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 20"/>
          <p:cNvSpPr/>
          <p:nvPr/>
        </p:nvSpPr>
        <p:spPr>
          <a:xfrm>
            <a:off x="594360" y="33832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 21"/>
          <p:cNvSpPr/>
          <p:nvPr/>
        </p:nvSpPr>
        <p:spPr>
          <a:xfrm>
            <a:off x="1097280" y="333756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Regenerate keystream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 22"/>
          <p:cNvSpPr/>
          <p:nvPr/>
        </p:nvSpPr>
        <p:spPr>
          <a:xfrm>
            <a:off x="3931920" y="3337560"/>
            <a:ext cx="4617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Same key + same nonce + same counter produces the same keystream.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Shape 23"/>
          <p:cNvSpPr/>
          <p:nvPr/>
        </p:nvSpPr>
        <p:spPr>
          <a:xfrm>
            <a:off x="457200" y="3931920"/>
            <a:ext cx="8229240" cy="54828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Shape 24"/>
          <p:cNvSpPr/>
          <p:nvPr/>
        </p:nvSpPr>
        <p:spPr>
          <a:xfrm>
            <a:off x="594360" y="4023360"/>
            <a:ext cx="365400" cy="365400"/>
          </a:xfrm>
          <a:prstGeom prst="ellipse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 25"/>
          <p:cNvSpPr/>
          <p:nvPr/>
        </p:nvSpPr>
        <p:spPr>
          <a:xfrm>
            <a:off x="594360" y="402336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Text 26"/>
          <p:cNvSpPr/>
          <p:nvPr/>
        </p:nvSpPr>
        <p:spPr>
          <a:xfrm>
            <a:off x="1097280" y="397764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Recover plaintext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Text 27"/>
          <p:cNvSpPr/>
          <p:nvPr/>
        </p:nvSpPr>
        <p:spPr>
          <a:xfrm>
            <a:off x="3931920" y="3977640"/>
            <a:ext cx="4617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Ciphertext XOR keystream = original plaintext. Done.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Shape 28"/>
          <p:cNvSpPr/>
          <p:nvPr/>
        </p:nvSpPr>
        <p:spPr>
          <a:xfrm>
            <a:off x="1371600" y="4617720"/>
            <a:ext cx="6400440" cy="363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Text 29"/>
          <p:cNvSpPr/>
          <p:nvPr/>
        </p:nvSpPr>
        <p:spPr>
          <a:xfrm>
            <a:off x="1371600" y="4681800"/>
            <a:ext cx="6400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Verify, then decrypt — only authenticated messages reach the app.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Shape 30"/>
          <p:cNvSpPr/>
          <p:nvPr/>
        </p:nvSpPr>
        <p:spPr>
          <a:xfrm>
            <a:off x="8275320" y="4851000"/>
            <a:ext cx="164160" cy="45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3" name="Shape 31"/>
          <p:cNvSpPr/>
          <p:nvPr/>
        </p:nvSpPr>
        <p:spPr>
          <a:xfrm>
            <a:off x="8503920" y="4851000"/>
            <a:ext cx="365400" cy="45360"/>
          </a:xfrm>
          <a:prstGeom prst="rect">
            <a:avLst/>
          </a:prstGeom>
          <a:solidFill>
            <a:srgbClr val="0D9488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4" name="Text 32"/>
          <p:cNvSpPr/>
          <p:nvPr/>
        </p:nvSpPr>
        <p:spPr>
          <a:xfrm>
            <a:off x="6400800" y="47595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 spc="201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CHACHA20-POLY1305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 33"/>
          <p:cNvSpPr/>
          <p:nvPr/>
        </p:nvSpPr>
        <p:spPr>
          <a:xfrm>
            <a:off x="365760" y="47595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99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20 / 32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Shape 0"/>
          <p:cNvSpPr/>
          <p:nvPr/>
        </p:nvSpPr>
        <p:spPr>
          <a:xfrm>
            <a:off x="457200" y="502920"/>
            <a:ext cx="164160" cy="1641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Text 1"/>
          <p:cNvSpPr/>
          <p:nvPr/>
        </p:nvSpPr>
        <p:spPr>
          <a:xfrm>
            <a:off x="713160" y="36576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Hybrid Encryption Design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 2"/>
          <p:cNvSpPr/>
          <p:nvPr/>
        </p:nvSpPr>
        <p:spPr>
          <a:xfrm>
            <a:off x="713160" y="86868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RSA solves key distribution. ChaCha20-Poly1305 handles the messages.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Shape 3"/>
          <p:cNvSpPr/>
          <p:nvPr/>
        </p:nvSpPr>
        <p:spPr>
          <a:xfrm>
            <a:off x="457200" y="1417320"/>
            <a:ext cx="4068720" cy="32457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Shape 4"/>
          <p:cNvSpPr/>
          <p:nvPr/>
        </p:nvSpPr>
        <p:spPr>
          <a:xfrm>
            <a:off x="457200" y="1417320"/>
            <a:ext cx="4068720" cy="456840"/>
          </a:xfrm>
          <a:prstGeom prst="rect">
            <a:avLst/>
          </a:prstGeom>
          <a:solidFill>
            <a:srgbClr val="F5B4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 5"/>
          <p:cNvSpPr/>
          <p:nvPr/>
        </p:nvSpPr>
        <p:spPr>
          <a:xfrm>
            <a:off x="640080" y="1417320"/>
            <a:ext cx="3702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30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KEY PROTECTION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Text 6"/>
          <p:cNvSpPr/>
          <p:nvPr/>
        </p:nvSpPr>
        <p:spPr>
          <a:xfrm>
            <a:off x="685800" y="201168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RSA-2048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Text 7"/>
          <p:cNvSpPr/>
          <p:nvPr/>
        </p:nvSpPr>
        <p:spPr>
          <a:xfrm>
            <a:off x="685800" y="2606040"/>
            <a:ext cx="3657240" cy="196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150" b="1" u="none" strike="noStrike">
                <a:solidFill>
                  <a:srgbClr val="F5B400"/>
                </a:solidFill>
                <a:effectLst/>
                <a:uFillTx/>
                <a:latin typeface="Calibri"/>
                <a:ea typeface="Calibri"/>
              </a:rPr>
              <a:t>• </a:t>
            </a:r>
            <a:r>
              <a:rPr lang="en-US" sz="11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Public key encrypts the symmetric key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150" b="1" u="none" strike="noStrike">
                <a:solidFill>
                  <a:srgbClr val="F5B400"/>
                </a:solidFill>
                <a:effectLst/>
                <a:uFillTx/>
                <a:latin typeface="Calibri"/>
                <a:ea typeface="Calibri"/>
              </a:rPr>
              <a:t>• </a:t>
            </a:r>
            <a:r>
              <a:rPr lang="en-US" sz="11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Private key decrypts on the receiver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150" b="1" u="none" strike="noStrike">
                <a:solidFill>
                  <a:srgbClr val="F5B400"/>
                </a:solidFill>
                <a:effectLst/>
                <a:uFillTx/>
                <a:latin typeface="Calibri"/>
                <a:ea typeface="Calibri"/>
              </a:rPr>
              <a:t>• </a:t>
            </a:r>
            <a:r>
              <a:rPr lang="en-US" sz="11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Slow, but only runs once per session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150" b="1" u="none" strike="noStrike">
                <a:solidFill>
                  <a:srgbClr val="F5B400"/>
                </a:solidFill>
                <a:effectLst/>
                <a:uFillTx/>
                <a:latin typeface="Calibri"/>
                <a:ea typeface="Calibri"/>
              </a:rPr>
              <a:t>• </a:t>
            </a:r>
            <a:r>
              <a:rPr lang="en-US" sz="11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Solves the key-distribution problem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Shape 8"/>
          <p:cNvSpPr/>
          <p:nvPr/>
        </p:nvSpPr>
        <p:spPr>
          <a:xfrm>
            <a:off x="4617720" y="1417320"/>
            <a:ext cx="4068720" cy="32457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Shape 9"/>
          <p:cNvSpPr/>
          <p:nvPr/>
        </p:nvSpPr>
        <p:spPr>
          <a:xfrm>
            <a:off x="4617720" y="1417320"/>
            <a:ext cx="4068720" cy="45684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Text 10"/>
          <p:cNvSpPr/>
          <p:nvPr/>
        </p:nvSpPr>
        <p:spPr>
          <a:xfrm>
            <a:off x="4800600" y="1417320"/>
            <a:ext cx="3702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30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MESSAGE ENCRYPTION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 11"/>
          <p:cNvSpPr/>
          <p:nvPr/>
        </p:nvSpPr>
        <p:spPr>
          <a:xfrm>
            <a:off x="4846320" y="201168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ChaCha20-Poly1305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Text 12"/>
          <p:cNvSpPr/>
          <p:nvPr/>
        </p:nvSpPr>
        <p:spPr>
          <a:xfrm>
            <a:off x="4846320" y="2606040"/>
            <a:ext cx="3657240" cy="196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150" b="1" u="none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• </a:t>
            </a:r>
            <a:r>
              <a:rPr lang="en-US" sz="11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Encrypts plaintext with the shared key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150" b="1" u="none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• </a:t>
            </a:r>
            <a:r>
              <a:rPr lang="en-US" sz="11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Produces ciphertext + authentication tag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150" b="1" u="none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• </a:t>
            </a:r>
            <a:r>
              <a:rPr lang="en-US" sz="11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Fast — built for high message volume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150" b="1" u="none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• </a:t>
            </a:r>
            <a:r>
              <a:rPr lang="en-US" sz="11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Used for every message after handshake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Shape 13"/>
          <p:cNvSpPr/>
          <p:nvPr/>
        </p:nvSpPr>
        <p:spPr>
          <a:xfrm>
            <a:off x="8275320" y="4851000"/>
            <a:ext cx="164160" cy="45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0" name="Shape 14"/>
          <p:cNvSpPr/>
          <p:nvPr/>
        </p:nvSpPr>
        <p:spPr>
          <a:xfrm>
            <a:off x="8503920" y="4851000"/>
            <a:ext cx="365400" cy="45360"/>
          </a:xfrm>
          <a:prstGeom prst="rect">
            <a:avLst/>
          </a:prstGeom>
          <a:solidFill>
            <a:srgbClr val="0D9488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 15"/>
          <p:cNvSpPr/>
          <p:nvPr/>
        </p:nvSpPr>
        <p:spPr>
          <a:xfrm>
            <a:off x="6400800" y="47595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 spc="201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CHACHA20-POLY1305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Text 16"/>
          <p:cNvSpPr/>
          <p:nvPr/>
        </p:nvSpPr>
        <p:spPr>
          <a:xfrm>
            <a:off x="365760" y="47595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99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21 / 32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Shape 0"/>
          <p:cNvSpPr/>
          <p:nvPr/>
        </p:nvSpPr>
        <p:spPr>
          <a:xfrm>
            <a:off x="457200" y="502920"/>
            <a:ext cx="164160" cy="1641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Text 1"/>
          <p:cNvSpPr/>
          <p:nvPr/>
        </p:nvSpPr>
        <p:spPr>
          <a:xfrm>
            <a:off x="713160" y="36576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Message Flow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Text 2"/>
          <p:cNvSpPr/>
          <p:nvPr/>
        </p:nvSpPr>
        <p:spPr>
          <a:xfrm>
            <a:off x="713160" y="86868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What happens between typing a message and the recipient reading it.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Shape 3"/>
          <p:cNvSpPr/>
          <p:nvPr/>
        </p:nvSpPr>
        <p:spPr>
          <a:xfrm>
            <a:off x="4572000" y="1463040"/>
            <a:ext cx="360" cy="3246120"/>
          </a:xfrm>
          <a:prstGeom prst="line">
            <a:avLst/>
          </a:prstGeom>
          <a:ln w="25560">
            <a:solidFill>
              <a:srgbClr val="E2E8F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Shape 4"/>
          <p:cNvSpPr/>
          <p:nvPr/>
        </p:nvSpPr>
        <p:spPr>
          <a:xfrm>
            <a:off x="4325040" y="1554480"/>
            <a:ext cx="493560" cy="493560"/>
          </a:xfrm>
          <a:prstGeom prst="ellipse">
            <a:avLst/>
          </a:prstGeom>
          <a:solidFill>
            <a:srgbClr val="14B8A6"/>
          </a:solidFill>
          <a:ln w="2556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Text 5"/>
          <p:cNvSpPr/>
          <p:nvPr/>
        </p:nvSpPr>
        <p:spPr>
          <a:xfrm>
            <a:off x="4325040" y="155448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Shape 6"/>
          <p:cNvSpPr/>
          <p:nvPr/>
        </p:nvSpPr>
        <p:spPr>
          <a:xfrm>
            <a:off x="457200" y="1508760"/>
            <a:ext cx="3748680" cy="56664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Shape 7"/>
          <p:cNvSpPr/>
          <p:nvPr/>
        </p:nvSpPr>
        <p:spPr>
          <a:xfrm>
            <a:off x="4151520" y="1508760"/>
            <a:ext cx="54360" cy="56664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Text 8"/>
          <p:cNvSpPr/>
          <p:nvPr/>
        </p:nvSpPr>
        <p:spPr>
          <a:xfrm>
            <a:off x="594360" y="150876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User types a message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 9"/>
          <p:cNvSpPr/>
          <p:nvPr/>
        </p:nvSpPr>
        <p:spPr>
          <a:xfrm>
            <a:off x="594360" y="177408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Plaintext exists only in the sender's app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Shape 10"/>
          <p:cNvSpPr/>
          <p:nvPr/>
        </p:nvSpPr>
        <p:spPr>
          <a:xfrm>
            <a:off x="4325040" y="2212920"/>
            <a:ext cx="493560" cy="493560"/>
          </a:xfrm>
          <a:prstGeom prst="ellipse">
            <a:avLst/>
          </a:prstGeom>
          <a:solidFill>
            <a:srgbClr val="8B5CF6"/>
          </a:solidFill>
          <a:ln w="2556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4" name="Text 11"/>
          <p:cNvSpPr/>
          <p:nvPr/>
        </p:nvSpPr>
        <p:spPr>
          <a:xfrm>
            <a:off x="4325040" y="221292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Shape 12"/>
          <p:cNvSpPr/>
          <p:nvPr/>
        </p:nvSpPr>
        <p:spPr>
          <a:xfrm>
            <a:off x="4937760" y="2167200"/>
            <a:ext cx="3748680" cy="56664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Shape 13"/>
          <p:cNvSpPr/>
          <p:nvPr/>
        </p:nvSpPr>
        <p:spPr>
          <a:xfrm>
            <a:off x="4937760" y="2167200"/>
            <a:ext cx="54360" cy="56664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 14"/>
          <p:cNvSpPr/>
          <p:nvPr/>
        </p:nvSpPr>
        <p:spPr>
          <a:xfrm>
            <a:off x="5074920" y="216720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Encrypt on the client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Text 15"/>
          <p:cNvSpPr/>
          <p:nvPr/>
        </p:nvSpPr>
        <p:spPr>
          <a:xfrm>
            <a:off x="5074920" y="243216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ChaCha20-Poly1305 produces ciphertext + tag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Shape 16"/>
          <p:cNvSpPr/>
          <p:nvPr/>
        </p:nvSpPr>
        <p:spPr>
          <a:xfrm>
            <a:off x="4325040" y="2871360"/>
            <a:ext cx="493560" cy="493560"/>
          </a:xfrm>
          <a:prstGeom prst="ellipse">
            <a:avLst/>
          </a:prstGeom>
          <a:solidFill>
            <a:srgbClr val="F5B400"/>
          </a:solidFill>
          <a:ln w="2556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Text 17"/>
          <p:cNvSpPr/>
          <p:nvPr/>
        </p:nvSpPr>
        <p:spPr>
          <a:xfrm>
            <a:off x="4325040" y="287136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Shape 18"/>
          <p:cNvSpPr/>
          <p:nvPr/>
        </p:nvSpPr>
        <p:spPr>
          <a:xfrm>
            <a:off x="457200" y="2825640"/>
            <a:ext cx="3748680" cy="56664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Shape 19"/>
          <p:cNvSpPr/>
          <p:nvPr/>
        </p:nvSpPr>
        <p:spPr>
          <a:xfrm>
            <a:off x="4151520" y="2825640"/>
            <a:ext cx="54360" cy="566640"/>
          </a:xfrm>
          <a:prstGeom prst="rect">
            <a:avLst/>
          </a:prstGeom>
          <a:solidFill>
            <a:srgbClr val="F5B4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Text 20"/>
          <p:cNvSpPr/>
          <p:nvPr/>
        </p:nvSpPr>
        <p:spPr>
          <a:xfrm>
            <a:off x="594360" y="282564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Send to server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Text 21"/>
          <p:cNvSpPr/>
          <p:nvPr/>
        </p:nvSpPr>
        <p:spPr>
          <a:xfrm>
            <a:off x="594360" y="309060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Only ciphertext crosses the network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Shape 22"/>
          <p:cNvSpPr/>
          <p:nvPr/>
        </p:nvSpPr>
        <p:spPr>
          <a:xfrm>
            <a:off x="4325040" y="3529440"/>
            <a:ext cx="493560" cy="493560"/>
          </a:xfrm>
          <a:prstGeom prst="ellipse">
            <a:avLst/>
          </a:prstGeom>
          <a:solidFill>
            <a:srgbClr val="F5B400"/>
          </a:solidFill>
          <a:ln w="2556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Text 23"/>
          <p:cNvSpPr/>
          <p:nvPr/>
        </p:nvSpPr>
        <p:spPr>
          <a:xfrm>
            <a:off x="4325040" y="352944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Shape 24"/>
          <p:cNvSpPr/>
          <p:nvPr/>
        </p:nvSpPr>
        <p:spPr>
          <a:xfrm>
            <a:off x="4937760" y="3483720"/>
            <a:ext cx="3748680" cy="56664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Shape 25"/>
          <p:cNvSpPr/>
          <p:nvPr/>
        </p:nvSpPr>
        <p:spPr>
          <a:xfrm>
            <a:off x="4937760" y="3483720"/>
            <a:ext cx="54360" cy="566640"/>
          </a:xfrm>
          <a:prstGeom prst="rect">
            <a:avLst/>
          </a:prstGeom>
          <a:solidFill>
            <a:srgbClr val="F5B4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Text 26"/>
          <p:cNvSpPr/>
          <p:nvPr/>
        </p:nvSpPr>
        <p:spPr>
          <a:xfrm>
            <a:off x="5074920" y="348372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Server forwards 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Text 27"/>
          <p:cNvSpPr/>
          <p:nvPr/>
        </p:nvSpPr>
        <p:spPr>
          <a:xfrm>
            <a:off x="5074920" y="374904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Server cannot read it — relays opaque bytes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Shape 28"/>
          <p:cNvSpPr/>
          <p:nvPr/>
        </p:nvSpPr>
        <p:spPr>
          <a:xfrm>
            <a:off x="4325040" y="4187880"/>
            <a:ext cx="493560" cy="493560"/>
          </a:xfrm>
          <a:prstGeom prst="ellipse">
            <a:avLst/>
          </a:prstGeom>
          <a:solidFill>
            <a:srgbClr val="14B8A6"/>
          </a:solidFill>
          <a:ln w="2556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Text 29"/>
          <p:cNvSpPr/>
          <p:nvPr/>
        </p:nvSpPr>
        <p:spPr>
          <a:xfrm>
            <a:off x="4325040" y="418788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Shape 30"/>
          <p:cNvSpPr/>
          <p:nvPr/>
        </p:nvSpPr>
        <p:spPr>
          <a:xfrm>
            <a:off x="457200" y="4142160"/>
            <a:ext cx="3748680" cy="56664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Shape 31"/>
          <p:cNvSpPr/>
          <p:nvPr/>
        </p:nvSpPr>
        <p:spPr>
          <a:xfrm>
            <a:off x="4151520" y="4142160"/>
            <a:ext cx="54360" cy="56664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 32"/>
          <p:cNvSpPr/>
          <p:nvPr/>
        </p:nvSpPr>
        <p:spPr>
          <a:xfrm>
            <a:off x="594360" y="414216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Receiver decrypts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Text 33"/>
          <p:cNvSpPr/>
          <p:nvPr/>
        </p:nvSpPr>
        <p:spPr>
          <a:xfrm>
            <a:off x="594360" y="4407480"/>
            <a:ext cx="34743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Plaintext recovered on the receiver's device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Shape 34"/>
          <p:cNvSpPr/>
          <p:nvPr/>
        </p:nvSpPr>
        <p:spPr>
          <a:xfrm>
            <a:off x="8275320" y="4851000"/>
            <a:ext cx="164160" cy="45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8" name="Shape 35"/>
          <p:cNvSpPr/>
          <p:nvPr/>
        </p:nvSpPr>
        <p:spPr>
          <a:xfrm>
            <a:off x="8503920" y="4851000"/>
            <a:ext cx="365400" cy="45360"/>
          </a:xfrm>
          <a:prstGeom prst="rect">
            <a:avLst/>
          </a:prstGeom>
          <a:solidFill>
            <a:srgbClr val="0D9488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9" name="Text 36"/>
          <p:cNvSpPr/>
          <p:nvPr/>
        </p:nvSpPr>
        <p:spPr>
          <a:xfrm>
            <a:off x="6400800" y="47595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 spc="201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CHACHA20-POLY1305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Text 37"/>
          <p:cNvSpPr/>
          <p:nvPr/>
        </p:nvSpPr>
        <p:spPr>
          <a:xfrm>
            <a:off x="365760" y="47595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99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22 / 32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Shape 0"/>
          <p:cNvSpPr/>
          <p:nvPr/>
        </p:nvSpPr>
        <p:spPr>
          <a:xfrm>
            <a:off x="457200" y="502920"/>
            <a:ext cx="164160" cy="1641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Text 1"/>
          <p:cNvSpPr/>
          <p:nvPr/>
        </p:nvSpPr>
        <p:spPr>
          <a:xfrm>
            <a:off x="713160" y="36576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Encrypted vs. Unencrypted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Text 2"/>
          <p:cNvSpPr/>
          <p:nvPr/>
        </p:nvSpPr>
        <p:spPr>
          <a:xfrm>
            <a:off x="713160" y="86868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What the server actually sees in each mode of our application.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Shape 3"/>
          <p:cNvSpPr/>
          <p:nvPr/>
        </p:nvSpPr>
        <p:spPr>
          <a:xfrm>
            <a:off x="457200" y="1417320"/>
            <a:ext cx="4068720" cy="32457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Shape 4"/>
          <p:cNvSpPr/>
          <p:nvPr/>
        </p:nvSpPr>
        <p:spPr>
          <a:xfrm>
            <a:off x="457200" y="1417320"/>
            <a:ext cx="4068720" cy="456840"/>
          </a:xfrm>
          <a:prstGeom prst="rect">
            <a:avLst/>
          </a:prstGeom>
          <a:solidFill>
            <a:srgbClr val="F970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6" name="Image 0" descr="preencoded.png"/>
          <p:cNvPicPr/>
          <p:nvPr/>
        </p:nvPicPr>
        <p:blipFill>
          <a:blip r:embed="rId3"/>
          <a:stretch/>
        </p:blipFill>
        <p:spPr>
          <a:xfrm>
            <a:off x="640080" y="15087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7" name="Text 5"/>
          <p:cNvSpPr/>
          <p:nvPr/>
        </p:nvSpPr>
        <p:spPr>
          <a:xfrm>
            <a:off x="1005840" y="1417320"/>
            <a:ext cx="3382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30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WITHOUT ENCRYPTION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Text 6"/>
          <p:cNvSpPr/>
          <p:nvPr/>
        </p:nvSpPr>
        <p:spPr>
          <a:xfrm>
            <a:off x="640080" y="2011680"/>
            <a:ext cx="3702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Server sees plaintext: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Shape 7"/>
          <p:cNvSpPr/>
          <p:nvPr/>
        </p:nvSpPr>
        <p:spPr>
          <a:xfrm>
            <a:off x="640080" y="2331720"/>
            <a:ext cx="3702960" cy="2194200"/>
          </a:xfrm>
          <a:prstGeom prst="rect">
            <a:avLst/>
          </a:prstGeom>
          <a:solidFill>
            <a:srgbClr val="0B1A2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0" name="Text 8"/>
          <p:cNvSpPr/>
          <p:nvPr/>
        </p:nvSpPr>
        <p:spPr>
          <a:xfrm>
            <a:off x="777240" y="2468880"/>
            <a:ext cx="3520080" cy="196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5EEAD4"/>
                </a:solidFill>
                <a:effectLst/>
                <a:uFillTx/>
                <a:latin typeface="Calibri"/>
                <a:ea typeface="Consolas"/>
              </a:rPr>
              <a:t>&gt; alice: hey, are we still on?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5EEAD4"/>
                </a:solidFill>
                <a:effectLst/>
                <a:uFillTx/>
                <a:latin typeface="Calibri"/>
                <a:ea typeface="Consolas"/>
              </a:rPr>
              <a:t>&gt; bob:   yeah, 6pm at the cafe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5EEAD4"/>
                </a:solidFill>
                <a:effectLst/>
                <a:uFillTx/>
                <a:latin typeface="Calibri"/>
                <a:ea typeface="Consolas"/>
              </a:rPr>
              <a:t>&gt; alice: bring my laptop?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FECACA"/>
                </a:solidFill>
                <a:effectLst/>
                <a:uFillTx/>
                <a:latin typeface="Calibri"/>
                <a:ea typeface="Consolas"/>
              </a:rPr>
              <a:t>&gt; bob:   yes — pwd is hunter2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F97066"/>
                </a:solidFill>
                <a:effectLst/>
                <a:uFillTx/>
                <a:latin typeface="Calibri"/>
                <a:ea typeface="Consolas"/>
              </a:rPr>
              <a:t>          ↑ leaked to anyone listening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51" name="Shape 9"/>
          <p:cNvSpPr/>
          <p:nvPr/>
        </p:nvSpPr>
        <p:spPr>
          <a:xfrm>
            <a:off x="4617720" y="1417320"/>
            <a:ext cx="4068720" cy="32457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Shape 10"/>
          <p:cNvSpPr/>
          <p:nvPr/>
        </p:nvSpPr>
        <p:spPr>
          <a:xfrm>
            <a:off x="4617720" y="1417320"/>
            <a:ext cx="4068720" cy="45684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3" name="Image 1" descr="preencoded.png"/>
          <p:cNvPicPr/>
          <p:nvPr/>
        </p:nvPicPr>
        <p:blipFill>
          <a:blip r:embed="rId4"/>
          <a:stretch/>
        </p:blipFill>
        <p:spPr>
          <a:xfrm>
            <a:off x="4800600" y="15087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4" name="Text 11"/>
          <p:cNvSpPr/>
          <p:nvPr/>
        </p:nvSpPr>
        <p:spPr>
          <a:xfrm>
            <a:off x="5166360" y="1417320"/>
            <a:ext cx="3382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30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WITH ENCRYPTION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Text 12"/>
          <p:cNvSpPr/>
          <p:nvPr/>
        </p:nvSpPr>
        <p:spPr>
          <a:xfrm>
            <a:off x="4800600" y="2011680"/>
            <a:ext cx="3702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Server sees ciphertext: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Shape 13"/>
          <p:cNvSpPr/>
          <p:nvPr/>
        </p:nvSpPr>
        <p:spPr>
          <a:xfrm>
            <a:off x="4800600" y="2331720"/>
            <a:ext cx="3702960" cy="2194200"/>
          </a:xfrm>
          <a:prstGeom prst="rect">
            <a:avLst/>
          </a:prstGeom>
          <a:solidFill>
            <a:srgbClr val="0B1A2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7" name="Text 14"/>
          <p:cNvSpPr/>
          <p:nvPr/>
        </p:nvSpPr>
        <p:spPr>
          <a:xfrm>
            <a:off x="4937760" y="2468880"/>
            <a:ext cx="3520080" cy="196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5EEAD4"/>
                </a:solidFill>
                <a:effectLst/>
                <a:uFillTx/>
                <a:latin typeface="Calibri"/>
                <a:ea typeface="Consolas"/>
              </a:rPr>
              <a:t>&gt; 0xA3F2 91BC 4D3E 8801…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5EEAD4"/>
                </a:solidFill>
                <a:effectLst/>
                <a:uFillTx/>
                <a:latin typeface="Calibri"/>
                <a:ea typeface="Consolas"/>
              </a:rPr>
              <a:t>&gt; 0x7E22 0918 BB44 1A0C…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5EEAD4"/>
                </a:solidFill>
                <a:effectLst/>
                <a:uFillTx/>
                <a:latin typeface="Calibri"/>
                <a:ea typeface="Consolas"/>
              </a:rPr>
              <a:t>&gt; 0xC891 33A1 F2E0 7755…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5EEAD4"/>
                </a:solidFill>
                <a:effectLst/>
                <a:uFillTx/>
                <a:latin typeface="Calibri"/>
                <a:ea typeface="Consolas"/>
              </a:rPr>
              <a:t>&gt; 0x190D 4422 BA17 9988…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14B8A6"/>
                </a:solidFill>
                <a:effectLst/>
                <a:uFillTx/>
                <a:latin typeface="Calibri"/>
                <a:ea typeface="Consolas"/>
              </a:rPr>
              <a:t>          ↑ true end-to-end privacy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58" name="Shape 15"/>
          <p:cNvSpPr/>
          <p:nvPr/>
        </p:nvSpPr>
        <p:spPr>
          <a:xfrm>
            <a:off x="8275320" y="4851000"/>
            <a:ext cx="164160" cy="45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9" name="Shape 16"/>
          <p:cNvSpPr/>
          <p:nvPr/>
        </p:nvSpPr>
        <p:spPr>
          <a:xfrm>
            <a:off x="8503920" y="4851000"/>
            <a:ext cx="365400" cy="45360"/>
          </a:xfrm>
          <a:prstGeom prst="rect">
            <a:avLst/>
          </a:prstGeom>
          <a:solidFill>
            <a:srgbClr val="0D9488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0" name="Text 17"/>
          <p:cNvSpPr/>
          <p:nvPr/>
        </p:nvSpPr>
        <p:spPr>
          <a:xfrm>
            <a:off x="6400800" y="47595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 spc="201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CHACHA20-POLY1305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Text 18"/>
          <p:cNvSpPr/>
          <p:nvPr/>
        </p:nvSpPr>
        <p:spPr>
          <a:xfrm>
            <a:off x="365760" y="47595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99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23 / 32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Shape 0"/>
          <p:cNvSpPr/>
          <p:nvPr/>
        </p:nvSpPr>
        <p:spPr>
          <a:xfrm>
            <a:off x="457200" y="502920"/>
            <a:ext cx="164160" cy="1641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Text 1"/>
          <p:cNvSpPr/>
          <p:nvPr/>
        </p:nvSpPr>
        <p:spPr>
          <a:xfrm>
            <a:off x="713160" y="365760"/>
            <a:ext cx="77720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E8EEF7"/>
                </a:solidFill>
                <a:effectLst/>
                <a:uFillTx/>
                <a:latin typeface="Georgia"/>
                <a:ea typeface="Georgia"/>
              </a:rPr>
              <a:t>Security Properties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4" name="Text 2"/>
          <p:cNvSpPr/>
          <p:nvPr/>
        </p:nvSpPr>
        <p:spPr>
          <a:xfrm>
            <a:off x="713160" y="868680"/>
            <a:ext cx="7772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What our system actually guarantees.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5" name="Shape 3"/>
          <p:cNvSpPr/>
          <p:nvPr/>
        </p:nvSpPr>
        <p:spPr>
          <a:xfrm>
            <a:off x="457200" y="1463040"/>
            <a:ext cx="4068720" cy="1554120"/>
          </a:xfrm>
          <a:prstGeom prst="rect">
            <a:avLst/>
          </a:prstGeom>
          <a:solidFill>
            <a:srgbClr val="13243F"/>
          </a:solidFill>
          <a:ln w="9360">
            <a:solidFill>
              <a:srgbClr val="1E3A5F"/>
            </a:solidFill>
            <a:round/>
          </a:ln>
          <a:effectLst>
            <a:outerShdw blurRad="101520" dist="25560" dir="5400000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6" name="Shape 4"/>
          <p:cNvSpPr/>
          <p:nvPr/>
        </p:nvSpPr>
        <p:spPr>
          <a:xfrm>
            <a:off x="457200" y="1463040"/>
            <a:ext cx="72720" cy="155412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Shape 5"/>
          <p:cNvSpPr/>
          <p:nvPr/>
        </p:nvSpPr>
        <p:spPr>
          <a:xfrm>
            <a:off x="731520" y="1737360"/>
            <a:ext cx="639720" cy="639720"/>
          </a:xfrm>
          <a:prstGeom prst="ellipse">
            <a:avLst/>
          </a:prstGeom>
          <a:solidFill>
            <a:srgbClr val="14B8A6">
              <a:alpha val="20000"/>
            </a:srgbClr>
          </a:solidFill>
          <a:ln w="1260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8" name="Image 0" descr="preencoded.png"/>
          <p:cNvPicPr/>
          <p:nvPr/>
        </p:nvPicPr>
        <p:blipFill>
          <a:blip r:embed="rId3"/>
          <a:stretch/>
        </p:blipFill>
        <p:spPr>
          <a:xfrm>
            <a:off x="841320" y="1847160"/>
            <a:ext cx="42012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9" name="Text 6"/>
          <p:cNvSpPr/>
          <p:nvPr/>
        </p:nvSpPr>
        <p:spPr>
          <a:xfrm>
            <a:off x="1554480" y="169164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8EEF7"/>
                </a:solidFill>
                <a:effectLst/>
                <a:uFillTx/>
                <a:latin typeface="Georgia"/>
                <a:ea typeface="Georgia"/>
              </a:rPr>
              <a:t>Confidentiality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0" name="Text 7"/>
          <p:cNvSpPr/>
          <p:nvPr/>
        </p:nvSpPr>
        <p:spPr>
          <a:xfrm>
            <a:off x="1554480" y="2148840"/>
            <a:ext cx="28342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Plaintext is hidden from everyone except the holders of the key.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1" name="Shape 8"/>
          <p:cNvSpPr/>
          <p:nvPr/>
        </p:nvSpPr>
        <p:spPr>
          <a:xfrm>
            <a:off x="4617720" y="1463040"/>
            <a:ext cx="4068720" cy="1554120"/>
          </a:xfrm>
          <a:prstGeom prst="rect">
            <a:avLst/>
          </a:prstGeom>
          <a:solidFill>
            <a:srgbClr val="13243F"/>
          </a:solidFill>
          <a:ln w="9360">
            <a:solidFill>
              <a:srgbClr val="1E3A5F"/>
            </a:solidFill>
            <a:round/>
          </a:ln>
          <a:effectLst>
            <a:outerShdw blurRad="101520" dist="25560" dir="5400000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2" name="Shape 9"/>
          <p:cNvSpPr/>
          <p:nvPr/>
        </p:nvSpPr>
        <p:spPr>
          <a:xfrm>
            <a:off x="4617720" y="1463040"/>
            <a:ext cx="72720" cy="155412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3" name="Shape 10"/>
          <p:cNvSpPr/>
          <p:nvPr/>
        </p:nvSpPr>
        <p:spPr>
          <a:xfrm>
            <a:off x="4892040" y="1737360"/>
            <a:ext cx="639720" cy="639720"/>
          </a:xfrm>
          <a:prstGeom prst="ellipse">
            <a:avLst/>
          </a:prstGeom>
          <a:solidFill>
            <a:srgbClr val="8B5CF6">
              <a:alpha val="20000"/>
            </a:srgbClr>
          </a:solidFill>
          <a:ln w="126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4" name="Image 1" descr="preencoded.png"/>
          <p:cNvPicPr/>
          <p:nvPr/>
        </p:nvPicPr>
        <p:blipFill>
          <a:blip r:embed="rId4"/>
          <a:stretch/>
        </p:blipFill>
        <p:spPr>
          <a:xfrm>
            <a:off x="5001840" y="1847160"/>
            <a:ext cx="42012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5" name="Text 11"/>
          <p:cNvSpPr/>
          <p:nvPr/>
        </p:nvSpPr>
        <p:spPr>
          <a:xfrm>
            <a:off x="5715000" y="169164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8EEF7"/>
                </a:solidFill>
                <a:effectLst/>
                <a:uFillTx/>
                <a:latin typeface="Georgia"/>
                <a:ea typeface="Georgia"/>
              </a:rPr>
              <a:t>Integrity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6" name="Text 12"/>
          <p:cNvSpPr/>
          <p:nvPr/>
        </p:nvSpPr>
        <p:spPr>
          <a:xfrm>
            <a:off x="5715000" y="2148840"/>
            <a:ext cx="28342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Any modification of the ciphertext is detected by the Poly1305 tag.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7" name="Shape 13"/>
          <p:cNvSpPr/>
          <p:nvPr/>
        </p:nvSpPr>
        <p:spPr>
          <a:xfrm>
            <a:off x="457200" y="3108960"/>
            <a:ext cx="4068720" cy="1554120"/>
          </a:xfrm>
          <a:prstGeom prst="rect">
            <a:avLst/>
          </a:prstGeom>
          <a:solidFill>
            <a:srgbClr val="13243F"/>
          </a:solidFill>
          <a:ln w="9360">
            <a:solidFill>
              <a:srgbClr val="1E3A5F"/>
            </a:solidFill>
            <a:round/>
          </a:ln>
          <a:effectLst>
            <a:outerShdw blurRad="101520" dist="25560" dir="5400000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8" name="Shape 14"/>
          <p:cNvSpPr/>
          <p:nvPr/>
        </p:nvSpPr>
        <p:spPr>
          <a:xfrm>
            <a:off x="457200" y="3108960"/>
            <a:ext cx="72720" cy="1554120"/>
          </a:xfrm>
          <a:prstGeom prst="rect">
            <a:avLst/>
          </a:prstGeom>
          <a:solidFill>
            <a:srgbClr val="F5B4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Shape 15"/>
          <p:cNvSpPr/>
          <p:nvPr/>
        </p:nvSpPr>
        <p:spPr>
          <a:xfrm>
            <a:off x="731520" y="3383280"/>
            <a:ext cx="639720" cy="639720"/>
          </a:xfrm>
          <a:prstGeom prst="ellipse">
            <a:avLst/>
          </a:prstGeom>
          <a:solidFill>
            <a:srgbClr val="F5B400">
              <a:alpha val="20000"/>
            </a:srgbClr>
          </a:solidFill>
          <a:ln w="12600">
            <a:solidFill>
              <a:srgbClr val="F5B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0" name="Image 2" descr="preencoded.png"/>
          <p:cNvPicPr/>
          <p:nvPr/>
        </p:nvPicPr>
        <p:blipFill>
          <a:blip r:embed="rId5"/>
          <a:stretch/>
        </p:blipFill>
        <p:spPr>
          <a:xfrm>
            <a:off x="841320" y="3493080"/>
            <a:ext cx="42012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1" name="Text 16"/>
          <p:cNvSpPr/>
          <p:nvPr/>
        </p:nvSpPr>
        <p:spPr>
          <a:xfrm>
            <a:off x="1554480" y="333756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8EEF7"/>
                </a:solidFill>
                <a:effectLst/>
                <a:uFillTx/>
                <a:latin typeface="Georgia"/>
                <a:ea typeface="Georgia"/>
              </a:rPr>
              <a:t>Authentication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2" name="Text 17"/>
          <p:cNvSpPr/>
          <p:nvPr/>
        </p:nvSpPr>
        <p:spPr>
          <a:xfrm>
            <a:off x="1554480" y="3794760"/>
            <a:ext cx="28342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Only someone with the key could have produced a valid tag.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3" name="Shape 18"/>
          <p:cNvSpPr/>
          <p:nvPr/>
        </p:nvSpPr>
        <p:spPr>
          <a:xfrm>
            <a:off x="4617720" y="3108960"/>
            <a:ext cx="4068720" cy="1554120"/>
          </a:xfrm>
          <a:prstGeom prst="rect">
            <a:avLst/>
          </a:prstGeom>
          <a:solidFill>
            <a:srgbClr val="13243F"/>
          </a:solidFill>
          <a:ln w="9360">
            <a:solidFill>
              <a:srgbClr val="1E3A5F"/>
            </a:solidFill>
            <a:round/>
          </a:ln>
          <a:effectLst>
            <a:outerShdw blurRad="101520" dist="25560" dir="5400000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4" name="Shape 19"/>
          <p:cNvSpPr/>
          <p:nvPr/>
        </p:nvSpPr>
        <p:spPr>
          <a:xfrm>
            <a:off x="4617720" y="3108960"/>
            <a:ext cx="72720" cy="1554120"/>
          </a:xfrm>
          <a:prstGeom prst="rect">
            <a:avLst/>
          </a:prstGeom>
          <a:solidFill>
            <a:srgbClr val="F970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5" name="Shape 20"/>
          <p:cNvSpPr/>
          <p:nvPr/>
        </p:nvSpPr>
        <p:spPr>
          <a:xfrm>
            <a:off x="4892040" y="3383280"/>
            <a:ext cx="639720" cy="639720"/>
          </a:xfrm>
          <a:prstGeom prst="ellipse">
            <a:avLst/>
          </a:prstGeom>
          <a:solidFill>
            <a:srgbClr val="F97066">
              <a:alpha val="20000"/>
            </a:srgbClr>
          </a:solidFill>
          <a:ln w="12600">
            <a:solidFill>
              <a:srgbClr val="F970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6" name="Image 3" descr="preencoded.png"/>
          <p:cNvPicPr/>
          <p:nvPr/>
        </p:nvPicPr>
        <p:blipFill>
          <a:blip r:embed="rId6"/>
          <a:stretch/>
        </p:blipFill>
        <p:spPr>
          <a:xfrm>
            <a:off x="5001840" y="3493080"/>
            <a:ext cx="42012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7" name="Text 21"/>
          <p:cNvSpPr/>
          <p:nvPr/>
        </p:nvSpPr>
        <p:spPr>
          <a:xfrm>
            <a:off x="5715000" y="333756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8EEF7"/>
                </a:solidFill>
                <a:effectLst/>
                <a:uFillTx/>
                <a:latin typeface="Georgia"/>
                <a:ea typeface="Georgia"/>
              </a:rPr>
              <a:t>Side-channel resistance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8" name="Text 22"/>
          <p:cNvSpPr/>
          <p:nvPr/>
        </p:nvSpPr>
        <p:spPr>
          <a:xfrm>
            <a:off x="5715000" y="3794760"/>
            <a:ext cx="28342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Constant-time ARX operations resist timing and cache attacks.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9" name="Shape 23"/>
          <p:cNvSpPr/>
          <p:nvPr/>
        </p:nvSpPr>
        <p:spPr>
          <a:xfrm>
            <a:off x="8275320" y="4851000"/>
            <a:ext cx="164160" cy="453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Shape 24"/>
          <p:cNvSpPr/>
          <p:nvPr/>
        </p:nvSpPr>
        <p:spPr>
          <a:xfrm>
            <a:off x="8503920" y="4851000"/>
            <a:ext cx="365400" cy="45360"/>
          </a:xfrm>
          <a:prstGeom prst="rect">
            <a:avLst/>
          </a:prstGeom>
          <a:solidFill>
            <a:srgbClr val="14B8A6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Text 25"/>
          <p:cNvSpPr/>
          <p:nvPr/>
        </p:nvSpPr>
        <p:spPr>
          <a:xfrm>
            <a:off x="6400800" y="47595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 spc="201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CHACHA20-POLY1305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2" name="Text 26"/>
          <p:cNvSpPr/>
          <p:nvPr/>
        </p:nvSpPr>
        <p:spPr>
          <a:xfrm>
            <a:off x="365760" y="47595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99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24 / 32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Shape 0"/>
          <p:cNvSpPr/>
          <p:nvPr/>
        </p:nvSpPr>
        <p:spPr>
          <a:xfrm>
            <a:off x="457200" y="502920"/>
            <a:ext cx="164160" cy="1641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Text 1"/>
          <p:cNvSpPr/>
          <p:nvPr/>
        </p:nvSpPr>
        <p:spPr>
          <a:xfrm>
            <a:off x="713160" y="36576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Real-World Applications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Text 2"/>
          <p:cNvSpPr/>
          <p:nvPr/>
        </p:nvSpPr>
        <p:spPr>
          <a:xfrm>
            <a:off x="713160" y="86868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ChaCha20-Poly1305 is the default in many of the protocols you use every day.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Shape 3"/>
          <p:cNvSpPr/>
          <p:nvPr/>
        </p:nvSpPr>
        <p:spPr>
          <a:xfrm>
            <a:off x="457200" y="1417320"/>
            <a:ext cx="2697120" cy="146268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Shape 4"/>
          <p:cNvSpPr/>
          <p:nvPr/>
        </p:nvSpPr>
        <p:spPr>
          <a:xfrm>
            <a:off x="457200" y="1417320"/>
            <a:ext cx="2697120" cy="7272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Text 5"/>
          <p:cNvSpPr/>
          <p:nvPr/>
        </p:nvSpPr>
        <p:spPr>
          <a:xfrm>
            <a:off x="640080" y="1581840"/>
            <a:ext cx="2331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4B8A6"/>
                </a:solidFill>
                <a:effectLst/>
                <a:uFillTx/>
                <a:latin typeface="Georgia"/>
                <a:ea typeface="Georgia"/>
              </a:rPr>
              <a:t>WireGuard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Text 6"/>
          <p:cNvSpPr/>
          <p:nvPr/>
        </p:nvSpPr>
        <p:spPr>
          <a:xfrm>
            <a:off x="640080" y="2011680"/>
            <a:ext cx="23313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Modern VPN protocol — uses ChaCha20-Poly1305 as its sole cipher.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Shape 7"/>
          <p:cNvSpPr/>
          <p:nvPr/>
        </p:nvSpPr>
        <p:spPr>
          <a:xfrm>
            <a:off x="3273480" y="1417320"/>
            <a:ext cx="2697120" cy="146268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Shape 8"/>
          <p:cNvSpPr/>
          <p:nvPr/>
        </p:nvSpPr>
        <p:spPr>
          <a:xfrm>
            <a:off x="3273480" y="1417320"/>
            <a:ext cx="2697120" cy="7272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2" name="Text 9"/>
          <p:cNvSpPr/>
          <p:nvPr/>
        </p:nvSpPr>
        <p:spPr>
          <a:xfrm>
            <a:off x="3456360" y="1581840"/>
            <a:ext cx="2331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8B5CF6"/>
                </a:solidFill>
                <a:effectLst/>
                <a:uFillTx/>
                <a:latin typeface="Georgia"/>
                <a:ea typeface="Georgia"/>
              </a:rPr>
              <a:t>TLS 1.3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Text 10"/>
          <p:cNvSpPr/>
          <p:nvPr/>
        </p:nvSpPr>
        <p:spPr>
          <a:xfrm>
            <a:off x="3456360" y="2011680"/>
            <a:ext cx="23313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RFC 7905 cipher suite. Preferred when AES hardware is unavailable.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Shape 11"/>
          <p:cNvSpPr/>
          <p:nvPr/>
        </p:nvSpPr>
        <p:spPr>
          <a:xfrm>
            <a:off x="6089760" y="1417320"/>
            <a:ext cx="2697120" cy="146268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Shape 12"/>
          <p:cNvSpPr/>
          <p:nvPr/>
        </p:nvSpPr>
        <p:spPr>
          <a:xfrm>
            <a:off x="6089760" y="1417320"/>
            <a:ext cx="2697120" cy="72720"/>
          </a:xfrm>
          <a:prstGeom prst="rect">
            <a:avLst/>
          </a:prstGeom>
          <a:solidFill>
            <a:srgbClr val="F5B4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Text 13"/>
          <p:cNvSpPr/>
          <p:nvPr/>
        </p:nvSpPr>
        <p:spPr>
          <a:xfrm>
            <a:off x="6272640" y="1581840"/>
            <a:ext cx="2331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5B400"/>
                </a:solidFill>
                <a:effectLst/>
                <a:uFillTx/>
                <a:latin typeface="Georgia"/>
                <a:ea typeface="Georgia"/>
              </a:rPr>
              <a:t>QUIC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Text 14"/>
          <p:cNvSpPr/>
          <p:nvPr/>
        </p:nvSpPr>
        <p:spPr>
          <a:xfrm>
            <a:off x="6272640" y="2011680"/>
            <a:ext cx="23313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HTTP/3's transport protocol. Mandates ChaCha20-Poly1305 support.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Shape 15"/>
          <p:cNvSpPr/>
          <p:nvPr/>
        </p:nvSpPr>
        <p:spPr>
          <a:xfrm>
            <a:off x="457200" y="2999160"/>
            <a:ext cx="2697120" cy="146268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Shape 16"/>
          <p:cNvSpPr/>
          <p:nvPr/>
        </p:nvSpPr>
        <p:spPr>
          <a:xfrm>
            <a:off x="457200" y="2999160"/>
            <a:ext cx="2697120" cy="72720"/>
          </a:xfrm>
          <a:prstGeom prst="rect">
            <a:avLst/>
          </a:prstGeom>
          <a:solidFill>
            <a:srgbClr val="F970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0" name="Text 17"/>
          <p:cNvSpPr/>
          <p:nvPr/>
        </p:nvSpPr>
        <p:spPr>
          <a:xfrm>
            <a:off x="640080" y="3163680"/>
            <a:ext cx="2331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97066"/>
                </a:solidFill>
                <a:effectLst/>
                <a:uFillTx/>
                <a:latin typeface="Georgia"/>
                <a:ea typeface="Georgia"/>
              </a:rPr>
              <a:t>OpenSSH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Text 18"/>
          <p:cNvSpPr/>
          <p:nvPr/>
        </p:nvSpPr>
        <p:spPr>
          <a:xfrm>
            <a:off x="640080" y="3593520"/>
            <a:ext cx="23313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Default cipher in modern OpenSSH builds (chacha20-poly1305@openssh.com).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Shape 19"/>
          <p:cNvSpPr/>
          <p:nvPr/>
        </p:nvSpPr>
        <p:spPr>
          <a:xfrm>
            <a:off x="3273480" y="2999160"/>
            <a:ext cx="2697120" cy="146268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Shape 20"/>
          <p:cNvSpPr/>
          <p:nvPr/>
        </p:nvSpPr>
        <p:spPr>
          <a:xfrm>
            <a:off x="3273480" y="2999160"/>
            <a:ext cx="2697120" cy="7272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Text 21"/>
          <p:cNvSpPr/>
          <p:nvPr/>
        </p:nvSpPr>
        <p:spPr>
          <a:xfrm>
            <a:off x="3456360" y="3163680"/>
            <a:ext cx="2331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4B8A6"/>
                </a:solidFill>
                <a:effectLst/>
                <a:uFillTx/>
                <a:latin typeface="Georgia"/>
                <a:ea typeface="Georgia"/>
              </a:rPr>
              <a:t>Signal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Text 22"/>
          <p:cNvSpPr/>
          <p:nvPr/>
        </p:nvSpPr>
        <p:spPr>
          <a:xfrm>
            <a:off x="3456360" y="3593520"/>
            <a:ext cx="23313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End-to-end messaging — same family of constructions for confidentiality.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Shape 23"/>
          <p:cNvSpPr/>
          <p:nvPr/>
        </p:nvSpPr>
        <p:spPr>
          <a:xfrm>
            <a:off x="6089760" y="2999160"/>
            <a:ext cx="2697120" cy="146268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Shape 24"/>
          <p:cNvSpPr/>
          <p:nvPr/>
        </p:nvSpPr>
        <p:spPr>
          <a:xfrm>
            <a:off x="6089760" y="2999160"/>
            <a:ext cx="2697120" cy="7272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8" name="Text 25"/>
          <p:cNvSpPr/>
          <p:nvPr/>
        </p:nvSpPr>
        <p:spPr>
          <a:xfrm>
            <a:off x="6272640" y="3163680"/>
            <a:ext cx="2331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8B5CF6"/>
                </a:solidFill>
                <a:effectLst/>
                <a:uFillTx/>
                <a:latin typeface="Georgia"/>
                <a:ea typeface="Georgia"/>
              </a:rPr>
              <a:t>WhatsApp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Text 26"/>
          <p:cNvSpPr/>
          <p:nvPr/>
        </p:nvSpPr>
        <p:spPr>
          <a:xfrm>
            <a:off x="6272640" y="3593520"/>
            <a:ext cx="23313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Built on Signal Protocol — encrypts billions of messages per day.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Shape 27"/>
          <p:cNvSpPr/>
          <p:nvPr/>
        </p:nvSpPr>
        <p:spPr>
          <a:xfrm>
            <a:off x="8275320" y="4851000"/>
            <a:ext cx="164160" cy="45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1" name="Shape 28"/>
          <p:cNvSpPr/>
          <p:nvPr/>
        </p:nvSpPr>
        <p:spPr>
          <a:xfrm>
            <a:off x="8503920" y="4851000"/>
            <a:ext cx="365400" cy="45360"/>
          </a:xfrm>
          <a:prstGeom prst="rect">
            <a:avLst/>
          </a:prstGeom>
          <a:solidFill>
            <a:srgbClr val="0D9488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2" name="Text 29"/>
          <p:cNvSpPr/>
          <p:nvPr/>
        </p:nvSpPr>
        <p:spPr>
          <a:xfrm>
            <a:off x="6400800" y="47595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 spc="201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CHACHA20-POLY1305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Text 30"/>
          <p:cNvSpPr/>
          <p:nvPr/>
        </p:nvSpPr>
        <p:spPr>
          <a:xfrm>
            <a:off x="365760" y="47595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99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25 / 32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Shape 0"/>
          <p:cNvSpPr/>
          <p:nvPr/>
        </p:nvSpPr>
        <p:spPr>
          <a:xfrm>
            <a:off x="457200" y="502920"/>
            <a:ext cx="164160" cy="1641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Text 1"/>
          <p:cNvSpPr/>
          <p:nvPr/>
        </p:nvSpPr>
        <p:spPr>
          <a:xfrm>
            <a:off x="713160" y="36576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Challenges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Text 2"/>
          <p:cNvSpPr/>
          <p:nvPr/>
        </p:nvSpPr>
        <p:spPr>
          <a:xfrm>
            <a:off x="713160" y="86868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Things we wrestled with along the way.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Shape 3"/>
          <p:cNvSpPr/>
          <p:nvPr/>
        </p:nvSpPr>
        <p:spPr>
          <a:xfrm>
            <a:off x="457200" y="1417320"/>
            <a:ext cx="2048040" cy="32457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Shape 4"/>
          <p:cNvSpPr/>
          <p:nvPr/>
        </p:nvSpPr>
        <p:spPr>
          <a:xfrm>
            <a:off x="1092600" y="1691640"/>
            <a:ext cx="776880" cy="776880"/>
          </a:xfrm>
          <a:prstGeom prst="ellipse">
            <a:avLst/>
          </a:prstGeom>
          <a:solidFill>
            <a:srgbClr val="F5B4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Text 5"/>
          <p:cNvSpPr/>
          <p:nvPr/>
        </p:nvSpPr>
        <p:spPr>
          <a:xfrm>
            <a:off x="1092600" y="1691640"/>
            <a:ext cx="776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1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Text 6"/>
          <p:cNvSpPr/>
          <p:nvPr/>
        </p:nvSpPr>
        <p:spPr>
          <a:xfrm>
            <a:off x="594360" y="2606040"/>
            <a:ext cx="17737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Coordinating RSA Key Exchange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Text 7"/>
          <p:cNvSpPr/>
          <p:nvPr/>
        </p:nvSpPr>
        <p:spPr>
          <a:xfrm>
            <a:off x="640080" y="3383280"/>
            <a:ext cx="16822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Getting both clients to exchange public keys before any encrypted message could flow.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Shape 8"/>
          <p:cNvSpPr/>
          <p:nvPr/>
        </p:nvSpPr>
        <p:spPr>
          <a:xfrm>
            <a:off x="2624400" y="1417320"/>
            <a:ext cx="2048040" cy="32457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Shape 9"/>
          <p:cNvSpPr/>
          <p:nvPr/>
        </p:nvSpPr>
        <p:spPr>
          <a:xfrm>
            <a:off x="3259800" y="1691640"/>
            <a:ext cx="776880" cy="77688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4" name="Text 10"/>
          <p:cNvSpPr/>
          <p:nvPr/>
        </p:nvSpPr>
        <p:spPr>
          <a:xfrm>
            <a:off x="3259800" y="1691640"/>
            <a:ext cx="776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2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 11"/>
          <p:cNvSpPr/>
          <p:nvPr/>
        </p:nvSpPr>
        <p:spPr>
          <a:xfrm>
            <a:off x="2761560" y="2606040"/>
            <a:ext cx="17737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Generating a unique nonce per message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Text 12"/>
          <p:cNvSpPr/>
          <p:nvPr/>
        </p:nvSpPr>
        <p:spPr>
          <a:xfrm>
            <a:off x="2807280" y="3383280"/>
            <a:ext cx="16822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Ensuring no nonce was ever reused under the same key — a single slip would break confidentiality.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Shape 13"/>
          <p:cNvSpPr/>
          <p:nvPr/>
        </p:nvSpPr>
        <p:spPr>
          <a:xfrm>
            <a:off x="4791600" y="1417320"/>
            <a:ext cx="2048040" cy="32457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Shape 14"/>
          <p:cNvSpPr/>
          <p:nvPr/>
        </p:nvSpPr>
        <p:spPr>
          <a:xfrm>
            <a:off x="5427000" y="1691640"/>
            <a:ext cx="776880" cy="776880"/>
          </a:xfrm>
          <a:prstGeom prst="ellipse">
            <a:avLst/>
          </a:prstGeom>
          <a:solidFill>
            <a:srgbClr val="F970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9" name="Text 15"/>
          <p:cNvSpPr/>
          <p:nvPr/>
        </p:nvSpPr>
        <p:spPr>
          <a:xfrm>
            <a:off x="5427000" y="1691640"/>
            <a:ext cx="776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3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0" name="Text 16"/>
          <p:cNvSpPr/>
          <p:nvPr/>
        </p:nvSpPr>
        <p:spPr>
          <a:xfrm>
            <a:off x="4928760" y="2606040"/>
            <a:ext cx="17737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Handling authentication failures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Text 17"/>
          <p:cNvSpPr/>
          <p:nvPr/>
        </p:nvSpPr>
        <p:spPr>
          <a:xfrm>
            <a:off x="4974480" y="3383280"/>
            <a:ext cx="16822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Deciding how to respond when Poly1305 verification fails: drop, log, or alert?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2" name="Shape 18"/>
          <p:cNvSpPr/>
          <p:nvPr/>
        </p:nvSpPr>
        <p:spPr>
          <a:xfrm>
            <a:off x="6958440" y="1417320"/>
            <a:ext cx="2048040" cy="32457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Shape 19"/>
          <p:cNvSpPr/>
          <p:nvPr/>
        </p:nvSpPr>
        <p:spPr>
          <a:xfrm>
            <a:off x="7594200" y="1691640"/>
            <a:ext cx="776880" cy="776880"/>
          </a:xfrm>
          <a:prstGeom prst="ellipse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Text 20"/>
          <p:cNvSpPr/>
          <p:nvPr/>
        </p:nvSpPr>
        <p:spPr>
          <a:xfrm>
            <a:off x="7594200" y="1691640"/>
            <a:ext cx="776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4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Text 21"/>
          <p:cNvSpPr/>
          <p:nvPr/>
        </p:nvSpPr>
        <p:spPr>
          <a:xfrm>
            <a:off x="7095600" y="2606040"/>
            <a:ext cx="17737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Debugging ciphertext over sockets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Text 22"/>
          <p:cNvSpPr/>
          <p:nvPr/>
        </p:nvSpPr>
        <p:spPr>
          <a:xfrm>
            <a:off x="7141320" y="3383280"/>
            <a:ext cx="16822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Unreadable bytes make ordinary print-debugging useless — needed careful tracing.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Shape 23"/>
          <p:cNvSpPr/>
          <p:nvPr/>
        </p:nvSpPr>
        <p:spPr>
          <a:xfrm>
            <a:off x="8275320" y="4851000"/>
            <a:ext cx="164160" cy="45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8" name="Shape 24"/>
          <p:cNvSpPr/>
          <p:nvPr/>
        </p:nvSpPr>
        <p:spPr>
          <a:xfrm>
            <a:off x="8503920" y="4851000"/>
            <a:ext cx="365400" cy="45360"/>
          </a:xfrm>
          <a:prstGeom prst="rect">
            <a:avLst/>
          </a:prstGeom>
          <a:solidFill>
            <a:srgbClr val="0D9488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9" name="Text 25"/>
          <p:cNvSpPr/>
          <p:nvPr/>
        </p:nvSpPr>
        <p:spPr>
          <a:xfrm>
            <a:off x="6400800" y="47595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 spc="201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CHACHA20-POLY1305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Text 26"/>
          <p:cNvSpPr/>
          <p:nvPr/>
        </p:nvSpPr>
        <p:spPr>
          <a:xfrm>
            <a:off x="365760" y="47595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99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26 / 32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Shape 0"/>
          <p:cNvSpPr/>
          <p:nvPr/>
        </p:nvSpPr>
        <p:spPr>
          <a:xfrm>
            <a:off x="457200" y="502920"/>
            <a:ext cx="164160" cy="1641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2" name="Text 1"/>
          <p:cNvSpPr/>
          <p:nvPr/>
        </p:nvSpPr>
        <p:spPr>
          <a:xfrm>
            <a:off x="713160" y="36576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Results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Text 2"/>
          <p:cNvSpPr/>
          <p:nvPr/>
        </p:nvSpPr>
        <p:spPr>
          <a:xfrm>
            <a:off x="713160" y="86868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What we built and verified.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Shape 3"/>
          <p:cNvSpPr/>
          <p:nvPr/>
        </p:nvSpPr>
        <p:spPr>
          <a:xfrm>
            <a:off x="457200" y="1417320"/>
            <a:ext cx="8229240" cy="59400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Shape 4"/>
          <p:cNvSpPr/>
          <p:nvPr/>
        </p:nvSpPr>
        <p:spPr>
          <a:xfrm>
            <a:off x="457200" y="1417320"/>
            <a:ext cx="72720" cy="59400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6" name="Image 0" descr="preencoded.png"/>
          <p:cNvPicPr/>
          <p:nvPr/>
        </p:nvPicPr>
        <p:blipFill>
          <a:blip r:embed="rId3"/>
          <a:stretch/>
        </p:blipFill>
        <p:spPr>
          <a:xfrm>
            <a:off x="685800" y="153612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7" name="Text 5"/>
          <p:cNvSpPr/>
          <p:nvPr/>
        </p:nvSpPr>
        <p:spPr>
          <a:xfrm>
            <a:off x="1188720" y="1417320"/>
            <a:ext cx="74062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B1A2E"/>
                </a:solidFill>
                <a:effectLst/>
                <a:uFillTx/>
                <a:latin typeface="Calibri"/>
                <a:ea typeface="Calibri"/>
              </a:rPr>
              <a:t>Built a functional encrypted client-server chat system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Shape 6"/>
          <p:cNvSpPr/>
          <p:nvPr/>
        </p:nvSpPr>
        <p:spPr>
          <a:xfrm>
            <a:off x="457200" y="2103120"/>
            <a:ext cx="8229240" cy="59400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9" name="Shape 7"/>
          <p:cNvSpPr/>
          <p:nvPr/>
        </p:nvSpPr>
        <p:spPr>
          <a:xfrm>
            <a:off x="457200" y="2103120"/>
            <a:ext cx="72720" cy="59400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0" name="Image 1" descr="preencoded.png"/>
          <p:cNvPicPr/>
          <p:nvPr/>
        </p:nvPicPr>
        <p:blipFill>
          <a:blip r:embed="rId3"/>
          <a:stretch/>
        </p:blipFill>
        <p:spPr>
          <a:xfrm>
            <a:off x="685800" y="222192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1" name="Text 8"/>
          <p:cNvSpPr/>
          <p:nvPr/>
        </p:nvSpPr>
        <p:spPr>
          <a:xfrm>
            <a:off x="1188720" y="2103120"/>
            <a:ext cx="74062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B1A2E"/>
                </a:solidFill>
                <a:effectLst/>
                <a:uFillTx/>
                <a:latin typeface="Calibri"/>
                <a:ea typeface="Calibri"/>
              </a:rPr>
              <a:t>Verified that the server only ever sees ciphertext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2" name="Shape 9"/>
          <p:cNvSpPr/>
          <p:nvPr/>
        </p:nvSpPr>
        <p:spPr>
          <a:xfrm>
            <a:off x="457200" y="2788920"/>
            <a:ext cx="8229240" cy="59400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3" name="Shape 10"/>
          <p:cNvSpPr/>
          <p:nvPr/>
        </p:nvSpPr>
        <p:spPr>
          <a:xfrm>
            <a:off x="457200" y="2788920"/>
            <a:ext cx="72720" cy="59400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4" name="Image 2" descr="preencoded.png"/>
          <p:cNvPicPr/>
          <p:nvPr/>
        </p:nvPicPr>
        <p:blipFill>
          <a:blip r:embed="rId3"/>
          <a:stretch/>
        </p:blipFill>
        <p:spPr>
          <a:xfrm>
            <a:off x="685800" y="290772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5" name="Text 11"/>
          <p:cNvSpPr/>
          <p:nvPr/>
        </p:nvSpPr>
        <p:spPr>
          <a:xfrm>
            <a:off x="1188720" y="2788920"/>
            <a:ext cx="74062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B1A2E"/>
                </a:solidFill>
                <a:effectLst/>
                <a:uFillTx/>
                <a:latin typeface="Calibri"/>
                <a:ea typeface="Calibri"/>
              </a:rPr>
              <a:t>Successfully decrypted messages only on the intended recipient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Shape 12"/>
          <p:cNvSpPr/>
          <p:nvPr/>
        </p:nvSpPr>
        <p:spPr>
          <a:xfrm>
            <a:off x="457200" y="3474720"/>
            <a:ext cx="8229240" cy="59400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7" name="Shape 13"/>
          <p:cNvSpPr/>
          <p:nvPr/>
        </p:nvSpPr>
        <p:spPr>
          <a:xfrm>
            <a:off x="457200" y="3474720"/>
            <a:ext cx="72720" cy="594000"/>
          </a:xfrm>
          <a:prstGeom prst="rect">
            <a:avLst/>
          </a:prstGeom>
          <a:solidFill>
            <a:srgbClr val="F970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68" name="Image 3" descr="preencoded.png"/>
          <p:cNvPicPr/>
          <p:nvPr/>
        </p:nvPicPr>
        <p:blipFill>
          <a:blip r:embed="rId4"/>
          <a:stretch/>
        </p:blipFill>
        <p:spPr>
          <a:xfrm>
            <a:off x="685800" y="359352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9" name="Text 14"/>
          <p:cNvSpPr/>
          <p:nvPr/>
        </p:nvSpPr>
        <p:spPr>
          <a:xfrm>
            <a:off x="1188720" y="3474720"/>
            <a:ext cx="74062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B1A2E"/>
                </a:solidFill>
                <a:effectLst/>
                <a:uFillTx/>
                <a:latin typeface="Calibri"/>
                <a:ea typeface="Calibri"/>
              </a:rPr>
              <a:t>Demonstrated authentication failure when ciphertext is tampered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Shape 15"/>
          <p:cNvSpPr/>
          <p:nvPr/>
        </p:nvSpPr>
        <p:spPr>
          <a:xfrm>
            <a:off x="457200" y="4160520"/>
            <a:ext cx="8229240" cy="59400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Shape 16"/>
          <p:cNvSpPr/>
          <p:nvPr/>
        </p:nvSpPr>
        <p:spPr>
          <a:xfrm>
            <a:off x="457200" y="4160520"/>
            <a:ext cx="72720" cy="59400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2" name="Image 4" descr="preencoded.png"/>
          <p:cNvPicPr/>
          <p:nvPr/>
        </p:nvPicPr>
        <p:blipFill>
          <a:blip r:embed="rId3"/>
          <a:stretch/>
        </p:blipFill>
        <p:spPr>
          <a:xfrm>
            <a:off x="685800" y="427932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3" name="Text 17"/>
          <p:cNvSpPr/>
          <p:nvPr/>
        </p:nvSpPr>
        <p:spPr>
          <a:xfrm>
            <a:off x="1188720" y="4160520"/>
            <a:ext cx="74062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B1A2E"/>
                </a:solidFill>
                <a:effectLst/>
                <a:uFillTx/>
                <a:latin typeface="Calibri"/>
                <a:ea typeface="Calibri"/>
              </a:rPr>
              <a:t>Combined RSA key exchange with ChaCha20-Poly1305 messaging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Shape 18"/>
          <p:cNvSpPr/>
          <p:nvPr/>
        </p:nvSpPr>
        <p:spPr>
          <a:xfrm>
            <a:off x="8275320" y="4851000"/>
            <a:ext cx="164160" cy="45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5" name="Shape 19"/>
          <p:cNvSpPr/>
          <p:nvPr/>
        </p:nvSpPr>
        <p:spPr>
          <a:xfrm>
            <a:off x="8503920" y="4851000"/>
            <a:ext cx="365400" cy="45360"/>
          </a:xfrm>
          <a:prstGeom prst="rect">
            <a:avLst/>
          </a:prstGeom>
          <a:solidFill>
            <a:srgbClr val="0D9488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6" name="Text 20"/>
          <p:cNvSpPr/>
          <p:nvPr/>
        </p:nvSpPr>
        <p:spPr>
          <a:xfrm>
            <a:off x="6400800" y="47595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 spc="201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CHACHA20-POLY1305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Text 21"/>
          <p:cNvSpPr/>
          <p:nvPr/>
        </p:nvSpPr>
        <p:spPr>
          <a:xfrm>
            <a:off x="365760" y="47595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99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27 / 32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Shape 0"/>
          <p:cNvSpPr/>
          <p:nvPr/>
        </p:nvSpPr>
        <p:spPr>
          <a:xfrm>
            <a:off x="457200" y="502920"/>
            <a:ext cx="164160" cy="1641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Text 1"/>
          <p:cNvSpPr/>
          <p:nvPr/>
        </p:nvSpPr>
        <p:spPr>
          <a:xfrm>
            <a:off x="713160" y="36576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Future Work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Text 2"/>
          <p:cNvSpPr/>
          <p:nvPr/>
        </p:nvSpPr>
        <p:spPr>
          <a:xfrm>
            <a:off x="713160" y="86868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Where we'd take this if we had more time.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Shape 3"/>
          <p:cNvSpPr/>
          <p:nvPr/>
        </p:nvSpPr>
        <p:spPr>
          <a:xfrm>
            <a:off x="457200" y="1417320"/>
            <a:ext cx="2697120" cy="32457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Shape 4"/>
          <p:cNvSpPr/>
          <p:nvPr/>
        </p:nvSpPr>
        <p:spPr>
          <a:xfrm>
            <a:off x="457200" y="1417320"/>
            <a:ext cx="2697120" cy="7272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Shape 5"/>
          <p:cNvSpPr/>
          <p:nvPr/>
        </p:nvSpPr>
        <p:spPr>
          <a:xfrm>
            <a:off x="1348920" y="1783080"/>
            <a:ext cx="914040" cy="914040"/>
          </a:xfrm>
          <a:prstGeom prst="ellipse">
            <a:avLst/>
          </a:prstGeom>
          <a:solidFill>
            <a:srgbClr val="14B8A6">
              <a:alpha val="15000"/>
            </a:srgbClr>
          </a:solidFill>
          <a:ln w="1260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4" name="Image 0" descr="preencoded.png"/>
          <p:cNvPicPr/>
          <p:nvPr/>
        </p:nvPicPr>
        <p:blipFill>
          <a:blip r:embed="rId3"/>
          <a:stretch/>
        </p:blipFill>
        <p:spPr>
          <a:xfrm>
            <a:off x="1554480" y="198900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5" name="Text 6"/>
          <p:cNvSpPr/>
          <p:nvPr/>
        </p:nvSpPr>
        <p:spPr>
          <a:xfrm>
            <a:off x="594360" y="2834640"/>
            <a:ext cx="24228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Diffie-Hellman key exchange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Shape 7"/>
          <p:cNvSpPr/>
          <p:nvPr/>
        </p:nvSpPr>
        <p:spPr>
          <a:xfrm>
            <a:off x="1623240" y="3520440"/>
            <a:ext cx="365400" cy="2268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Text 8"/>
          <p:cNvSpPr/>
          <p:nvPr/>
        </p:nvSpPr>
        <p:spPr>
          <a:xfrm>
            <a:off x="685800" y="3657600"/>
            <a:ext cx="223992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Replace RSA with ECDH for faster handshakes and forward secrecy.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Shape 9"/>
          <p:cNvSpPr/>
          <p:nvPr/>
        </p:nvSpPr>
        <p:spPr>
          <a:xfrm>
            <a:off x="3273480" y="1417320"/>
            <a:ext cx="2697120" cy="32457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Shape 10"/>
          <p:cNvSpPr/>
          <p:nvPr/>
        </p:nvSpPr>
        <p:spPr>
          <a:xfrm>
            <a:off x="3273480" y="1417320"/>
            <a:ext cx="2697120" cy="7272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0" name="Shape 11"/>
          <p:cNvSpPr/>
          <p:nvPr/>
        </p:nvSpPr>
        <p:spPr>
          <a:xfrm>
            <a:off x="4165200" y="1783080"/>
            <a:ext cx="914040" cy="914040"/>
          </a:xfrm>
          <a:prstGeom prst="ellipse">
            <a:avLst/>
          </a:prstGeom>
          <a:solidFill>
            <a:srgbClr val="8B5CF6">
              <a:alpha val="15000"/>
            </a:srgbClr>
          </a:solidFill>
          <a:ln w="126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91" name="Image 1" descr="preencoded.png"/>
          <p:cNvPicPr/>
          <p:nvPr/>
        </p:nvPicPr>
        <p:blipFill>
          <a:blip r:embed="rId4"/>
          <a:stretch/>
        </p:blipFill>
        <p:spPr>
          <a:xfrm>
            <a:off x="4370760" y="198900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2" name="Text 12"/>
          <p:cNvSpPr/>
          <p:nvPr/>
        </p:nvSpPr>
        <p:spPr>
          <a:xfrm>
            <a:off x="3410640" y="2834640"/>
            <a:ext cx="24228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Forward secrecy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Shape 13"/>
          <p:cNvSpPr/>
          <p:nvPr/>
        </p:nvSpPr>
        <p:spPr>
          <a:xfrm>
            <a:off x="4439520" y="3520440"/>
            <a:ext cx="365400" cy="2268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4" name="Text 14"/>
          <p:cNvSpPr/>
          <p:nvPr/>
        </p:nvSpPr>
        <p:spPr>
          <a:xfrm>
            <a:off x="3502080" y="3657600"/>
            <a:ext cx="223992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Rotate session keys so past traffic stays safe even if a long-term key leaks.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Shape 15"/>
          <p:cNvSpPr/>
          <p:nvPr/>
        </p:nvSpPr>
        <p:spPr>
          <a:xfrm>
            <a:off x="6089760" y="1417320"/>
            <a:ext cx="2697120" cy="32457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  <a:effectLst>
            <a:outerShdw blurRad="50760" dist="12600" dir="54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Shape 16"/>
          <p:cNvSpPr/>
          <p:nvPr/>
        </p:nvSpPr>
        <p:spPr>
          <a:xfrm>
            <a:off x="6089760" y="1417320"/>
            <a:ext cx="2697120" cy="72720"/>
          </a:xfrm>
          <a:prstGeom prst="rect">
            <a:avLst/>
          </a:prstGeom>
          <a:solidFill>
            <a:srgbClr val="F5B4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Shape 17"/>
          <p:cNvSpPr/>
          <p:nvPr/>
        </p:nvSpPr>
        <p:spPr>
          <a:xfrm>
            <a:off x="6981480" y="1783080"/>
            <a:ext cx="914040" cy="914040"/>
          </a:xfrm>
          <a:prstGeom prst="ellipse">
            <a:avLst/>
          </a:prstGeom>
          <a:solidFill>
            <a:srgbClr val="F5B400">
              <a:alpha val="15000"/>
            </a:srgbClr>
          </a:solidFill>
          <a:ln w="12600">
            <a:solidFill>
              <a:srgbClr val="F5B4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8" name="Image 2" descr="preencoded.png"/>
          <p:cNvPicPr/>
          <p:nvPr/>
        </p:nvPicPr>
        <p:blipFill>
          <a:blip r:embed="rId5"/>
          <a:stretch/>
        </p:blipFill>
        <p:spPr>
          <a:xfrm>
            <a:off x="7187040" y="1989000"/>
            <a:ext cx="5025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9" name="Text 18"/>
          <p:cNvSpPr/>
          <p:nvPr/>
        </p:nvSpPr>
        <p:spPr>
          <a:xfrm>
            <a:off x="6226920" y="2834640"/>
            <a:ext cx="24228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Stronger nonce strategy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Shape 19"/>
          <p:cNvSpPr/>
          <p:nvPr/>
        </p:nvSpPr>
        <p:spPr>
          <a:xfrm>
            <a:off x="7255800" y="3520440"/>
            <a:ext cx="365400" cy="22680"/>
          </a:xfrm>
          <a:prstGeom prst="rect">
            <a:avLst/>
          </a:prstGeom>
          <a:solidFill>
            <a:srgbClr val="F5B4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Text 20"/>
          <p:cNvSpPr/>
          <p:nvPr/>
        </p:nvSpPr>
        <p:spPr>
          <a:xfrm>
            <a:off x="6318360" y="3657600"/>
            <a:ext cx="223992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Hardware-derived randomness or counter-based nonces with rollover protection.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Shape 21"/>
          <p:cNvSpPr/>
          <p:nvPr/>
        </p:nvSpPr>
        <p:spPr>
          <a:xfrm>
            <a:off x="8275320" y="4851000"/>
            <a:ext cx="164160" cy="45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3" name="Shape 22"/>
          <p:cNvSpPr/>
          <p:nvPr/>
        </p:nvSpPr>
        <p:spPr>
          <a:xfrm>
            <a:off x="8503920" y="4851000"/>
            <a:ext cx="365400" cy="45360"/>
          </a:xfrm>
          <a:prstGeom prst="rect">
            <a:avLst/>
          </a:prstGeom>
          <a:solidFill>
            <a:srgbClr val="0D9488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4" name="Text 23"/>
          <p:cNvSpPr/>
          <p:nvPr/>
        </p:nvSpPr>
        <p:spPr>
          <a:xfrm>
            <a:off x="6400800" y="47595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 spc="201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CHACHA20-POLY1305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Text 24"/>
          <p:cNvSpPr/>
          <p:nvPr/>
        </p:nvSpPr>
        <p:spPr>
          <a:xfrm>
            <a:off x="365760" y="47595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99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28 / 32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Shape 0"/>
          <p:cNvSpPr/>
          <p:nvPr/>
        </p:nvSpPr>
        <p:spPr>
          <a:xfrm>
            <a:off x="457200" y="502920"/>
            <a:ext cx="164160" cy="1641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Text 1"/>
          <p:cNvSpPr/>
          <p:nvPr/>
        </p:nvSpPr>
        <p:spPr>
          <a:xfrm>
            <a:off x="713160" y="365760"/>
            <a:ext cx="77720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E8EEF7"/>
                </a:solidFill>
                <a:effectLst/>
                <a:uFillTx/>
                <a:latin typeface="Georgia"/>
                <a:ea typeface="Georgia"/>
              </a:rPr>
              <a:t>Conclusion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8" name="Text 2"/>
          <p:cNvSpPr/>
          <p:nvPr/>
        </p:nvSpPr>
        <p:spPr>
          <a:xfrm>
            <a:off x="640080" y="1280160"/>
            <a:ext cx="7863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i="1" u="none" strike="noStrike">
                <a:solidFill>
                  <a:srgbClr val="E8EEF7"/>
                </a:solidFill>
                <a:effectLst/>
                <a:uFillTx/>
                <a:latin typeface="Georgia"/>
                <a:ea typeface="Georgia"/>
              </a:rPr>
              <a:t>We built a real, working end-to-end encrypted chat — and </a:t>
            </a:r>
            <a:r>
              <a:rPr lang="en-US" sz="2200" b="1" i="1" u="none" strike="noStrike">
                <a:solidFill>
                  <a:srgbClr val="14B8A6"/>
                </a:solidFill>
                <a:effectLst/>
                <a:uFillTx/>
                <a:latin typeface="Georgia"/>
                <a:ea typeface="Georgia"/>
              </a:rPr>
              <a:t>saw the math behind it actually work</a:t>
            </a:r>
            <a:r>
              <a:rPr lang="en-US" sz="2200" b="0" i="1" u="none" strike="noStrike">
                <a:solidFill>
                  <a:srgbClr val="E8EEF7"/>
                </a:solidFill>
                <a:effectLst/>
                <a:uFillTx/>
                <a:latin typeface="Georgia"/>
                <a:ea typeface="Georgia"/>
              </a:rPr>
              <a:t>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9" name="Shape 3"/>
          <p:cNvSpPr/>
          <p:nvPr/>
        </p:nvSpPr>
        <p:spPr>
          <a:xfrm>
            <a:off x="457200" y="2377440"/>
            <a:ext cx="8229240" cy="712800"/>
          </a:xfrm>
          <a:prstGeom prst="rect">
            <a:avLst/>
          </a:prstGeom>
          <a:solidFill>
            <a:srgbClr val="13243F"/>
          </a:solidFill>
          <a:ln w="648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0" name="Shape 4"/>
          <p:cNvSpPr/>
          <p:nvPr/>
        </p:nvSpPr>
        <p:spPr>
          <a:xfrm>
            <a:off x="457200" y="2377440"/>
            <a:ext cx="54360" cy="71280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1" name="Image 0" descr="preencoded.png"/>
          <p:cNvPicPr/>
          <p:nvPr/>
        </p:nvPicPr>
        <p:blipFill>
          <a:blip r:embed="rId3"/>
          <a:stretch/>
        </p:blipFill>
        <p:spPr>
          <a:xfrm>
            <a:off x="685800" y="254196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2" name="Text 5"/>
          <p:cNvSpPr/>
          <p:nvPr/>
        </p:nvSpPr>
        <p:spPr>
          <a:xfrm>
            <a:off x="1234440" y="245052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8EEF7"/>
                </a:solidFill>
                <a:effectLst/>
                <a:uFillTx/>
                <a:latin typeface="Georgia"/>
                <a:ea typeface="Georgia"/>
              </a:rPr>
              <a:t>ChaCha20-Poly1305 in practice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3" name="Text 6"/>
          <p:cNvSpPr/>
          <p:nvPr/>
        </p:nvSpPr>
        <p:spPr>
          <a:xfrm>
            <a:off x="1234440" y="2743200"/>
            <a:ext cx="7269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Implemented a modern AEAD cipher in real client-server code.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4" name="Shape 7"/>
          <p:cNvSpPr/>
          <p:nvPr/>
        </p:nvSpPr>
        <p:spPr>
          <a:xfrm>
            <a:off x="457200" y="3182040"/>
            <a:ext cx="8229240" cy="712800"/>
          </a:xfrm>
          <a:prstGeom prst="rect">
            <a:avLst/>
          </a:prstGeom>
          <a:solidFill>
            <a:srgbClr val="13243F"/>
          </a:solidFill>
          <a:ln w="648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5" name="Shape 8"/>
          <p:cNvSpPr/>
          <p:nvPr/>
        </p:nvSpPr>
        <p:spPr>
          <a:xfrm>
            <a:off x="457200" y="3182040"/>
            <a:ext cx="54360" cy="71280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6" name="Image 1" descr="preencoded.png"/>
          <p:cNvPicPr/>
          <p:nvPr/>
        </p:nvPicPr>
        <p:blipFill>
          <a:blip r:embed="rId4"/>
          <a:stretch/>
        </p:blipFill>
        <p:spPr>
          <a:xfrm>
            <a:off x="685800" y="334656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7" name="Text 9"/>
          <p:cNvSpPr/>
          <p:nvPr/>
        </p:nvSpPr>
        <p:spPr>
          <a:xfrm>
            <a:off x="1234440" y="325512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8EEF7"/>
                </a:solidFill>
                <a:effectLst/>
                <a:uFillTx/>
                <a:latin typeface="Georgia"/>
                <a:ea typeface="Georgia"/>
              </a:rPr>
              <a:t>Theory met implementation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8" name="Text 10"/>
          <p:cNvSpPr/>
          <p:nvPr/>
        </p:nvSpPr>
        <p:spPr>
          <a:xfrm>
            <a:off x="1234440" y="3547800"/>
            <a:ext cx="7269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Connected lecture concepts (XOR, polynomials, modular arithmetic) to running software.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9" name="Shape 11"/>
          <p:cNvSpPr/>
          <p:nvPr/>
        </p:nvSpPr>
        <p:spPr>
          <a:xfrm>
            <a:off x="457200" y="3986640"/>
            <a:ext cx="8229240" cy="712800"/>
          </a:xfrm>
          <a:prstGeom prst="rect">
            <a:avLst/>
          </a:prstGeom>
          <a:solidFill>
            <a:srgbClr val="13243F"/>
          </a:solidFill>
          <a:ln w="648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0" name="Shape 12"/>
          <p:cNvSpPr/>
          <p:nvPr/>
        </p:nvSpPr>
        <p:spPr>
          <a:xfrm>
            <a:off x="457200" y="3986640"/>
            <a:ext cx="54360" cy="71280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1" name="Image 2" descr="preencoded.png"/>
          <p:cNvPicPr/>
          <p:nvPr/>
        </p:nvPicPr>
        <p:blipFill>
          <a:blip r:embed="rId5"/>
          <a:stretch/>
        </p:blipFill>
        <p:spPr>
          <a:xfrm>
            <a:off x="685800" y="41515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2" name="Text 13"/>
          <p:cNvSpPr/>
          <p:nvPr/>
        </p:nvSpPr>
        <p:spPr>
          <a:xfrm>
            <a:off x="1234440" y="406008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8EEF7"/>
                </a:solidFill>
                <a:effectLst/>
                <a:uFillTx/>
                <a:latin typeface="Georgia"/>
                <a:ea typeface="Georgia"/>
              </a:rPr>
              <a:t>Full security model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3" name="Text 14"/>
          <p:cNvSpPr/>
          <p:nvPr/>
        </p:nvSpPr>
        <p:spPr>
          <a:xfrm>
            <a:off x="1234440" y="4352400"/>
            <a:ext cx="7269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Confidentiality, integrity, and authentication — all three, end-to-end.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4" name="Shape 15"/>
          <p:cNvSpPr/>
          <p:nvPr/>
        </p:nvSpPr>
        <p:spPr>
          <a:xfrm>
            <a:off x="8275320" y="4851000"/>
            <a:ext cx="164160" cy="453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5" name="Shape 16"/>
          <p:cNvSpPr/>
          <p:nvPr/>
        </p:nvSpPr>
        <p:spPr>
          <a:xfrm>
            <a:off x="8503920" y="4851000"/>
            <a:ext cx="365400" cy="45360"/>
          </a:xfrm>
          <a:prstGeom prst="rect">
            <a:avLst/>
          </a:prstGeom>
          <a:solidFill>
            <a:srgbClr val="14B8A6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Text 17"/>
          <p:cNvSpPr/>
          <p:nvPr/>
        </p:nvSpPr>
        <p:spPr>
          <a:xfrm>
            <a:off x="6400800" y="47595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 spc="201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CHACHA20-POLY1305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7" name="Text 18"/>
          <p:cNvSpPr/>
          <p:nvPr/>
        </p:nvSpPr>
        <p:spPr>
          <a:xfrm>
            <a:off x="365760" y="47595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99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29 / 32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Shape 0"/>
          <p:cNvSpPr/>
          <p:nvPr/>
        </p:nvSpPr>
        <p:spPr>
          <a:xfrm>
            <a:off x="457200" y="502920"/>
            <a:ext cx="164160" cy="1641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Text 1"/>
          <p:cNvSpPr/>
          <p:nvPr/>
        </p:nvSpPr>
        <p:spPr>
          <a:xfrm>
            <a:off x="713160" y="36576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Live Demo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Text 2"/>
          <p:cNvSpPr/>
          <p:nvPr/>
        </p:nvSpPr>
        <p:spPr>
          <a:xfrm>
            <a:off x="713160" y="86868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Two scripts. One sees plaintext. The other doesn't.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Shape 3"/>
          <p:cNvSpPr/>
          <p:nvPr/>
        </p:nvSpPr>
        <p:spPr>
          <a:xfrm>
            <a:off x="457200" y="1417320"/>
            <a:ext cx="4068720" cy="3245760"/>
          </a:xfrm>
          <a:prstGeom prst="rect">
            <a:avLst/>
          </a:prstGeom>
          <a:solidFill>
            <a:srgbClr val="0B1A2E"/>
          </a:solidFill>
          <a:ln w="0">
            <a:noFill/>
          </a:ln>
          <a:effectLst>
            <a:outerShdw blurRad="101520" dist="25560" dir="5400000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2" name="Shape 4"/>
          <p:cNvSpPr/>
          <p:nvPr/>
        </p:nvSpPr>
        <p:spPr>
          <a:xfrm>
            <a:off x="457200" y="1417320"/>
            <a:ext cx="4068720" cy="411120"/>
          </a:xfrm>
          <a:prstGeom prst="rect">
            <a:avLst/>
          </a:prstGeom>
          <a:solidFill>
            <a:srgbClr val="F9706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33" name="Image 0" descr="preencoded.png"/>
          <p:cNvPicPr/>
          <p:nvPr/>
        </p:nvPicPr>
        <p:blipFill>
          <a:blip r:embed="rId3"/>
          <a:stretch/>
        </p:blipFill>
        <p:spPr>
          <a:xfrm>
            <a:off x="640080" y="14860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4" name="Text 5"/>
          <p:cNvSpPr/>
          <p:nvPr/>
        </p:nvSpPr>
        <p:spPr>
          <a:xfrm>
            <a:off x="1005840" y="1417320"/>
            <a:ext cx="33829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30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WITHOUT ENCRYPTION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Text 6"/>
          <p:cNvSpPr/>
          <p:nvPr/>
        </p:nvSpPr>
        <p:spPr>
          <a:xfrm>
            <a:off x="685800" y="2286000"/>
            <a:ext cx="273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4B8A6"/>
                </a:solidFill>
                <a:effectLst/>
                <a:uFillTx/>
                <a:latin typeface="Consolas"/>
                <a:ea typeface="Consolas"/>
              </a:rPr>
              <a:t>$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Text 7"/>
          <p:cNvSpPr/>
          <p:nvPr/>
        </p:nvSpPr>
        <p:spPr>
          <a:xfrm>
            <a:off x="960120" y="2286000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8EEF7"/>
                </a:solidFill>
                <a:effectLst/>
                <a:uFillTx/>
                <a:latin typeface="Consolas"/>
                <a:ea typeface="Consolas"/>
              </a:rPr>
              <a:t>./runDecrypted. 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Shape 8"/>
          <p:cNvSpPr/>
          <p:nvPr/>
        </p:nvSpPr>
        <p:spPr>
          <a:xfrm>
            <a:off x="685800" y="3108960"/>
            <a:ext cx="3611880" cy="360"/>
          </a:xfrm>
          <a:prstGeom prst="line">
            <a:avLst/>
          </a:prstGeom>
          <a:ln w="936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Text 9"/>
          <p:cNvSpPr/>
          <p:nvPr/>
        </p:nvSpPr>
        <p:spPr>
          <a:xfrm>
            <a:off x="685800" y="3246120"/>
            <a:ext cx="3611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400">
                <a:solidFill>
                  <a:srgbClr val="F97066"/>
                </a:solidFill>
                <a:effectLst/>
                <a:uFillTx/>
                <a:latin typeface="Calibri"/>
                <a:ea typeface="Calibri"/>
              </a:rPr>
              <a:t>WATCH FOR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9" name="Text 10"/>
          <p:cNvSpPr/>
          <p:nvPr/>
        </p:nvSpPr>
        <p:spPr>
          <a:xfrm>
            <a:off x="685800" y="3520440"/>
            <a:ext cx="361152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E8EEF7"/>
                </a:solidFill>
                <a:effectLst/>
                <a:uFillTx/>
                <a:latin typeface="Calibri"/>
                <a:ea typeface="Calibri"/>
              </a:rPr>
              <a:t>Watch: server logs show every keystroke as plaintext.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Shape 11"/>
          <p:cNvSpPr/>
          <p:nvPr/>
        </p:nvSpPr>
        <p:spPr>
          <a:xfrm>
            <a:off x="4617720" y="1417320"/>
            <a:ext cx="4068720" cy="3245760"/>
          </a:xfrm>
          <a:prstGeom prst="rect">
            <a:avLst/>
          </a:prstGeom>
          <a:solidFill>
            <a:srgbClr val="0B1A2E"/>
          </a:solidFill>
          <a:ln w="0">
            <a:noFill/>
          </a:ln>
          <a:effectLst>
            <a:outerShdw blurRad="101520" dist="25560" dir="5400000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1" name="Shape 12"/>
          <p:cNvSpPr/>
          <p:nvPr/>
        </p:nvSpPr>
        <p:spPr>
          <a:xfrm>
            <a:off x="4617720" y="1417320"/>
            <a:ext cx="4068720" cy="41112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2" name="Image 1" descr="preencoded.png"/>
          <p:cNvPicPr/>
          <p:nvPr/>
        </p:nvPicPr>
        <p:blipFill>
          <a:blip r:embed="rId4"/>
          <a:stretch/>
        </p:blipFill>
        <p:spPr>
          <a:xfrm>
            <a:off x="4800600" y="14860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3" name="Text 13"/>
          <p:cNvSpPr/>
          <p:nvPr/>
        </p:nvSpPr>
        <p:spPr>
          <a:xfrm>
            <a:off x="5166360" y="1417320"/>
            <a:ext cx="33829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30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WITH ENCRYPTION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4" name="Text 14"/>
          <p:cNvSpPr/>
          <p:nvPr/>
        </p:nvSpPr>
        <p:spPr>
          <a:xfrm>
            <a:off x="4846320" y="2286000"/>
            <a:ext cx="273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4B8A6"/>
                </a:solidFill>
                <a:effectLst/>
                <a:uFillTx/>
                <a:latin typeface="Consolas"/>
                <a:ea typeface="Consolas"/>
              </a:rPr>
              <a:t>$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5" name="Text 15"/>
          <p:cNvSpPr/>
          <p:nvPr/>
        </p:nvSpPr>
        <p:spPr>
          <a:xfrm>
            <a:off x="5120640" y="2286000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8EEF7"/>
                </a:solidFill>
                <a:effectLst/>
                <a:uFillTx/>
                <a:latin typeface="Consolas"/>
                <a:ea typeface="Consolas"/>
              </a:rPr>
              <a:t>./runEncrypted. 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Shape 16"/>
          <p:cNvSpPr/>
          <p:nvPr/>
        </p:nvSpPr>
        <p:spPr>
          <a:xfrm>
            <a:off x="4846320" y="3108960"/>
            <a:ext cx="3611880" cy="360"/>
          </a:xfrm>
          <a:prstGeom prst="line">
            <a:avLst/>
          </a:prstGeom>
          <a:ln w="936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Text 17"/>
          <p:cNvSpPr/>
          <p:nvPr/>
        </p:nvSpPr>
        <p:spPr>
          <a:xfrm>
            <a:off x="4846320" y="3246120"/>
            <a:ext cx="3611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400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WATCH FOR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8" name="Text 18"/>
          <p:cNvSpPr/>
          <p:nvPr/>
        </p:nvSpPr>
        <p:spPr>
          <a:xfrm>
            <a:off x="4846320" y="3520440"/>
            <a:ext cx="361152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E8EEF7"/>
                </a:solidFill>
                <a:effectLst/>
                <a:uFillTx/>
                <a:latin typeface="Calibri"/>
                <a:ea typeface="Calibri"/>
              </a:rPr>
              <a:t>Watch: server logs show only opaque ciphertext bytes.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Shape 19"/>
          <p:cNvSpPr/>
          <p:nvPr/>
        </p:nvSpPr>
        <p:spPr>
          <a:xfrm>
            <a:off x="8275320" y="4851000"/>
            <a:ext cx="164160" cy="45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0" name="Shape 20"/>
          <p:cNvSpPr/>
          <p:nvPr/>
        </p:nvSpPr>
        <p:spPr>
          <a:xfrm>
            <a:off x="8503920" y="4851000"/>
            <a:ext cx="365400" cy="45360"/>
          </a:xfrm>
          <a:prstGeom prst="rect">
            <a:avLst/>
          </a:prstGeom>
          <a:solidFill>
            <a:srgbClr val="0D9488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1" name="Text 21"/>
          <p:cNvSpPr/>
          <p:nvPr/>
        </p:nvSpPr>
        <p:spPr>
          <a:xfrm>
            <a:off x="6400800" y="47595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 spc="201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CHACHA20-POLY1305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2" name="Text 22"/>
          <p:cNvSpPr/>
          <p:nvPr/>
        </p:nvSpPr>
        <p:spPr>
          <a:xfrm>
            <a:off x="365760" y="47595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99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30 / 32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Shape 0"/>
          <p:cNvSpPr/>
          <p:nvPr/>
        </p:nvSpPr>
        <p:spPr>
          <a:xfrm>
            <a:off x="457200" y="502920"/>
            <a:ext cx="164160" cy="1641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Text 1"/>
          <p:cNvSpPr/>
          <p:nvPr/>
        </p:nvSpPr>
        <p:spPr>
          <a:xfrm>
            <a:off x="713160" y="36576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B1A2E"/>
                </a:solidFill>
                <a:effectLst/>
                <a:uFillTx/>
                <a:latin typeface="Georgia"/>
                <a:ea typeface="Georgia"/>
              </a:rPr>
              <a:t>Sources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5" name="Text 2"/>
          <p:cNvSpPr/>
          <p:nvPr/>
        </p:nvSpPr>
        <p:spPr>
          <a:xfrm>
            <a:off x="713160" y="86868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Standards, papers, and references used in this project.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Shape 3"/>
          <p:cNvSpPr/>
          <p:nvPr/>
        </p:nvSpPr>
        <p:spPr>
          <a:xfrm>
            <a:off x="457200" y="1417320"/>
            <a:ext cx="822924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Shape 4"/>
          <p:cNvSpPr/>
          <p:nvPr/>
        </p:nvSpPr>
        <p:spPr>
          <a:xfrm>
            <a:off x="457200" y="1417320"/>
            <a:ext cx="54360" cy="5025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Text 5"/>
          <p:cNvSpPr/>
          <p:nvPr/>
        </p:nvSpPr>
        <p:spPr>
          <a:xfrm>
            <a:off x="640080" y="141732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1A2E"/>
                </a:solidFill>
                <a:effectLst/>
                <a:uFillTx/>
                <a:latin typeface="Calibri"/>
                <a:ea typeface="Calibri"/>
              </a:rPr>
              <a:t>Bernstein, D. J.</a:t>
            </a: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lang="en-US" sz="1050" b="0" i="1" u="none" strike="noStrike">
                <a:solidFill>
                  <a:srgbClr val="0B1A2E"/>
                </a:solidFill>
                <a:effectLst/>
                <a:uFillTx/>
                <a:latin typeface="Calibri"/>
                <a:ea typeface="Calibri"/>
              </a:rPr>
              <a:t>ChaCha, a variant of Salsa20</a:t>
            </a: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.  2008</a:t>
            </a:r>
            <a:r>
              <a:rPr lang="en-US" sz="1050" b="0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  •  cr.yp.to/chacha.html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Shape 6"/>
          <p:cNvSpPr/>
          <p:nvPr/>
        </p:nvSpPr>
        <p:spPr>
          <a:xfrm>
            <a:off x="457200" y="1984320"/>
            <a:ext cx="822924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Shape 7"/>
          <p:cNvSpPr/>
          <p:nvPr/>
        </p:nvSpPr>
        <p:spPr>
          <a:xfrm>
            <a:off x="457200" y="1984320"/>
            <a:ext cx="54360" cy="5025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Text 8"/>
          <p:cNvSpPr/>
          <p:nvPr/>
        </p:nvSpPr>
        <p:spPr>
          <a:xfrm>
            <a:off x="640080" y="198432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1A2E"/>
                </a:solidFill>
                <a:effectLst/>
                <a:uFillTx/>
                <a:latin typeface="Calibri"/>
                <a:ea typeface="Calibri"/>
              </a:rPr>
              <a:t>Bernstein, D. J.</a:t>
            </a: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lang="en-US" sz="1050" b="0" i="1" u="none" strike="noStrike">
                <a:solidFill>
                  <a:srgbClr val="0B1A2E"/>
                </a:solidFill>
                <a:effectLst/>
                <a:uFillTx/>
                <a:latin typeface="Calibri"/>
                <a:ea typeface="Calibri"/>
              </a:rPr>
              <a:t>The Poly1305-AES message-authentication code</a:t>
            </a: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.  FSE 2005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Shape 9"/>
          <p:cNvSpPr/>
          <p:nvPr/>
        </p:nvSpPr>
        <p:spPr>
          <a:xfrm>
            <a:off x="457200" y="2551320"/>
            <a:ext cx="822924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Shape 10"/>
          <p:cNvSpPr/>
          <p:nvPr/>
        </p:nvSpPr>
        <p:spPr>
          <a:xfrm>
            <a:off x="457200" y="2551320"/>
            <a:ext cx="54360" cy="5025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Text 11"/>
          <p:cNvSpPr/>
          <p:nvPr/>
        </p:nvSpPr>
        <p:spPr>
          <a:xfrm>
            <a:off x="640080" y="255132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1A2E"/>
                </a:solidFill>
                <a:effectLst/>
                <a:uFillTx/>
                <a:latin typeface="Calibri"/>
                <a:ea typeface="Calibri"/>
              </a:rPr>
              <a:t>Nir, Y., &amp; Langley, A.</a:t>
            </a: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lang="en-US" sz="1050" b="0" i="1" u="none" strike="noStrike">
                <a:solidFill>
                  <a:srgbClr val="0B1A2E"/>
                </a:solidFill>
                <a:effectLst/>
                <a:uFillTx/>
                <a:latin typeface="Calibri"/>
                <a:ea typeface="Calibri"/>
              </a:rPr>
              <a:t>ChaCha20 and Poly1305 for IETF Protocols</a:t>
            </a: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.  RFC 8439, 2018</a:t>
            </a:r>
            <a:r>
              <a:rPr lang="en-US" sz="1050" b="0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  •  rfc-editor.org/rfc/rfc8439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Shape 12"/>
          <p:cNvSpPr/>
          <p:nvPr/>
        </p:nvSpPr>
        <p:spPr>
          <a:xfrm>
            <a:off x="457200" y="3117960"/>
            <a:ext cx="822924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Shape 13"/>
          <p:cNvSpPr/>
          <p:nvPr/>
        </p:nvSpPr>
        <p:spPr>
          <a:xfrm>
            <a:off x="457200" y="3117960"/>
            <a:ext cx="54360" cy="5025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Text 14"/>
          <p:cNvSpPr/>
          <p:nvPr/>
        </p:nvSpPr>
        <p:spPr>
          <a:xfrm>
            <a:off x="640080" y="311796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1A2E"/>
                </a:solidFill>
                <a:effectLst/>
                <a:uFillTx/>
                <a:latin typeface="Calibri"/>
                <a:ea typeface="Calibri"/>
              </a:rPr>
              <a:t>Langley, A., et al.</a:t>
            </a: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lang="en-US" sz="1050" b="0" i="1" u="none" strike="noStrike">
                <a:solidFill>
                  <a:srgbClr val="0B1A2E"/>
                </a:solidFill>
                <a:effectLst/>
                <a:uFillTx/>
                <a:latin typeface="Calibri"/>
                <a:ea typeface="Calibri"/>
              </a:rPr>
              <a:t>ChaCha20-Poly1305 Cipher Suites for TLS</a:t>
            </a: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.  RFC 7905, 2016</a:t>
            </a:r>
            <a:r>
              <a:rPr lang="en-US" sz="1050" b="0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  •  rfc-editor.org/rfc/rfc7905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Shape 15"/>
          <p:cNvSpPr/>
          <p:nvPr/>
        </p:nvSpPr>
        <p:spPr>
          <a:xfrm>
            <a:off x="457200" y="3684960"/>
            <a:ext cx="822924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Shape 16"/>
          <p:cNvSpPr/>
          <p:nvPr/>
        </p:nvSpPr>
        <p:spPr>
          <a:xfrm>
            <a:off x="457200" y="3684960"/>
            <a:ext cx="54360" cy="5025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0" name="Text 17"/>
          <p:cNvSpPr/>
          <p:nvPr/>
        </p:nvSpPr>
        <p:spPr>
          <a:xfrm>
            <a:off x="640080" y="368496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1A2E"/>
                </a:solidFill>
                <a:effectLst/>
                <a:uFillTx/>
                <a:latin typeface="Calibri"/>
                <a:ea typeface="Calibri"/>
              </a:rPr>
              <a:t>Procter, G.</a:t>
            </a: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lang="en-US" sz="1050" b="0" i="1" u="none" strike="noStrike">
                <a:solidFill>
                  <a:srgbClr val="0B1A2E"/>
                </a:solidFill>
                <a:effectLst/>
                <a:uFillTx/>
                <a:latin typeface="Calibri"/>
                <a:ea typeface="Calibri"/>
              </a:rPr>
              <a:t>A Security Analysis of the Composition of ChaCha20 and Poly1305</a:t>
            </a: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.  Cryptology ePrint, 2014</a:t>
            </a:r>
            <a:r>
              <a:rPr lang="en-US" sz="1050" b="0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  •  eprint.iacr.org/2014/613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Shape 18"/>
          <p:cNvSpPr/>
          <p:nvPr/>
        </p:nvSpPr>
        <p:spPr>
          <a:xfrm>
            <a:off x="457200" y="4251960"/>
            <a:ext cx="822924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Shape 19"/>
          <p:cNvSpPr/>
          <p:nvPr/>
        </p:nvSpPr>
        <p:spPr>
          <a:xfrm>
            <a:off x="457200" y="4251960"/>
            <a:ext cx="54360" cy="5025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Text 20"/>
          <p:cNvSpPr/>
          <p:nvPr/>
        </p:nvSpPr>
        <p:spPr>
          <a:xfrm>
            <a:off x="640080" y="425196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1A2E"/>
                </a:solidFill>
                <a:effectLst/>
                <a:uFillTx/>
                <a:latin typeface="Calibri"/>
                <a:ea typeface="Calibri"/>
              </a:rPr>
              <a:t>Vaillant, L.</a:t>
            </a: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lang="en-US" sz="1050" b="0" i="1" u="none" strike="noStrike">
                <a:solidFill>
                  <a:srgbClr val="0B1A2E"/>
                </a:solidFill>
                <a:effectLst/>
                <a:uFillTx/>
                <a:latin typeface="Calibri"/>
                <a:ea typeface="Calibri"/>
              </a:rPr>
              <a:t>The design of ChaCha20</a:t>
            </a:r>
            <a:r>
              <a:rPr lang="en-US" sz="1050" b="0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  •  loup-vaillant.fr/tutorials/chacha20-design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Shape 21"/>
          <p:cNvSpPr/>
          <p:nvPr/>
        </p:nvSpPr>
        <p:spPr>
          <a:xfrm>
            <a:off x="8275320" y="4851000"/>
            <a:ext cx="164160" cy="45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5" name="Shape 22"/>
          <p:cNvSpPr/>
          <p:nvPr/>
        </p:nvSpPr>
        <p:spPr>
          <a:xfrm>
            <a:off x="8503920" y="4851000"/>
            <a:ext cx="365400" cy="45360"/>
          </a:xfrm>
          <a:prstGeom prst="rect">
            <a:avLst/>
          </a:prstGeom>
          <a:solidFill>
            <a:srgbClr val="0D9488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6" name="Text 23"/>
          <p:cNvSpPr/>
          <p:nvPr/>
        </p:nvSpPr>
        <p:spPr>
          <a:xfrm>
            <a:off x="6400800" y="47595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 spc="201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CHACHA20-POLY1305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Text 24"/>
          <p:cNvSpPr/>
          <p:nvPr/>
        </p:nvSpPr>
        <p:spPr>
          <a:xfrm>
            <a:off x="365760" y="47595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99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32 / 32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Shape 0"/>
          <p:cNvSpPr/>
          <p:nvPr/>
        </p:nvSpPr>
        <p:spPr>
          <a:xfrm>
            <a:off x="-1828800" y="-1828800"/>
            <a:ext cx="5486040" cy="5486040"/>
          </a:xfrm>
          <a:prstGeom prst="ellipse">
            <a:avLst/>
          </a:prstGeom>
          <a:solidFill>
            <a:srgbClr val="14B8A6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Shape 1"/>
          <p:cNvSpPr/>
          <p:nvPr/>
        </p:nvSpPr>
        <p:spPr>
          <a:xfrm>
            <a:off x="6400800" y="3200400"/>
            <a:ext cx="4571640" cy="4571640"/>
          </a:xfrm>
          <a:prstGeom prst="ellipse">
            <a:avLst/>
          </a:prstGeom>
          <a:solidFill>
            <a:srgbClr val="8B5CF6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0" name="Text 2"/>
          <p:cNvSpPr/>
          <p:nvPr/>
        </p:nvSpPr>
        <p:spPr>
          <a:xfrm>
            <a:off x="0" y="1828800"/>
            <a:ext cx="914364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0" b="1" u="none" strike="noStrike">
                <a:solidFill>
                  <a:srgbClr val="E8EEF7"/>
                </a:solidFill>
                <a:effectLst/>
                <a:uFillTx/>
                <a:latin typeface="Georgia"/>
                <a:ea typeface="Georgia"/>
              </a:rPr>
              <a:t>Questions?</a:t>
            </a:r>
            <a:endParaRPr lang="en-U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1" name="Shape 3"/>
          <p:cNvSpPr/>
          <p:nvPr/>
        </p:nvSpPr>
        <p:spPr>
          <a:xfrm>
            <a:off x="4297680" y="3200400"/>
            <a:ext cx="548280" cy="453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Text 4"/>
          <p:cNvSpPr/>
          <p:nvPr/>
        </p:nvSpPr>
        <p:spPr>
          <a:xfrm>
            <a:off x="0" y="338328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Maddie  •  Lei  •  Aidan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3" name="Text 5"/>
          <p:cNvSpPr/>
          <p:nvPr/>
        </p:nvSpPr>
        <p:spPr>
          <a:xfrm>
            <a:off x="0" y="384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4" name="Shape 6"/>
          <p:cNvSpPr/>
          <p:nvPr/>
        </p:nvSpPr>
        <p:spPr>
          <a:xfrm>
            <a:off x="8275320" y="4851000"/>
            <a:ext cx="164160" cy="45360"/>
          </a:xfrm>
          <a:prstGeom prst="rect">
            <a:avLst/>
          </a:prstGeom>
          <a:solidFill>
            <a:srgbClr val="14B8A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Shape 7"/>
          <p:cNvSpPr/>
          <p:nvPr/>
        </p:nvSpPr>
        <p:spPr>
          <a:xfrm>
            <a:off x="8503920" y="4851000"/>
            <a:ext cx="365400" cy="45360"/>
          </a:xfrm>
          <a:prstGeom prst="rect">
            <a:avLst/>
          </a:prstGeom>
          <a:solidFill>
            <a:srgbClr val="14B8A6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Text 8"/>
          <p:cNvSpPr/>
          <p:nvPr/>
        </p:nvSpPr>
        <p:spPr>
          <a:xfrm>
            <a:off x="6400800" y="47595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 spc="201">
                <a:solidFill>
                  <a:srgbClr val="94A3B8"/>
                </a:solidFill>
                <a:effectLst/>
                <a:uFillTx/>
                <a:latin typeface="Calibri"/>
                <a:ea typeface="Calibri"/>
              </a:rPr>
              <a:t>CHACHA20-POLY1305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2731</TotalTime>
  <Words>2745</Words>
  <Application>Microsoft Office PowerPoint</Application>
  <PresentationFormat>On-screen Show (16:9)</PresentationFormat>
  <Paragraphs>563</Paragraphs>
  <Slides>32</Slides>
  <Notes>32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Danl Pierce</cp:lastModifiedBy>
  <cp:revision>2</cp:revision>
  <dcterms:modified xsi:type="dcterms:W3CDTF">2026-05-10T20:19:24Z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2026-05-04T21:56:48Z</dcterms:created>
  <dc:creator>Maddie, Lei, &amp; Aidan</dc:creator>
  <dc:description/>
  <dc:language>en-US</dc:language>
  <cp:lastModifiedBy/>
  <dcterms:modified xsi:type="dcterms:W3CDTF">2026-05-05T08:46:23Z</dcterms:modified>
  <cp:revision>5</cp:revision>
  <dc:subject>PptxGenJS Presentation</dc:subject>
  <dc:title>ChaCha20-Poly1305 Encrypted Chat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32</vt:r8>
  </property>
  <property fmtid="{D5CDD505-2E9C-101B-9397-08002B2CF9AE}" pid="3" name="PresentationFormat">
    <vt:lpwstr>On-screen Show (16:9)</vt:lpwstr>
  </property>
  <property fmtid="{D5CDD505-2E9C-101B-9397-08002B2CF9AE}" pid="4" name="Slides">
    <vt:r8>32</vt:r8>
  </property>
</Properties>
</file>