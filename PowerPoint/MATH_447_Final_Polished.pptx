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29.xml" ContentType="application/vnd.openxmlformats-officedocument.presentationml.slide+xml"/>
  <Override PartName="/ppt/slides/slide18.xml" ContentType="application/vnd.openxmlformats-officedocument.presentationml.slide+xml"/>
  <Override PartName="/ppt/slides/slide5.xml" ContentType="application/vnd.openxmlformats-officedocument.presentationml.slide+xml"/>
  <Override PartName="/ppt/slides/slide24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slides/slide19.xml" ContentType="application/vnd.openxmlformats-officedocument.presentationml.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28.xml" ContentType="application/vnd.openxmlformats-officedocument.presentationml.slide+xml"/>
  <Override PartName="/ppt/slides/slide12.xml" ContentType="application/vnd.openxmlformats-officedocument.presentationml.slide+xml"/>
  <Override PartName="/ppt/slides/slide27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26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23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notesSlides/notesSlide2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012750AB-9416-4E6B-B164-F23A8C6C3C40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9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1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C494046-C776-49A5-A7FB-582DA2809DC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9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4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53DEDD1-57B2-4136-84C6-77E6CE5D6D4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9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7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B9D2754-D542-4430-BC9E-63FC374A832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9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0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D53E39D-38B4-4F48-A033-233DE5AF2A5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9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3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FBD7A0C-F411-4F0C-B1D4-0D191D61B60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9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6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7BE9805-A689-4E7D-B449-A6545D3B353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9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9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AE0E7C1-FFEA-41D5-8228-5CE3B393820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9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2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B7191FB-A46F-4E0C-B10E-FB38B0BA434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9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5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82E4092-ACBA-4C4F-BF0B-B3B017D4E83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9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8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A53E6CC-C6DA-45E7-AD4A-6E67573974F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9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1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7BDF835-406E-4BB8-9AEE-753C532A12D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9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4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657EC95-6D57-40E5-BBD6-285E64F705C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9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7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51E48E6-51CD-4154-A31B-00F1CC82C4B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9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0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F6868B7-B195-410D-8906-1568A0CDB8C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3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E091A69-2AEA-432A-812C-57B02BBEED9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6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248F2E9-4102-433A-B336-817E03FFFF7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9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BCE1E01-2FE8-41B5-A61B-5D2CBFA9744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2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38DB8CA-4234-4811-B888-B12013A329C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5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D054A5F-8C51-4297-8850-2721A5B3BCA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8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4FF12FC-855F-4CAD-99CD-0FC7661BA2B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1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B98D3AC-1DA7-4706-A264-717183E685F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4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B601BE0-B91C-4E9F-B00A-D44CF995CE6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7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3389A6C-013D-4AF0-9390-B00020655A5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0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3C374F2-7199-4BA3-A45F-09474DBA0E1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3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EA3CD75-0920-485C-80B5-FF146B032AC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6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E1F58C5-DD44-451D-93C8-58331F9D4AB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9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6733B79-EF21-425E-9180-B615E935A0C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2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5E35A42-8CBF-4594-93F7-D8A45AE25B7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5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AA86BBF-35BC-4A00-8C77-DC7271428B8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8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924045F-790B-4042-9CFC-1455E517ABF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10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1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89B2187-F430-4F02-8646-406C8235CDC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496800"/>
            <a:ext cx="82285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10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5.png"/><Relationship Id="rId3" Type="http://schemas.openxmlformats.org/officeDocument/2006/relationships/image" Target="../media/image1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0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10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10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10.png"/><Relationship Id="rId3" Type="http://schemas.openxmlformats.org/officeDocument/2006/relationships/image" Target="../media/image5.png"/><Relationship Id="rId4" Type="http://schemas.openxmlformats.org/officeDocument/2006/relationships/image" Target="../media/image2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3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9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0"/>
          <p:cNvSpPr/>
          <p:nvPr/>
        </p:nvSpPr>
        <p:spPr>
          <a:xfrm>
            <a:off x="-2286000" y="-1828800"/>
            <a:ext cx="5485320" cy="5485320"/>
          </a:xfrm>
          <a:prstGeom prst="ellipse">
            <a:avLst/>
          </a:prstGeom>
          <a:solidFill>
            <a:srgbClr val="14b8a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" name="Shape 1"/>
          <p:cNvSpPr/>
          <p:nvPr/>
        </p:nvSpPr>
        <p:spPr>
          <a:xfrm>
            <a:off x="-914400" y="-914400"/>
            <a:ext cx="3656520" cy="3656520"/>
          </a:xfrm>
          <a:prstGeom prst="ellipse">
            <a:avLst/>
          </a:prstGeom>
          <a:solidFill>
            <a:srgbClr val="14b8a6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" name="Shape 2"/>
          <p:cNvSpPr/>
          <p:nvPr/>
        </p:nvSpPr>
        <p:spPr>
          <a:xfrm>
            <a:off x="6858000" y="3200400"/>
            <a:ext cx="3656520" cy="3656520"/>
          </a:xfrm>
          <a:prstGeom prst="ellipse">
            <a:avLst/>
          </a:prstGeom>
          <a:solidFill>
            <a:srgbClr val="8b5cf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" name="Shape 3"/>
          <p:cNvSpPr/>
          <p:nvPr/>
        </p:nvSpPr>
        <p:spPr>
          <a:xfrm>
            <a:off x="7772400" y="4114800"/>
            <a:ext cx="2284920" cy="2284920"/>
          </a:xfrm>
          <a:prstGeom prst="ellipse">
            <a:avLst/>
          </a:prstGeom>
          <a:solidFill>
            <a:srgbClr val="8b5cf6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" name="Text 4"/>
          <p:cNvSpPr/>
          <p:nvPr/>
        </p:nvSpPr>
        <p:spPr>
          <a:xfrm>
            <a:off x="640080" y="1188720"/>
            <a:ext cx="7314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pc="601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MATH 447  •  FINAL PRESENTATION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5"/>
          <p:cNvSpPr/>
          <p:nvPr/>
        </p:nvSpPr>
        <p:spPr>
          <a:xfrm>
            <a:off x="640080" y="1554480"/>
            <a:ext cx="822852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54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ChaCha20-Poly1305</a:t>
            </a:r>
            <a:endParaRPr lang="en-US" sz="5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6"/>
          <p:cNvSpPr/>
          <p:nvPr/>
        </p:nvSpPr>
        <p:spPr>
          <a:xfrm>
            <a:off x="640080" y="2423160"/>
            <a:ext cx="822852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800" b="0" i="1" u="none" strike="noStrike">
                <a:solidFill>
                  <a:srgbClr val="14b8a6"/>
                </a:solidFill>
                <a:effectLst/>
                <a:uFillTx/>
                <a:latin typeface="Georgia"/>
                <a:ea typeface="Georgia"/>
              </a:rPr>
              <a:t>Encrypted Chat</a:t>
            </a:r>
            <a:endParaRPr lang="en-US" sz="3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7"/>
          <p:cNvSpPr/>
          <p:nvPr/>
        </p:nvSpPr>
        <p:spPr>
          <a:xfrm>
            <a:off x="658440" y="3383280"/>
            <a:ext cx="456120" cy="356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0" name="Text 8"/>
          <p:cNvSpPr/>
          <p:nvPr/>
        </p:nvSpPr>
        <p:spPr>
          <a:xfrm>
            <a:off x="640080" y="3520440"/>
            <a:ext cx="73141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Maddie  •  Lei  •  Aidan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" name="Image 0" descr="preencoded.png"/>
          <p:cNvPicPr/>
          <p:nvPr/>
        </p:nvPicPr>
        <p:blipFill>
          <a:blip r:embed="rId1"/>
          <a:stretch/>
        </p:blipFill>
        <p:spPr>
          <a:xfrm>
            <a:off x="658440" y="4114800"/>
            <a:ext cx="291600" cy="291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" name="Text 9"/>
          <p:cNvSpPr/>
          <p:nvPr/>
        </p:nvSpPr>
        <p:spPr>
          <a:xfrm>
            <a:off x="1051560" y="4114800"/>
            <a:ext cx="639972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i="1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Authenticated encryption for real-time messaging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10"/>
          <p:cNvSpPr/>
          <p:nvPr/>
        </p:nvSpPr>
        <p:spPr>
          <a:xfrm>
            <a:off x="8275320" y="4851000"/>
            <a:ext cx="163440" cy="446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" name="Shape 11"/>
          <p:cNvSpPr/>
          <p:nvPr/>
        </p:nvSpPr>
        <p:spPr>
          <a:xfrm>
            <a:off x="8503920" y="4851000"/>
            <a:ext cx="364680" cy="44640"/>
          </a:xfrm>
          <a:prstGeom prst="rect">
            <a:avLst/>
          </a:prstGeom>
          <a:solidFill>
            <a:srgbClr val="14b8a6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" name="Text 12"/>
          <p:cNvSpPr/>
          <p:nvPr/>
        </p:nvSpPr>
        <p:spPr>
          <a:xfrm>
            <a:off x="6400800" y="4759560"/>
            <a:ext cx="17820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0"/>
          <p:cNvSpPr/>
          <p:nvPr/>
        </p:nvSpPr>
        <p:spPr>
          <a:xfrm>
            <a:off x="457200" y="502920"/>
            <a:ext cx="163440" cy="1634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" name="Text 1"/>
          <p:cNvSpPr/>
          <p:nvPr/>
        </p:nvSpPr>
        <p:spPr>
          <a:xfrm>
            <a:off x="713160" y="365760"/>
            <a:ext cx="79542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What is end-to-end encryption?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2"/>
          <p:cNvSpPr/>
          <p:nvPr/>
        </p:nvSpPr>
        <p:spPr>
          <a:xfrm>
            <a:off x="713160" y="868680"/>
            <a:ext cx="79542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Only the sender and the receiver can read the message — nobody in between.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3"/>
          <p:cNvSpPr/>
          <p:nvPr/>
        </p:nvSpPr>
        <p:spPr>
          <a:xfrm>
            <a:off x="457200" y="1417320"/>
            <a:ext cx="4022280" cy="319932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0" name="Shape 4"/>
          <p:cNvSpPr/>
          <p:nvPr/>
        </p:nvSpPr>
        <p:spPr>
          <a:xfrm>
            <a:off x="457200" y="1417320"/>
            <a:ext cx="53640" cy="319932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31" name="Image 0" descr="preencoded.png"/>
          <p:cNvPicPr/>
          <p:nvPr/>
        </p:nvPicPr>
        <p:blipFill>
          <a:blip r:embed="rId1"/>
          <a:stretch/>
        </p:blipFill>
        <p:spPr>
          <a:xfrm>
            <a:off x="713160" y="1627560"/>
            <a:ext cx="456120" cy="456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" name="Text 5"/>
          <p:cNvSpPr/>
          <p:nvPr/>
        </p:nvSpPr>
        <p:spPr>
          <a:xfrm>
            <a:off x="1280160" y="1627560"/>
            <a:ext cx="310788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The core idea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6"/>
          <p:cNvSpPr/>
          <p:nvPr/>
        </p:nvSpPr>
        <p:spPr>
          <a:xfrm>
            <a:off x="713160" y="2240280"/>
            <a:ext cx="3656520" cy="228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en-US" sz="13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Messages are encrypted on the </a:t>
            </a: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sender's device</a:t>
            </a:r>
            <a:r>
              <a:rPr lang="en-US" sz="13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 and decrypted only on the </a:t>
            </a: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receiver's device</a:t>
            </a:r>
            <a:r>
              <a:rPr lang="en-US" sz="13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. The server only relays ciphertext — it cannot read the plaintext.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7"/>
          <p:cNvSpPr/>
          <p:nvPr/>
        </p:nvSpPr>
        <p:spPr>
          <a:xfrm>
            <a:off x="4754880" y="1417320"/>
            <a:ext cx="3930840" cy="68472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" name="Shape 8"/>
          <p:cNvSpPr/>
          <p:nvPr/>
        </p:nvSpPr>
        <p:spPr>
          <a:xfrm>
            <a:off x="4892040" y="1563480"/>
            <a:ext cx="383040" cy="383040"/>
          </a:xfrm>
          <a:prstGeom prst="ellipse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6" name="Text 9"/>
          <p:cNvSpPr/>
          <p:nvPr/>
        </p:nvSpPr>
        <p:spPr>
          <a:xfrm>
            <a:off x="4892040" y="1563480"/>
            <a:ext cx="38304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0"/>
          <p:cNvSpPr/>
          <p:nvPr/>
        </p:nvSpPr>
        <p:spPr>
          <a:xfrm>
            <a:off x="5440680" y="1417320"/>
            <a:ext cx="319932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User types a message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1"/>
          <p:cNvSpPr/>
          <p:nvPr/>
        </p:nvSpPr>
        <p:spPr>
          <a:xfrm>
            <a:off x="4754880" y="2258640"/>
            <a:ext cx="3930840" cy="68472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" name="Shape 12"/>
          <p:cNvSpPr/>
          <p:nvPr/>
        </p:nvSpPr>
        <p:spPr>
          <a:xfrm>
            <a:off x="4892040" y="2404800"/>
            <a:ext cx="383040" cy="383040"/>
          </a:xfrm>
          <a:prstGeom prst="ellipse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" name="Text 13"/>
          <p:cNvSpPr/>
          <p:nvPr/>
        </p:nvSpPr>
        <p:spPr>
          <a:xfrm>
            <a:off x="4892040" y="2404800"/>
            <a:ext cx="38304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4"/>
          <p:cNvSpPr/>
          <p:nvPr/>
        </p:nvSpPr>
        <p:spPr>
          <a:xfrm>
            <a:off x="5440680" y="2258640"/>
            <a:ext cx="319932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Encrypted on the client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5"/>
          <p:cNvSpPr/>
          <p:nvPr/>
        </p:nvSpPr>
        <p:spPr>
          <a:xfrm>
            <a:off x="4754880" y="3099960"/>
            <a:ext cx="3930840" cy="68472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3" name="Shape 16"/>
          <p:cNvSpPr/>
          <p:nvPr/>
        </p:nvSpPr>
        <p:spPr>
          <a:xfrm>
            <a:off x="4892040" y="3246120"/>
            <a:ext cx="383040" cy="383040"/>
          </a:xfrm>
          <a:prstGeom prst="ellipse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4" name="Text 17"/>
          <p:cNvSpPr/>
          <p:nvPr/>
        </p:nvSpPr>
        <p:spPr>
          <a:xfrm>
            <a:off x="4892040" y="3246120"/>
            <a:ext cx="38304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8"/>
          <p:cNvSpPr/>
          <p:nvPr/>
        </p:nvSpPr>
        <p:spPr>
          <a:xfrm>
            <a:off x="5440680" y="3099960"/>
            <a:ext cx="319932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Ciphertext relayed by server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19"/>
          <p:cNvSpPr/>
          <p:nvPr/>
        </p:nvSpPr>
        <p:spPr>
          <a:xfrm>
            <a:off x="4754880" y="3940920"/>
            <a:ext cx="3930840" cy="68472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7" name="Shape 20"/>
          <p:cNvSpPr/>
          <p:nvPr/>
        </p:nvSpPr>
        <p:spPr>
          <a:xfrm>
            <a:off x="4892040" y="4087440"/>
            <a:ext cx="383040" cy="383040"/>
          </a:xfrm>
          <a:prstGeom prst="ellipse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8" name="Text 21"/>
          <p:cNvSpPr/>
          <p:nvPr/>
        </p:nvSpPr>
        <p:spPr>
          <a:xfrm>
            <a:off x="4892040" y="4087440"/>
            <a:ext cx="38304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22"/>
          <p:cNvSpPr/>
          <p:nvPr/>
        </p:nvSpPr>
        <p:spPr>
          <a:xfrm>
            <a:off x="5440680" y="3940920"/>
            <a:ext cx="319932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Receiver decrypts on client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23"/>
          <p:cNvSpPr/>
          <p:nvPr/>
        </p:nvSpPr>
        <p:spPr>
          <a:xfrm>
            <a:off x="8275320" y="4851000"/>
            <a:ext cx="163440" cy="4464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1" name="Shape 24"/>
          <p:cNvSpPr/>
          <p:nvPr/>
        </p:nvSpPr>
        <p:spPr>
          <a:xfrm>
            <a:off x="8503920" y="4851000"/>
            <a:ext cx="364680" cy="4464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2" name="Text 25"/>
          <p:cNvSpPr/>
          <p:nvPr/>
        </p:nvSpPr>
        <p:spPr>
          <a:xfrm>
            <a:off x="6400800" y="4759560"/>
            <a:ext cx="17820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26"/>
          <p:cNvSpPr/>
          <p:nvPr/>
        </p:nvSpPr>
        <p:spPr>
          <a:xfrm>
            <a:off x="365760" y="4759560"/>
            <a:ext cx="9133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02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hape 0"/>
          <p:cNvSpPr/>
          <p:nvPr/>
        </p:nvSpPr>
        <p:spPr>
          <a:xfrm>
            <a:off x="457200" y="502920"/>
            <a:ext cx="163440" cy="1634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5" name="Text 1"/>
          <p:cNvSpPr/>
          <p:nvPr/>
        </p:nvSpPr>
        <p:spPr>
          <a:xfrm>
            <a:off x="713160" y="365760"/>
            <a:ext cx="79542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The Problem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2"/>
          <p:cNvSpPr/>
          <p:nvPr/>
        </p:nvSpPr>
        <p:spPr>
          <a:xfrm>
            <a:off x="713160" y="868680"/>
            <a:ext cx="79542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Plain TCP is easy. Securing it against real adversaries is not.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3"/>
          <p:cNvSpPr/>
          <p:nvPr/>
        </p:nvSpPr>
        <p:spPr>
          <a:xfrm>
            <a:off x="457200" y="1417320"/>
            <a:ext cx="3656520" cy="3199320"/>
          </a:xfrm>
          <a:prstGeom prst="rect">
            <a:avLst/>
          </a:prstGeom>
          <a:solidFill>
            <a:srgbClr val="f97066"/>
          </a:solidFill>
          <a:ln w="0">
            <a:noFill/>
          </a:ln>
          <a:effectLst>
            <a:outerShdw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8" name="Image 0" descr="preencoded.png"/>
          <p:cNvPicPr/>
          <p:nvPr/>
        </p:nvPicPr>
        <p:blipFill>
          <a:blip r:embed="rId1"/>
          <a:stretch/>
        </p:blipFill>
        <p:spPr>
          <a:xfrm>
            <a:off x="1554480" y="1691640"/>
            <a:ext cx="1461960" cy="1461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" name="Text 4"/>
          <p:cNvSpPr/>
          <p:nvPr/>
        </p:nvSpPr>
        <p:spPr>
          <a:xfrm>
            <a:off x="640080" y="3246120"/>
            <a:ext cx="32907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Without encryption,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5"/>
          <p:cNvSpPr/>
          <p:nvPr/>
        </p:nvSpPr>
        <p:spPr>
          <a:xfrm>
            <a:off x="640080" y="3611880"/>
            <a:ext cx="329076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anyone in the middle can read everything.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6"/>
          <p:cNvSpPr/>
          <p:nvPr/>
        </p:nvSpPr>
        <p:spPr>
          <a:xfrm>
            <a:off x="4434840" y="1417320"/>
            <a:ext cx="4250880" cy="71208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2" name="Shape 7"/>
          <p:cNvSpPr/>
          <p:nvPr/>
        </p:nvSpPr>
        <p:spPr>
          <a:xfrm>
            <a:off x="4434840" y="1417320"/>
            <a:ext cx="53640" cy="712080"/>
          </a:xfrm>
          <a:prstGeom prst="rect">
            <a:avLst/>
          </a:prstGeom>
          <a:solidFill>
            <a:srgbClr val="f970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3" name="Text 8"/>
          <p:cNvSpPr/>
          <p:nvPr/>
        </p:nvSpPr>
        <p:spPr>
          <a:xfrm>
            <a:off x="4572000" y="1472040"/>
            <a:ext cx="4022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Interception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9"/>
          <p:cNvSpPr/>
          <p:nvPr/>
        </p:nvSpPr>
        <p:spPr>
          <a:xfrm>
            <a:off x="4572000" y="1728360"/>
            <a:ext cx="402228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Messages can be captured by ISPs, network operators, or attackers on shared Wi-Fi.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10"/>
          <p:cNvSpPr/>
          <p:nvPr/>
        </p:nvSpPr>
        <p:spPr>
          <a:xfrm>
            <a:off x="4434840" y="2240280"/>
            <a:ext cx="4250880" cy="71208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6" name="Shape 11"/>
          <p:cNvSpPr/>
          <p:nvPr/>
        </p:nvSpPr>
        <p:spPr>
          <a:xfrm>
            <a:off x="4434840" y="2240280"/>
            <a:ext cx="53640" cy="712080"/>
          </a:xfrm>
          <a:prstGeom prst="rect">
            <a:avLst/>
          </a:prstGeom>
          <a:solidFill>
            <a:srgbClr val="f5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7" name="Text 12"/>
          <p:cNvSpPr/>
          <p:nvPr/>
        </p:nvSpPr>
        <p:spPr>
          <a:xfrm>
            <a:off x="4572000" y="2295000"/>
            <a:ext cx="4022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Server Trust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13"/>
          <p:cNvSpPr/>
          <p:nvPr/>
        </p:nvSpPr>
        <p:spPr>
          <a:xfrm>
            <a:off x="4572000" y="2551320"/>
            <a:ext cx="402228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Without E2E, the server sees plaintext — one compromise leaks every conversation.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14"/>
          <p:cNvSpPr/>
          <p:nvPr/>
        </p:nvSpPr>
        <p:spPr>
          <a:xfrm>
            <a:off x="4434840" y="3063240"/>
            <a:ext cx="4250880" cy="71208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0" name="Shape 15"/>
          <p:cNvSpPr/>
          <p:nvPr/>
        </p:nvSpPr>
        <p:spPr>
          <a:xfrm>
            <a:off x="4434840" y="3063240"/>
            <a:ext cx="53640" cy="71208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1" name="Text 16"/>
          <p:cNvSpPr/>
          <p:nvPr/>
        </p:nvSpPr>
        <p:spPr>
          <a:xfrm>
            <a:off x="4572000" y="3117960"/>
            <a:ext cx="4022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Tampering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17"/>
          <p:cNvSpPr/>
          <p:nvPr/>
        </p:nvSpPr>
        <p:spPr>
          <a:xfrm>
            <a:off x="4572000" y="3374280"/>
            <a:ext cx="402228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Without authentication, ciphertext can be modified and the receiver wouldn't know.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18"/>
          <p:cNvSpPr/>
          <p:nvPr/>
        </p:nvSpPr>
        <p:spPr>
          <a:xfrm>
            <a:off x="4434840" y="3886200"/>
            <a:ext cx="4250880" cy="71208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4" name="Shape 19"/>
          <p:cNvSpPr/>
          <p:nvPr/>
        </p:nvSpPr>
        <p:spPr>
          <a:xfrm>
            <a:off x="4434840" y="3886200"/>
            <a:ext cx="53640" cy="71208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5" name="Text 20"/>
          <p:cNvSpPr/>
          <p:nvPr/>
        </p:nvSpPr>
        <p:spPr>
          <a:xfrm>
            <a:off x="4572000" y="3940920"/>
            <a:ext cx="4022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No Identity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21"/>
          <p:cNvSpPr/>
          <p:nvPr/>
        </p:nvSpPr>
        <p:spPr>
          <a:xfrm>
            <a:off x="4572000" y="4197240"/>
            <a:ext cx="402228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Without verification, anyone could impersonate the sender.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22"/>
          <p:cNvSpPr/>
          <p:nvPr/>
        </p:nvSpPr>
        <p:spPr>
          <a:xfrm>
            <a:off x="8275320" y="4851000"/>
            <a:ext cx="163440" cy="4464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8" name="Shape 23"/>
          <p:cNvSpPr/>
          <p:nvPr/>
        </p:nvSpPr>
        <p:spPr>
          <a:xfrm>
            <a:off x="8503920" y="4851000"/>
            <a:ext cx="364680" cy="4464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9" name="Text 24"/>
          <p:cNvSpPr/>
          <p:nvPr/>
        </p:nvSpPr>
        <p:spPr>
          <a:xfrm>
            <a:off x="6400800" y="4759560"/>
            <a:ext cx="17820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25"/>
          <p:cNvSpPr/>
          <p:nvPr/>
        </p:nvSpPr>
        <p:spPr>
          <a:xfrm>
            <a:off x="365760" y="4759560"/>
            <a:ext cx="9133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03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hape 0"/>
          <p:cNvSpPr/>
          <p:nvPr/>
        </p:nvSpPr>
        <p:spPr>
          <a:xfrm>
            <a:off x="457200" y="502920"/>
            <a:ext cx="163440" cy="1634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2" name="Text 1"/>
          <p:cNvSpPr/>
          <p:nvPr/>
        </p:nvSpPr>
        <p:spPr>
          <a:xfrm>
            <a:off x="713160" y="365760"/>
            <a:ext cx="77713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Project Goal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2"/>
          <p:cNvSpPr/>
          <p:nvPr/>
        </p:nvSpPr>
        <p:spPr>
          <a:xfrm>
            <a:off x="713160" y="868680"/>
            <a:ext cx="7771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Build a working chat application where the server can never read user messages.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3"/>
          <p:cNvSpPr/>
          <p:nvPr/>
        </p:nvSpPr>
        <p:spPr>
          <a:xfrm>
            <a:off x="457200" y="1417320"/>
            <a:ext cx="2047320" cy="3382200"/>
          </a:xfrm>
          <a:prstGeom prst="rect">
            <a:avLst/>
          </a:prstGeom>
          <a:solidFill>
            <a:srgbClr val="13243f"/>
          </a:solidFill>
          <a:ln w="9360">
            <a:solidFill>
              <a:srgbClr val="1e3a5f"/>
            </a:solidFill>
            <a:round/>
          </a:ln>
          <a:effectLst>
            <a:outerShdw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5" name="Shape 4"/>
          <p:cNvSpPr/>
          <p:nvPr/>
        </p:nvSpPr>
        <p:spPr>
          <a:xfrm>
            <a:off x="1046880" y="1691640"/>
            <a:ext cx="867600" cy="867600"/>
          </a:xfrm>
          <a:prstGeom prst="ellipse">
            <a:avLst/>
          </a:prstGeom>
          <a:solidFill>
            <a:srgbClr val="14b8a6">
              <a:alpha val="20000"/>
            </a:srgbClr>
          </a:solidFill>
          <a:ln w="12600">
            <a:solidFill>
              <a:srgbClr val="14b8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86" name="Image 0" descr="preencoded.png"/>
          <p:cNvPicPr/>
          <p:nvPr/>
        </p:nvPicPr>
        <p:blipFill>
          <a:blip r:embed="rId1"/>
          <a:stretch/>
        </p:blipFill>
        <p:spPr>
          <a:xfrm>
            <a:off x="1252800" y="1897560"/>
            <a:ext cx="456120" cy="456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" name="Text 5"/>
          <p:cNvSpPr/>
          <p:nvPr/>
        </p:nvSpPr>
        <p:spPr>
          <a:xfrm>
            <a:off x="594360" y="2697480"/>
            <a:ext cx="177300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Build a secure chat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6"/>
          <p:cNvSpPr/>
          <p:nvPr/>
        </p:nvSpPr>
        <p:spPr>
          <a:xfrm>
            <a:off x="1298520" y="3291840"/>
            <a:ext cx="364680" cy="219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1960" bIns="-2196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9" name="Text 7"/>
          <p:cNvSpPr/>
          <p:nvPr/>
        </p:nvSpPr>
        <p:spPr>
          <a:xfrm>
            <a:off x="640080" y="3429000"/>
            <a:ext cx="1681560" cy="12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Functional Python client/server with real socket communication.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8"/>
          <p:cNvSpPr/>
          <p:nvPr/>
        </p:nvSpPr>
        <p:spPr>
          <a:xfrm>
            <a:off x="2624400" y="1417320"/>
            <a:ext cx="2047320" cy="3382200"/>
          </a:xfrm>
          <a:prstGeom prst="rect">
            <a:avLst/>
          </a:prstGeom>
          <a:solidFill>
            <a:srgbClr val="13243f"/>
          </a:solidFill>
          <a:ln w="9360">
            <a:solidFill>
              <a:srgbClr val="1e3a5f"/>
            </a:solidFill>
            <a:round/>
          </a:ln>
          <a:effectLst>
            <a:outerShdw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1" name="Shape 9"/>
          <p:cNvSpPr/>
          <p:nvPr/>
        </p:nvSpPr>
        <p:spPr>
          <a:xfrm>
            <a:off x="3214080" y="1691640"/>
            <a:ext cx="867600" cy="867600"/>
          </a:xfrm>
          <a:prstGeom prst="ellipse">
            <a:avLst/>
          </a:prstGeom>
          <a:solidFill>
            <a:srgbClr val="14b8a6">
              <a:alpha val="20000"/>
            </a:srgbClr>
          </a:solidFill>
          <a:ln w="12600">
            <a:solidFill>
              <a:srgbClr val="14b8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92" name="Image 1" descr="preencoded.png"/>
          <p:cNvPicPr/>
          <p:nvPr/>
        </p:nvPicPr>
        <p:blipFill>
          <a:blip r:embed="rId2"/>
          <a:stretch/>
        </p:blipFill>
        <p:spPr>
          <a:xfrm>
            <a:off x="3420000" y="1897560"/>
            <a:ext cx="456120" cy="456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3" name="Text 10"/>
          <p:cNvSpPr/>
          <p:nvPr/>
        </p:nvSpPr>
        <p:spPr>
          <a:xfrm>
            <a:off x="2761560" y="2697480"/>
            <a:ext cx="177300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End-to-end encrypted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11"/>
          <p:cNvSpPr/>
          <p:nvPr/>
        </p:nvSpPr>
        <p:spPr>
          <a:xfrm>
            <a:off x="3465720" y="3291840"/>
            <a:ext cx="364680" cy="219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1960" bIns="-2196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5" name="Text 12"/>
          <p:cNvSpPr/>
          <p:nvPr/>
        </p:nvSpPr>
        <p:spPr>
          <a:xfrm>
            <a:off x="2807280" y="3429000"/>
            <a:ext cx="1681560" cy="12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Plaintext never leaves the client; only ciphertext crosses the wire.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13"/>
          <p:cNvSpPr/>
          <p:nvPr/>
        </p:nvSpPr>
        <p:spPr>
          <a:xfrm>
            <a:off x="4791600" y="1417320"/>
            <a:ext cx="2047320" cy="3382200"/>
          </a:xfrm>
          <a:prstGeom prst="rect">
            <a:avLst/>
          </a:prstGeom>
          <a:solidFill>
            <a:srgbClr val="13243f"/>
          </a:solidFill>
          <a:ln w="9360">
            <a:solidFill>
              <a:srgbClr val="1e3a5f"/>
            </a:solidFill>
            <a:round/>
          </a:ln>
          <a:effectLst>
            <a:outerShdw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7" name="Shape 14"/>
          <p:cNvSpPr/>
          <p:nvPr/>
        </p:nvSpPr>
        <p:spPr>
          <a:xfrm>
            <a:off x="5381280" y="1691640"/>
            <a:ext cx="867600" cy="867600"/>
          </a:xfrm>
          <a:prstGeom prst="ellipse">
            <a:avLst/>
          </a:prstGeom>
          <a:solidFill>
            <a:srgbClr val="14b8a6">
              <a:alpha val="20000"/>
            </a:srgbClr>
          </a:solidFill>
          <a:ln w="12600">
            <a:solidFill>
              <a:srgbClr val="14b8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98" name="Image 2" descr="preencoded.png"/>
          <p:cNvPicPr/>
          <p:nvPr/>
        </p:nvPicPr>
        <p:blipFill>
          <a:blip r:embed="rId3"/>
          <a:stretch/>
        </p:blipFill>
        <p:spPr>
          <a:xfrm>
            <a:off x="5586840" y="1897560"/>
            <a:ext cx="456120" cy="456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9" name="Text 15"/>
          <p:cNvSpPr/>
          <p:nvPr/>
        </p:nvSpPr>
        <p:spPr>
          <a:xfrm>
            <a:off x="4928760" y="2697480"/>
            <a:ext cx="177300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Server is blind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16"/>
          <p:cNvSpPr/>
          <p:nvPr/>
        </p:nvSpPr>
        <p:spPr>
          <a:xfrm>
            <a:off x="5632560" y="3291840"/>
            <a:ext cx="364680" cy="219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1960" bIns="-2196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1" name="Text 17"/>
          <p:cNvSpPr/>
          <p:nvPr/>
        </p:nvSpPr>
        <p:spPr>
          <a:xfrm>
            <a:off x="4974480" y="3429000"/>
            <a:ext cx="1681560" cy="12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Relay forwards opaque ciphertext — no key, no read access.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18"/>
          <p:cNvSpPr/>
          <p:nvPr/>
        </p:nvSpPr>
        <p:spPr>
          <a:xfrm>
            <a:off x="6958440" y="1417320"/>
            <a:ext cx="2047320" cy="3382200"/>
          </a:xfrm>
          <a:prstGeom prst="rect">
            <a:avLst/>
          </a:prstGeom>
          <a:solidFill>
            <a:srgbClr val="13243f"/>
          </a:solidFill>
          <a:ln w="9360">
            <a:solidFill>
              <a:srgbClr val="1e3a5f"/>
            </a:solidFill>
            <a:round/>
          </a:ln>
          <a:effectLst>
            <a:outerShdw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3" name="Shape 19"/>
          <p:cNvSpPr/>
          <p:nvPr/>
        </p:nvSpPr>
        <p:spPr>
          <a:xfrm>
            <a:off x="7548480" y="1691640"/>
            <a:ext cx="867600" cy="867600"/>
          </a:xfrm>
          <a:prstGeom prst="ellipse">
            <a:avLst/>
          </a:prstGeom>
          <a:solidFill>
            <a:srgbClr val="14b8a6">
              <a:alpha val="20000"/>
            </a:srgbClr>
          </a:solidFill>
          <a:ln w="12600">
            <a:solidFill>
              <a:srgbClr val="14b8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04" name="Image 3" descr="preencoded.png"/>
          <p:cNvPicPr/>
          <p:nvPr/>
        </p:nvPicPr>
        <p:blipFill>
          <a:blip r:embed="rId4"/>
          <a:stretch/>
        </p:blipFill>
        <p:spPr>
          <a:xfrm>
            <a:off x="7754040" y="1897560"/>
            <a:ext cx="456120" cy="456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5" name="Text 20"/>
          <p:cNvSpPr/>
          <p:nvPr/>
        </p:nvSpPr>
        <p:spPr>
          <a:xfrm>
            <a:off x="7095600" y="2697480"/>
            <a:ext cx="177300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ChaCha20-Poly1305 core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21"/>
          <p:cNvSpPr/>
          <p:nvPr/>
        </p:nvSpPr>
        <p:spPr>
          <a:xfrm>
            <a:off x="7799760" y="3291840"/>
            <a:ext cx="364680" cy="219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21960" bIns="-2196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7" name="Text 22"/>
          <p:cNvSpPr/>
          <p:nvPr/>
        </p:nvSpPr>
        <p:spPr>
          <a:xfrm>
            <a:off x="7141320" y="3429000"/>
            <a:ext cx="1681560" cy="12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Use a modern AEAD cipher with built-in authentication.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23"/>
          <p:cNvSpPr/>
          <p:nvPr/>
        </p:nvSpPr>
        <p:spPr>
          <a:xfrm>
            <a:off x="8275320" y="4851000"/>
            <a:ext cx="163440" cy="446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09" name="Shape 24"/>
          <p:cNvSpPr/>
          <p:nvPr/>
        </p:nvSpPr>
        <p:spPr>
          <a:xfrm>
            <a:off x="8503920" y="4851000"/>
            <a:ext cx="364680" cy="44640"/>
          </a:xfrm>
          <a:prstGeom prst="rect">
            <a:avLst/>
          </a:prstGeom>
          <a:solidFill>
            <a:srgbClr val="14b8a6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0" name="Text 25"/>
          <p:cNvSpPr/>
          <p:nvPr/>
        </p:nvSpPr>
        <p:spPr>
          <a:xfrm>
            <a:off x="6400800" y="4759560"/>
            <a:ext cx="17820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26"/>
          <p:cNvSpPr/>
          <p:nvPr/>
        </p:nvSpPr>
        <p:spPr>
          <a:xfrm>
            <a:off x="365760" y="4759560"/>
            <a:ext cx="9133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04 / 32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Shape 0"/>
          <p:cNvSpPr/>
          <p:nvPr/>
        </p:nvSpPr>
        <p:spPr>
          <a:xfrm>
            <a:off x="457200" y="502920"/>
            <a:ext cx="163440" cy="1634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13" name="Text 1"/>
          <p:cNvSpPr/>
          <p:nvPr/>
        </p:nvSpPr>
        <p:spPr>
          <a:xfrm>
            <a:off x="713160" y="365760"/>
            <a:ext cx="79542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System Architecture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2"/>
          <p:cNvSpPr/>
          <p:nvPr/>
        </p:nvSpPr>
        <p:spPr>
          <a:xfrm>
            <a:off x="713160" y="868680"/>
            <a:ext cx="79542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A relay-only server forwards ciphertext between authenticated clients.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3"/>
          <p:cNvSpPr/>
          <p:nvPr/>
        </p:nvSpPr>
        <p:spPr>
          <a:xfrm>
            <a:off x="548640" y="2011680"/>
            <a:ext cx="1736280" cy="1370520"/>
          </a:xfrm>
          <a:prstGeom prst="rect">
            <a:avLst/>
          </a:prstGeom>
          <a:solidFill>
            <a:srgbClr val="ffffff"/>
          </a:solidFill>
          <a:ln w="19080">
            <a:solidFill>
              <a:srgbClr val="14b8a6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16" name="Image 0" descr="preencoded.png"/>
          <p:cNvPicPr/>
          <p:nvPr/>
        </p:nvPicPr>
        <p:blipFill>
          <a:blip r:embed="rId1"/>
          <a:stretch/>
        </p:blipFill>
        <p:spPr>
          <a:xfrm>
            <a:off x="1166040" y="2194560"/>
            <a:ext cx="501840" cy="501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7" name="Text 4"/>
          <p:cNvSpPr/>
          <p:nvPr/>
        </p:nvSpPr>
        <p:spPr>
          <a:xfrm>
            <a:off x="548640" y="2743200"/>
            <a:ext cx="17362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Client 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5"/>
          <p:cNvSpPr/>
          <p:nvPr/>
        </p:nvSpPr>
        <p:spPr>
          <a:xfrm>
            <a:off x="548640" y="3035880"/>
            <a:ext cx="17362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i="1" u="none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Encrypts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6"/>
          <p:cNvSpPr/>
          <p:nvPr/>
        </p:nvSpPr>
        <p:spPr>
          <a:xfrm>
            <a:off x="3703320" y="2011680"/>
            <a:ext cx="1736280" cy="1370520"/>
          </a:xfrm>
          <a:prstGeom prst="rect">
            <a:avLst/>
          </a:prstGeom>
          <a:solidFill>
            <a:srgbClr val="ffffff"/>
          </a:solidFill>
          <a:ln w="19080">
            <a:solidFill>
              <a:srgbClr val="475569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20" name="Image 1" descr="preencoded.png"/>
          <p:cNvPicPr/>
          <p:nvPr/>
        </p:nvPicPr>
        <p:blipFill>
          <a:blip r:embed="rId2"/>
          <a:stretch/>
        </p:blipFill>
        <p:spPr>
          <a:xfrm>
            <a:off x="4320720" y="2194560"/>
            <a:ext cx="501840" cy="501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" name="Text 7"/>
          <p:cNvSpPr/>
          <p:nvPr/>
        </p:nvSpPr>
        <p:spPr>
          <a:xfrm>
            <a:off x="3703320" y="2743200"/>
            <a:ext cx="17362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Server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8"/>
          <p:cNvSpPr/>
          <p:nvPr/>
        </p:nvSpPr>
        <p:spPr>
          <a:xfrm>
            <a:off x="3703320" y="3035880"/>
            <a:ext cx="17362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Relays only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9"/>
          <p:cNvSpPr/>
          <p:nvPr/>
        </p:nvSpPr>
        <p:spPr>
          <a:xfrm>
            <a:off x="6858000" y="2011680"/>
            <a:ext cx="1736280" cy="1370520"/>
          </a:xfrm>
          <a:prstGeom prst="rect">
            <a:avLst/>
          </a:prstGeom>
          <a:solidFill>
            <a:srgbClr val="ffffff"/>
          </a:solidFill>
          <a:ln w="19080">
            <a:solidFill>
              <a:srgbClr val="14b8a6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24" name="Image 2" descr="preencoded.png"/>
          <p:cNvPicPr/>
          <p:nvPr/>
        </p:nvPicPr>
        <p:blipFill>
          <a:blip r:embed="rId3"/>
          <a:stretch/>
        </p:blipFill>
        <p:spPr>
          <a:xfrm>
            <a:off x="7475400" y="2194560"/>
            <a:ext cx="501840" cy="501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5" name="Text 10"/>
          <p:cNvSpPr/>
          <p:nvPr/>
        </p:nvSpPr>
        <p:spPr>
          <a:xfrm>
            <a:off x="6858000" y="2743200"/>
            <a:ext cx="17362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Client B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11"/>
          <p:cNvSpPr/>
          <p:nvPr/>
        </p:nvSpPr>
        <p:spPr>
          <a:xfrm>
            <a:off x="6858000" y="3035880"/>
            <a:ext cx="173628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i="1" u="none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Decrypts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2"/>
          <p:cNvSpPr/>
          <p:nvPr/>
        </p:nvSpPr>
        <p:spPr>
          <a:xfrm>
            <a:off x="2286000" y="2331720"/>
            <a:ext cx="14162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0d9488"/>
                </a:solidFill>
                <a:effectLst/>
                <a:uFillTx/>
                <a:latin typeface="Consolas"/>
                <a:ea typeface="Consolas"/>
              </a:rPr>
              <a:t>ciphertext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13"/>
          <p:cNvSpPr/>
          <p:nvPr/>
        </p:nvSpPr>
        <p:spPr>
          <a:xfrm>
            <a:off x="2286000" y="2697480"/>
            <a:ext cx="1417320" cy="360"/>
          </a:xfrm>
          <a:prstGeom prst="line">
            <a:avLst/>
          </a:prstGeom>
          <a:ln w="31680">
            <a:solidFill>
              <a:srgbClr val="14b8a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29" name="Text 14"/>
          <p:cNvSpPr/>
          <p:nvPr/>
        </p:nvSpPr>
        <p:spPr>
          <a:xfrm>
            <a:off x="5440680" y="2331720"/>
            <a:ext cx="14162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0d9488"/>
                </a:solidFill>
                <a:effectLst/>
                <a:uFillTx/>
                <a:latin typeface="Consolas"/>
                <a:ea typeface="Consolas"/>
              </a:rPr>
              <a:t>ciphertext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15"/>
          <p:cNvSpPr/>
          <p:nvPr/>
        </p:nvSpPr>
        <p:spPr>
          <a:xfrm>
            <a:off x="5440680" y="2697480"/>
            <a:ext cx="1417320" cy="360"/>
          </a:xfrm>
          <a:prstGeom prst="line">
            <a:avLst/>
          </a:prstGeom>
          <a:ln w="31680">
            <a:solidFill>
              <a:srgbClr val="14b8a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1" name="Shape 16"/>
          <p:cNvSpPr/>
          <p:nvPr/>
        </p:nvSpPr>
        <p:spPr>
          <a:xfrm>
            <a:off x="3703320" y="3657600"/>
            <a:ext cx="1736280" cy="867600"/>
          </a:xfrm>
          <a:prstGeom prst="rect">
            <a:avLst/>
          </a:prstGeom>
          <a:solidFill>
            <a:srgbClr val="f4f7fb"/>
          </a:solidFill>
          <a:ln w="12600">
            <a:solidFill>
              <a:srgbClr val="f9706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2" name="Text 17"/>
          <p:cNvSpPr/>
          <p:nvPr/>
        </p:nvSpPr>
        <p:spPr>
          <a:xfrm>
            <a:off x="3749040" y="3703320"/>
            <a:ext cx="16448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server sees: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18"/>
          <p:cNvSpPr/>
          <p:nvPr/>
        </p:nvSpPr>
        <p:spPr>
          <a:xfrm>
            <a:off x="3749040" y="3977640"/>
            <a:ext cx="16448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97066"/>
                </a:solidFill>
                <a:effectLst/>
                <a:uFillTx/>
                <a:latin typeface="Consolas"/>
                <a:ea typeface="Consolas"/>
              </a:rPr>
              <a:t>0xA3F2…91BC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19"/>
          <p:cNvSpPr/>
          <p:nvPr/>
        </p:nvSpPr>
        <p:spPr>
          <a:xfrm>
            <a:off x="8275320" y="4851000"/>
            <a:ext cx="163440" cy="4464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5" name="Shape 20"/>
          <p:cNvSpPr/>
          <p:nvPr/>
        </p:nvSpPr>
        <p:spPr>
          <a:xfrm>
            <a:off x="8503920" y="4851000"/>
            <a:ext cx="364680" cy="4464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6" name="Text 21"/>
          <p:cNvSpPr/>
          <p:nvPr/>
        </p:nvSpPr>
        <p:spPr>
          <a:xfrm>
            <a:off x="6400800" y="4759560"/>
            <a:ext cx="17820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22"/>
          <p:cNvSpPr/>
          <p:nvPr/>
        </p:nvSpPr>
        <p:spPr>
          <a:xfrm>
            <a:off x="365760" y="4759560"/>
            <a:ext cx="9133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05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Shape 0"/>
          <p:cNvSpPr/>
          <p:nvPr/>
        </p:nvSpPr>
        <p:spPr>
          <a:xfrm>
            <a:off x="457200" y="502920"/>
            <a:ext cx="163440" cy="1634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39" name="Text 1"/>
          <p:cNvSpPr/>
          <p:nvPr/>
        </p:nvSpPr>
        <p:spPr>
          <a:xfrm>
            <a:off x="713160" y="365760"/>
            <a:ext cx="79542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Communication Phases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2"/>
          <p:cNvSpPr/>
          <p:nvPr/>
        </p:nvSpPr>
        <p:spPr>
          <a:xfrm>
            <a:off x="713160" y="868680"/>
            <a:ext cx="79542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Two phases: a one-time handshake, then fast symmetric messaging.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3"/>
          <p:cNvSpPr/>
          <p:nvPr/>
        </p:nvSpPr>
        <p:spPr>
          <a:xfrm>
            <a:off x="457200" y="1417320"/>
            <a:ext cx="3976560" cy="32450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42" name="Text 4"/>
          <p:cNvSpPr/>
          <p:nvPr/>
        </p:nvSpPr>
        <p:spPr>
          <a:xfrm>
            <a:off x="640080" y="1417320"/>
            <a:ext cx="1279080" cy="12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600" b="1" u="none" strike="noStrike">
                <a:solidFill>
                  <a:srgbClr val="fce49a"/>
                </a:solidFill>
                <a:effectLst/>
                <a:uFillTx/>
                <a:latin typeface="Georgia"/>
                <a:ea typeface="Georgia"/>
              </a:rPr>
              <a:t>1</a:t>
            </a:r>
            <a:endParaRPr lang="en-US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Shape 5"/>
          <p:cNvSpPr/>
          <p:nvPr/>
        </p:nvSpPr>
        <p:spPr>
          <a:xfrm>
            <a:off x="3566160" y="1600200"/>
            <a:ext cx="730440" cy="730440"/>
          </a:xfrm>
          <a:prstGeom prst="ellipse">
            <a:avLst/>
          </a:prstGeom>
          <a:solidFill>
            <a:srgbClr val="f5b400">
              <a:alpha val="20000"/>
            </a:srgbClr>
          </a:solidFill>
          <a:ln w="12600">
            <a:solidFill>
              <a:srgbClr val="f5b4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44" name="Image 0" descr="preencoded.png"/>
          <p:cNvPicPr/>
          <p:nvPr/>
        </p:nvPicPr>
        <p:blipFill>
          <a:blip r:embed="rId1"/>
          <a:stretch/>
        </p:blipFill>
        <p:spPr>
          <a:xfrm>
            <a:off x="3749040" y="1783080"/>
            <a:ext cx="364680" cy="364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5" name="Text 6"/>
          <p:cNvSpPr/>
          <p:nvPr/>
        </p:nvSpPr>
        <p:spPr>
          <a:xfrm>
            <a:off x="731520" y="2697480"/>
            <a:ext cx="36565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pc="400" strike="noStrike">
                <a:solidFill>
                  <a:srgbClr val="f5b400"/>
                </a:solidFill>
                <a:effectLst/>
                <a:uFillTx/>
                <a:latin typeface="Calibri"/>
                <a:ea typeface="Calibri"/>
              </a:rPr>
              <a:t>PHASE 1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7"/>
          <p:cNvSpPr/>
          <p:nvPr/>
        </p:nvSpPr>
        <p:spPr>
          <a:xfrm>
            <a:off x="731520" y="2926080"/>
            <a:ext cx="3656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Key Exchange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8"/>
          <p:cNvSpPr/>
          <p:nvPr/>
        </p:nvSpPr>
        <p:spPr>
          <a:xfrm>
            <a:off x="731520" y="3383280"/>
            <a:ext cx="36565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i="1" u="none" strike="noStrike">
                <a:solidFill>
                  <a:srgbClr val="f5b400"/>
                </a:solidFill>
                <a:effectLst/>
                <a:uFillTx/>
                <a:latin typeface="Consolas"/>
                <a:ea typeface="Consolas"/>
              </a:rPr>
              <a:t>RSA-2048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9"/>
          <p:cNvSpPr/>
          <p:nvPr/>
        </p:nvSpPr>
        <p:spPr>
          <a:xfrm>
            <a:off x="731520" y="3749040"/>
            <a:ext cx="365652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Public-key cryptography establishes a shared symmetric key. RSA is slow but only runs once per session.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10"/>
          <p:cNvSpPr/>
          <p:nvPr/>
        </p:nvSpPr>
        <p:spPr>
          <a:xfrm>
            <a:off x="4709160" y="1417320"/>
            <a:ext cx="3976560" cy="32450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0" name="Text 11"/>
          <p:cNvSpPr/>
          <p:nvPr/>
        </p:nvSpPr>
        <p:spPr>
          <a:xfrm>
            <a:off x="4892040" y="1417320"/>
            <a:ext cx="1279080" cy="12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600" b="1" u="none" strike="noStrike">
                <a:solidFill>
                  <a:srgbClr val="9decdd"/>
                </a:solidFill>
                <a:effectLst/>
                <a:uFillTx/>
                <a:latin typeface="Georgia"/>
                <a:ea typeface="Georgia"/>
              </a:rPr>
              <a:t>2</a:t>
            </a:r>
            <a:endParaRPr lang="en-US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12"/>
          <p:cNvSpPr/>
          <p:nvPr/>
        </p:nvSpPr>
        <p:spPr>
          <a:xfrm>
            <a:off x="7818120" y="1600200"/>
            <a:ext cx="730440" cy="730440"/>
          </a:xfrm>
          <a:prstGeom prst="ellipse">
            <a:avLst/>
          </a:prstGeom>
          <a:solidFill>
            <a:srgbClr val="14b8a6">
              <a:alpha val="20000"/>
            </a:srgbClr>
          </a:solidFill>
          <a:ln w="12600">
            <a:solidFill>
              <a:srgbClr val="14b8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52" name="Image 1" descr="preencoded.png"/>
          <p:cNvPicPr/>
          <p:nvPr/>
        </p:nvPicPr>
        <p:blipFill>
          <a:blip r:embed="rId2"/>
          <a:stretch/>
        </p:blipFill>
        <p:spPr>
          <a:xfrm>
            <a:off x="8001000" y="1783080"/>
            <a:ext cx="364680" cy="364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3" name="Text 13"/>
          <p:cNvSpPr/>
          <p:nvPr/>
        </p:nvSpPr>
        <p:spPr>
          <a:xfrm>
            <a:off x="4983480" y="2697480"/>
            <a:ext cx="36565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pc="400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PHASE 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14"/>
          <p:cNvSpPr/>
          <p:nvPr/>
        </p:nvSpPr>
        <p:spPr>
          <a:xfrm>
            <a:off x="4983480" y="2926080"/>
            <a:ext cx="3656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Secure Messaging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15"/>
          <p:cNvSpPr/>
          <p:nvPr/>
        </p:nvSpPr>
        <p:spPr>
          <a:xfrm>
            <a:off x="4983480" y="3383280"/>
            <a:ext cx="36565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i="1" u="none" strike="noStrike">
                <a:solidFill>
                  <a:srgbClr val="14b8a6"/>
                </a:solidFill>
                <a:effectLst/>
                <a:uFillTx/>
                <a:latin typeface="Consolas"/>
                <a:ea typeface="Consolas"/>
              </a:rPr>
              <a:t>ChaCha20-Poly1305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16"/>
          <p:cNvSpPr/>
          <p:nvPr/>
        </p:nvSpPr>
        <p:spPr>
          <a:xfrm>
            <a:off x="4983480" y="3749040"/>
            <a:ext cx="365652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All subsequent messages are encrypted with the shared symmetric key. Fast, authenticated, repeatable.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17"/>
          <p:cNvSpPr/>
          <p:nvPr/>
        </p:nvSpPr>
        <p:spPr>
          <a:xfrm>
            <a:off x="4434840" y="3017520"/>
            <a:ext cx="274320" cy="360"/>
          </a:xfrm>
          <a:prstGeom prst="line">
            <a:avLst/>
          </a:prstGeom>
          <a:ln w="25560">
            <a:solidFill>
              <a:srgbClr val="47556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8" name="Shape 18"/>
          <p:cNvSpPr/>
          <p:nvPr/>
        </p:nvSpPr>
        <p:spPr>
          <a:xfrm>
            <a:off x="8275320" y="4851000"/>
            <a:ext cx="163440" cy="4464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9" name="Shape 19"/>
          <p:cNvSpPr/>
          <p:nvPr/>
        </p:nvSpPr>
        <p:spPr>
          <a:xfrm>
            <a:off x="8503920" y="4851000"/>
            <a:ext cx="364680" cy="4464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0" name="Text 20"/>
          <p:cNvSpPr/>
          <p:nvPr/>
        </p:nvSpPr>
        <p:spPr>
          <a:xfrm>
            <a:off x="6400800" y="4759560"/>
            <a:ext cx="17820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21"/>
          <p:cNvSpPr/>
          <p:nvPr/>
        </p:nvSpPr>
        <p:spPr>
          <a:xfrm>
            <a:off x="365760" y="4759560"/>
            <a:ext cx="9133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06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Shape 0"/>
          <p:cNvSpPr/>
          <p:nvPr/>
        </p:nvSpPr>
        <p:spPr>
          <a:xfrm>
            <a:off x="457200" y="502920"/>
            <a:ext cx="163440" cy="1634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3" name="Text 1"/>
          <p:cNvSpPr/>
          <p:nvPr/>
        </p:nvSpPr>
        <p:spPr>
          <a:xfrm>
            <a:off x="713160" y="365760"/>
            <a:ext cx="79542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What is ChaCha20-Poly1305?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2"/>
          <p:cNvSpPr/>
          <p:nvPr/>
        </p:nvSpPr>
        <p:spPr>
          <a:xfrm>
            <a:off x="713160" y="868680"/>
            <a:ext cx="79542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An Authenticated Encryption with Associated Data (AEAD) cipher.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3"/>
          <p:cNvSpPr/>
          <p:nvPr/>
        </p:nvSpPr>
        <p:spPr>
          <a:xfrm>
            <a:off x="457200" y="1417320"/>
            <a:ext cx="8228520" cy="1279080"/>
          </a:xfrm>
          <a:prstGeom prst="rect">
            <a:avLst/>
          </a:prstGeom>
          <a:solidFill>
            <a:srgbClr val="0b1a2e"/>
          </a:solidFill>
          <a:ln w="0">
            <a:noFill/>
          </a:ln>
          <a:effectLst>
            <a:outerShdw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6" name="Shape 4"/>
          <p:cNvSpPr/>
          <p:nvPr/>
        </p:nvSpPr>
        <p:spPr>
          <a:xfrm>
            <a:off x="822960" y="1691640"/>
            <a:ext cx="2376360" cy="7304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7" name="Text 5"/>
          <p:cNvSpPr/>
          <p:nvPr/>
        </p:nvSpPr>
        <p:spPr>
          <a:xfrm>
            <a:off x="822960" y="1691640"/>
            <a:ext cx="23763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ChaCha20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6"/>
          <p:cNvSpPr/>
          <p:nvPr/>
        </p:nvSpPr>
        <p:spPr>
          <a:xfrm>
            <a:off x="822960" y="2075760"/>
            <a:ext cx="23763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stream cipher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7"/>
          <p:cNvSpPr/>
          <p:nvPr/>
        </p:nvSpPr>
        <p:spPr>
          <a:xfrm>
            <a:off x="3246120" y="1691640"/>
            <a:ext cx="45612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+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8"/>
          <p:cNvSpPr/>
          <p:nvPr/>
        </p:nvSpPr>
        <p:spPr>
          <a:xfrm>
            <a:off x="3749040" y="1691640"/>
            <a:ext cx="2376360" cy="7304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1" name="Text 9"/>
          <p:cNvSpPr/>
          <p:nvPr/>
        </p:nvSpPr>
        <p:spPr>
          <a:xfrm>
            <a:off x="3749040" y="1691640"/>
            <a:ext cx="23763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Poly1305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10"/>
          <p:cNvSpPr/>
          <p:nvPr/>
        </p:nvSpPr>
        <p:spPr>
          <a:xfrm>
            <a:off x="3749040" y="2075760"/>
            <a:ext cx="23763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MAC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11"/>
          <p:cNvSpPr/>
          <p:nvPr/>
        </p:nvSpPr>
        <p:spPr>
          <a:xfrm>
            <a:off x="6172200" y="1691640"/>
            <a:ext cx="45612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=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12"/>
          <p:cNvSpPr/>
          <p:nvPr/>
        </p:nvSpPr>
        <p:spPr>
          <a:xfrm>
            <a:off x="6675120" y="1691640"/>
            <a:ext cx="1644840" cy="730440"/>
          </a:xfrm>
          <a:prstGeom prst="rect">
            <a:avLst/>
          </a:prstGeom>
          <a:solidFill>
            <a:srgbClr val="f5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75" name="Text 13"/>
          <p:cNvSpPr/>
          <p:nvPr/>
        </p:nvSpPr>
        <p:spPr>
          <a:xfrm>
            <a:off x="6675120" y="1691640"/>
            <a:ext cx="16448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AEAD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14"/>
          <p:cNvSpPr/>
          <p:nvPr/>
        </p:nvSpPr>
        <p:spPr>
          <a:xfrm>
            <a:off x="6675120" y="2075760"/>
            <a:ext cx="1644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authenticated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15"/>
          <p:cNvSpPr/>
          <p:nvPr/>
        </p:nvSpPr>
        <p:spPr>
          <a:xfrm>
            <a:off x="457200" y="2971800"/>
            <a:ext cx="2650680" cy="1690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78" name="Image 0" descr="preencoded.png"/>
          <p:cNvPicPr/>
          <p:nvPr/>
        </p:nvPicPr>
        <p:blipFill>
          <a:blip r:embed="rId1"/>
          <a:stretch/>
        </p:blipFill>
        <p:spPr>
          <a:xfrm>
            <a:off x="685800" y="3154680"/>
            <a:ext cx="364680" cy="364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9" name="Text 16"/>
          <p:cNvSpPr/>
          <p:nvPr/>
        </p:nvSpPr>
        <p:spPr>
          <a:xfrm>
            <a:off x="1143000" y="3108960"/>
            <a:ext cx="18734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Confidentiality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17"/>
          <p:cNvSpPr/>
          <p:nvPr/>
        </p:nvSpPr>
        <p:spPr>
          <a:xfrm>
            <a:off x="685800" y="3611880"/>
            <a:ext cx="2239200" cy="95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 hides the plaintext from eavesdroppers.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Shape 18"/>
          <p:cNvSpPr/>
          <p:nvPr/>
        </p:nvSpPr>
        <p:spPr>
          <a:xfrm>
            <a:off x="3246120" y="2971800"/>
            <a:ext cx="2650680" cy="1690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82" name="Image 1" descr="preencoded.png"/>
          <p:cNvPicPr/>
          <p:nvPr/>
        </p:nvPicPr>
        <p:blipFill>
          <a:blip r:embed="rId2"/>
          <a:stretch/>
        </p:blipFill>
        <p:spPr>
          <a:xfrm>
            <a:off x="3474720" y="3154680"/>
            <a:ext cx="364680" cy="364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3" name="Text 19"/>
          <p:cNvSpPr/>
          <p:nvPr/>
        </p:nvSpPr>
        <p:spPr>
          <a:xfrm>
            <a:off x="3931920" y="3108960"/>
            <a:ext cx="18734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Integrity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20"/>
          <p:cNvSpPr/>
          <p:nvPr/>
        </p:nvSpPr>
        <p:spPr>
          <a:xfrm>
            <a:off x="3474720" y="3611880"/>
            <a:ext cx="2239200" cy="95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Poly1305 detects any modification of the ciphertext.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21"/>
          <p:cNvSpPr/>
          <p:nvPr/>
        </p:nvSpPr>
        <p:spPr>
          <a:xfrm>
            <a:off x="6035040" y="2971800"/>
            <a:ext cx="2650680" cy="1690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186" name="Image 2" descr="preencoded.png"/>
          <p:cNvPicPr/>
          <p:nvPr/>
        </p:nvPicPr>
        <p:blipFill>
          <a:blip r:embed="rId3"/>
          <a:stretch/>
        </p:blipFill>
        <p:spPr>
          <a:xfrm>
            <a:off x="6263640" y="3154680"/>
            <a:ext cx="364680" cy="364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7" name="Text 22"/>
          <p:cNvSpPr/>
          <p:nvPr/>
        </p:nvSpPr>
        <p:spPr>
          <a:xfrm>
            <a:off x="6720840" y="3108960"/>
            <a:ext cx="18734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Single primitive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23"/>
          <p:cNvSpPr/>
          <p:nvPr/>
        </p:nvSpPr>
        <p:spPr>
          <a:xfrm>
            <a:off x="6263640" y="3611880"/>
            <a:ext cx="2239200" cy="95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One operation provides both — no separate MAC step.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24"/>
          <p:cNvSpPr/>
          <p:nvPr/>
        </p:nvSpPr>
        <p:spPr>
          <a:xfrm>
            <a:off x="457200" y="4709160"/>
            <a:ext cx="82285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Used in WireGuard, TLS 1.3, and Signal.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25"/>
          <p:cNvSpPr/>
          <p:nvPr/>
        </p:nvSpPr>
        <p:spPr>
          <a:xfrm>
            <a:off x="8275320" y="4851000"/>
            <a:ext cx="163440" cy="4464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1" name="Shape 26"/>
          <p:cNvSpPr/>
          <p:nvPr/>
        </p:nvSpPr>
        <p:spPr>
          <a:xfrm>
            <a:off x="8503920" y="4851000"/>
            <a:ext cx="364680" cy="4464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2" name="Text 27"/>
          <p:cNvSpPr/>
          <p:nvPr/>
        </p:nvSpPr>
        <p:spPr>
          <a:xfrm>
            <a:off x="6400800" y="4759560"/>
            <a:ext cx="17820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28"/>
          <p:cNvSpPr/>
          <p:nvPr/>
        </p:nvSpPr>
        <p:spPr>
          <a:xfrm>
            <a:off x="365760" y="4759560"/>
            <a:ext cx="9133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07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Shape 0"/>
          <p:cNvSpPr/>
          <p:nvPr/>
        </p:nvSpPr>
        <p:spPr>
          <a:xfrm>
            <a:off x="457200" y="502920"/>
            <a:ext cx="163440" cy="1634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5" name="Text 1"/>
          <p:cNvSpPr/>
          <p:nvPr/>
        </p:nvSpPr>
        <p:spPr>
          <a:xfrm>
            <a:off x="713160" y="365760"/>
            <a:ext cx="79542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Why ChaCha20-Poly1305?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2"/>
          <p:cNvSpPr/>
          <p:nvPr/>
        </p:nvSpPr>
        <p:spPr>
          <a:xfrm>
            <a:off x="713160" y="868680"/>
            <a:ext cx="79542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Three reasons it has displaced AES-GCM in many modern protocols.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Shape 3"/>
          <p:cNvSpPr/>
          <p:nvPr/>
        </p:nvSpPr>
        <p:spPr>
          <a:xfrm>
            <a:off x="457200" y="1417320"/>
            <a:ext cx="8228520" cy="9590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8" name="Shape 4"/>
          <p:cNvSpPr/>
          <p:nvPr/>
        </p:nvSpPr>
        <p:spPr>
          <a:xfrm>
            <a:off x="457200" y="1417320"/>
            <a:ext cx="72000" cy="959040"/>
          </a:xfrm>
          <a:prstGeom prst="rect">
            <a:avLst/>
          </a:prstGeom>
          <a:solidFill>
            <a:srgbClr val="f5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99" name="Shape 5"/>
          <p:cNvSpPr/>
          <p:nvPr/>
        </p:nvSpPr>
        <p:spPr>
          <a:xfrm>
            <a:off x="777240" y="1645920"/>
            <a:ext cx="501840" cy="501840"/>
          </a:xfrm>
          <a:prstGeom prst="ellipse">
            <a:avLst/>
          </a:prstGeom>
          <a:solidFill>
            <a:srgbClr val="f5b400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00" name="Image 0" descr="preencoded.png"/>
          <p:cNvPicPr/>
          <p:nvPr/>
        </p:nvPicPr>
        <p:blipFill>
          <a:blip r:embed="rId1"/>
          <a:stretch/>
        </p:blipFill>
        <p:spPr>
          <a:xfrm>
            <a:off x="877680" y="1746360"/>
            <a:ext cx="291600" cy="291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1" name="Text 6"/>
          <p:cNvSpPr/>
          <p:nvPr/>
        </p:nvSpPr>
        <p:spPr>
          <a:xfrm>
            <a:off x="1463040" y="1527120"/>
            <a:ext cx="70398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Fast in software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7"/>
          <p:cNvSpPr/>
          <p:nvPr/>
        </p:nvSpPr>
        <p:spPr>
          <a:xfrm>
            <a:off x="1463040" y="1856160"/>
            <a:ext cx="70398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Uses only addition, XOR, and bit rotation. Performs well even without dedicated AES hardware acceleration.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8"/>
          <p:cNvSpPr/>
          <p:nvPr/>
        </p:nvSpPr>
        <p:spPr>
          <a:xfrm>
            <a:off x="457200" y="2514600"/>
            <a:ext cx="8228520" cy="9590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04" name="Shape 9"/>
          <p:cNvSpPr/>
          <p:nvPr/>
        </p:nvSpPr>
        <p:spPr>
          <a:xfrm>
            <a:off x="457200" y="2514600"/>
            <a:ext cx="72000" cy="9590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05" name="Shape 10"/>
          <p:cNvSpPr/>
          <p:nvPr/>
        </p:nvSpPr>
        <p:spPr>
          <a:xfrm>
            <a:off x="777240" y="2743200"/>
            <a:ext cx="501840" cy="501840"/>
          </a:xfrm>
          <a:prstGeom prst="ellipse">
            <a:avLst/>
          </a:prstGeom>
          <a:solidFill>
            <a:srgbClr val="14b8a6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06" name="Image 1" descr="preencoded.png"/>
          <p:cNvPicPr/>
          <p:nvPr/>
        </p:nvPicPr>
        <p:blipFill>
          <a:blip r:embed="rId2"/>
          <a:stretch/>
        </p:blipFill>
        <p:spPr>
          <a:xfrm>
            <a:off x="877680" y="2843640"/>
            <a:ext cx="291600" cy="291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7" name="Text 11"/>
          <p:cNvSpPr/>
          <p:nvPr/>
        </p:nvSpPr>
        <p:spPr>
          <a:xfrm>
            <a:off x="1463040" y="2624400"/>
            <a:ext cx="70398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Side-channel resistant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12"/>
          <p:cNvSpPr/>
          <p:nvPr/>
        </p:nvSpPr>
        <p:spPr>
          <a:xfrm>
            <a:off x="1463040" y="2953440"/>
            <a:ext cx="70398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Avoids lookup tables used by some block ciphers. More uniform execution reduces timing and cache leaks.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Shape 13"/>
          <p:cNvSpPr/>
          <p:nvPr/>
        </p:nvSpPr>
        <p:spPr>
          <a:xfrm>
            <a:off x="457200" y="3611880"/>
            <a:ext cx="8228520" cy="9590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10" name="Shape 14"/>
          <p:cNvSpPr/>
          <p:nvPr/>
        </p:nvSpPr>
        <p:spPr>
          <a:xfrm>
            <a:off x="457200" y="3611880"/>
            <a:ext cx="72000" cy="9590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11" name="Shape 15"/>
          <p:cNvSpPr/>
          <p:nvPr/>
        </p:nvSpPr>
        <p:spPr>
          <a:xfrm>
            <a:off x="777240" y="3840480"/>
            <a:ext cx="501840" cy="501840"/>
          </a:xfrm>
          <a:prstGeom prst="ellipse">
            <a:avLst/>
          </a:prstGeom>
          <a:solidFill>
            <a:srgbClr val="8b5cf6">
              <a:alpha val="1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212" name="Image 2" descr="preencoded.png"/>
          <p:cNvPicPr/>
          <p:nvPr/>
        </p:nvPicPr>
        <p:blipFill>
          <a:blip r:embed="rId3"/>
          <a:stretch/>
        </p:blipFill>
        <p:spPr>
          <a:xfrm>
            <a:off x="877680" y="3940920"/>
            <a:ext cx="291600" cy="291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3" name="Text 16"/>
          <p:cNvSpPr/>
          <p:nvPr/>
        </p:nvSpPr>
        <p:spPr>
          <a:xfrm>
            <a:off x="1463040" y="3721680"/>
            <a:ext cx="70398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Battle-tested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17"/>
          <p:cNvSpPr/>
          <p:nvPr/>
        </p:nvSpPr>
        <p:spPr>
          <a:xfrm>
            <a:off x="1463040" y="4050720"/>
            <a:ext cx="70398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Adopted in TLS 1.3, QUIC, OpenSSH, WireGuard VPN, and Signal. RFC 8439 is the IETF standard.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18"/>
          <p:cNvSpPr/>
          <p:nvPr/>
        </p:nvSpPr>
        <p:spPr>
          <a:xfrm>
            <a:off x="8275320" y="4851000"/>
            <a:ext cx="163440" cy="4464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16" name="Shape 19"/>
          <p:cNvSpPr/>
          <p:nvPr/>
        </p:nvSpPr>
        <p:spPr>
          <a:xfrm>
            <a:off x="8503920" y="4851000"/>
            <a:ext cx="364680" cy="4464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17" name="Text 20"/>
          <p:cNvSpPr/>
          <p:nvPr/>
        </p:nvSpPr>
        <p:spPr>
          <a:xfrm>
            <a:off x="6400800" y="4759560"/>
            <a:ext cx="17820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21"/>
          <p:cNvSpPr/>
          <p:nvPr/>
        </p:nvSpPr>
        <p:spPr>
          <a:xfrm>
            <a:off x="365760" y="4759560"/>
            <a:ext cx="9133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08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Shape 0"/>
          <p:cNvSpPr/>
          <p:nvPr/>
        </p:nvSpPr>
        <p:spPr>
          <a:xfrm>
            <a:off x="457200" y="502920"/>
            <a:ext cx="163440" cy="1634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0" name="Text 1"/>
          <p:cNvSpPr/>
          <p:nvPr/>
        </p:nvSpPr>
        <p:spPr>
          <a:xfrm>
            <a:off x="713160" y="365760"/>
            <a:ext cx="79542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ChaCha20: A Stream Cipher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2"/>
          <p:cNvSpPr/>
          <p:nvPr/>
        </p:nvSpPr>
        <p:spPr>
          <a:xfrm>
            <a:off x="713160" y="868680"/>
            <a:ext cx="79542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Generates a pseudorandom keystream — never encrypts plaintext directly.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Shape 3"/>
          <p:cNvSpPr/>
          <p:nvPr/>
        </p:nvSpPr>
        <p:spPr>
          <a:xfrm>
            <a:off x="457200" y="1417320"/>
            <a:ext cx="4845240" cy="7304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3" name="Shape 4"/>
          <p:cNvSpPr/>
          <p:nvPr/>
        </p:nvSpPr>
        <p:spPr>
          <a:xfrm>
            <a:off x="457200" y="1417320"/>
            <a:ext cx="53640" cy="7304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4" name="Text 5"/>
          <p:cNvSpPr/>
          <p:nvPr/>
        </p:nvSpPr>
        <p:spPr>
          <a:xfrm>
            <a:off x="640080" y="1508760"/>
            <a:ext cx="118764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14b8a6"/>
                </a:solidFill>
                <a:effectLst/>
                <a:uFillTx/>
                <a:latin typeface="Georgia"/>
                <a:ea typeface="Georgia"/>
              </a:rPr>
              <a:t>Inputs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6"/>
          <p:cNvSpPr/>
          <p:nvPr/>
        </p:nvSpPr>
        <p:spPr>
          <a:xfrm>
            <a:off x="1874520" y="1508760"/>
            <a:ext cx="32907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0b1a2e"/>
                </a:solidFill>
                <a:effectLst/>
                <a:uFillTx/>
                <a:latin typeface="Calibri"/>
                <a:ea typeface="Consolas"/>
              </a:rPr>
              <a:t>256-bit key + 96-bit nonce + counter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7"/>
          <p:cNvSpPr/>
          <p:nvPr/>
        </p:nvSpPr>
        <p:spPr>
          <a:xfrm>
            <a:off x="457200" y="2258640"/>
            <a:ext cx="4845240" cy="7304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7" name="Shape 8"/>
          <p:cNvSpPr/>
          <p:nvPr/>
        </p:nvSpPr>
        <p:spPr>
          <a:xfrm>
            <a:off x="457200" y="2258640"/>
            <a:ext cx="53640" cy="730440"/>
          </a:xfrm>
          <a:prstGeom prst="rect">
            <a:avLst/>
          </a:prstGeom>
          <a:solidFill>
            <a:srgbClr val="f970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8" name="Text 9"/>
          <p:cNvSpPr/>
          <p:nvPr/>
        </p:nvSpPr>
        <p:spPr>
          <a:xfrm>
            <a:off x="640080" y="2350080"/>
            <a:ext cx="118764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97066"/>
                </a:solidFill>
                <a:effectLst/>
                <a:uFillTx/>
                <a:latin typeface="Georgia"/>
                <a:ea typeface="Georgia"/>
              </a:rPr>
              <a:t>Output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10"/>
          <p:cNvSpPr/>
          <p:nvPr/>
        </p:nvSpPr>
        <p:spPr>
          <a:xfrm>
            <a:off x="1874520" y="2350080"/>
            <a:ext cx="32907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0b1a2e"/>
                </a:solidFill>
                <a:effectLst/>
                <a:uFillTx/>
                <a:latin typeface="Calibri"/>
                <a:ea typeface="Consolas"/>
              </a:rPr>
              <a:t>A pseudorandom keystream block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11"/>
          <p:cNvSpPr/>
          <p:nvPr/>
        </p:nvSpPr>
        <p:spPr>
          <a:xfrm>
            <a:off x="457200" y="3099960"/>
            <a:ext cx="4845240" cy="7304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1" name="Shape 12"/>
          <p:cNvSpPr/>
          <p:nvPr/>
        </p:nvSpPr>
        <p:spPr>
          <a:xfrm>
            <a:off x="457200" y="3099960"/>
            <a:ext cx="53640" cy="7304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2" name="Text 13"/>
          <p:cNvSpPr/>
          <p:nvPr/>
        </p:nvSpPr>
        <p:spPr>
          <a:xfrm>
            <a:off x="640080" y="3191400"/>
            <a:ext cx="118764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8b5cf6"/>
                </a:solidFill>
                <a:effectLst/>
                <a:uFillTx/>
                <a:latin typeface="Georgia"/>
                <a:ea typeface="Georgia"/>
              </a:rPr>
              <a:t>Encrypt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14"/>
          <p:cNvSpPr/>
          <p:nvPr/>
        </p:nvSpPr>
        <p:spPr>
          <a:xfrm>
            <a:off x="1874520" y="3191400"/>
            <a:ext cx="32907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0b1a2e"/>
                </a:solidFill>
                <a:effectLst/>
                <a:uFillTx/>
                <a:latin typeface="Calibri"/>
                <a:ea typeface="Consolas"/>
              </a:rPr>
              <a:t>ciphertext = plaintext XOR keystream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Shape 15"/>
          <p:cNvSpPr/>
          <p:nvPr/>
        </p:nvSpPr>
        <p:spPr>
          <a:xfrm>
            <a:off x="457200" y="3940920"/>
            <a:ext cx="4845240" cy="7304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5" name="Shape 16"/>
          <p:cNvSpPr/>
          <p:nvPr/>
        </p:nvSpPr>
        <p:spPr>
          <a:xfrm>
            <a:off x="457200" y="3940920"/>
            <a:ext cx="53640" cy="73044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6" name="Text 17"/>
          <p:cNvSpPr/>
          <p:nvPr/>
        </p:nvSpPr>
        <p:spPr>
          <a:xfrm>
            <a:off x="640080" y="4032360"/>
            <a:ext cx="118764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8b5cf6"/>
                </a:solidFill>
                <a:effectLst/>
                <a:uFillTx/>
                <a:latin typeface="Georgia"/>
                <a:ea typeface="Georgia"/>
              </a:rPr>
              <a:t>Decrypt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18"/>
          <p:cNvSpPr/>
          <p:nvPr/>
        </p:nvSpPr>
        <p:spPr>
          <a:xfrm>
            <a:off x="1874520" y="4032360"/>
            <a:ext cx="32907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0b1a2e"/>
                </a:solidFill>
                <a:effectLst/>
                <a:uFillTx/>
                <a:latin typeface="Calibri"/>
                <a:ea typeface="Consolas"/>
              </a:rPr>
              <a:t>plaintext = ciphertext XOR keystream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19"/>
          <p:cNvSpPr/>
          <p:nvPr/>
        </p:nvSpPr>
        <p:spPr>
          <a:xfrm>
            <a:off x="5486400" y="1417320"/>
            <a:ext cx="3199320" cy="3016440"/>
          </a:xfrm>
          <a:prstGeom prst="rect">
            <a:avLst/>
          </a:prstGeom>
          <a:solidFill>
            <a:srgbClr val="0b1a2e"/>
          </a:solidFill>
          <a:ln w="0">
            <a:noFill/>
          </a:ln>
          <a:effectLst>
            <a:outerShdw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39" name="Text 20"/>
          <p:cNvSpPr/>
          <p:nvPr/>
        </p:nvSpPr>
        <p:spPr>
          <a:xfrm>
            <a:off x="5486400" y="1554480"/>
            <a:ext cx="3199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pc="300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ENCRYPTION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21"/>
          <p:cNvSpPr/>
          <p:nvPr/>
        </p:nvSpPr>
        <p:spPr>
          <a:xfrm>
            <a:off x="5623560" y="2011680"/>
            <a:ext cx="913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plaintext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Shape 22"/>
          <p:cNvSpPr/>
          <p:nvPr/>
        </p:nvSpPr>
        <p:spPr>
          <a:xfrm>
            <a:off x="6583680" y="2057400"/>
            <a:ext cx="1964880" cy="36468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2" name="Text 23"/>
          <p:cNvSpPr/>
          <p:nvPr/>
        </p:nvSpPr>
        <p:spPr>
          <a:xfrm>
            <a:off x="6583680" y="2057400"/>
            <a:ext cx="19648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Hello!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24"/>
          <p:cNvSpPr/>
          <p:nvPr/>
        </p:nvSpPr>
        <p:spPr>
          <a:xfrm>
            <a:off x="5486400" y="2514600"/>
            <a:ext cx="31993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000" b="1" u="none" strike="noStrike">
                <a:solidFill>
                  <a:srgbClr val="f5b400"/>
                </a:solidFill>
                <a:effectLst/>
                <a:uFillTx/>
                <a:latin typeface="Georgia"/>
                <a:ea typeface="Georgia"/>
              </a:rPr>
              <a:t>⊕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25"/>
          <p:cNvSpPr/>
          <p:nvPr/>
        </p:nvSpPr>
        <p:spPr>
          <a:xfrm>
            <a:off x="5623560" y="2926080"/>
            <a:ext cx="913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keystream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26"/>
          <p:cNvSpPr/>
          <p:nvPr/>
        </p:nvSpPr>
        <p:spPr>
          <a:xfrm>
            <a:off x="6583680" y="2971800"/>
            <a:ext cx="1964880" cy="36468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6" name="Text 27"/>
          <p:cNvSpPr/>
          <p:nvPr/>
        </p:nvSpPr>
        <p:spPr>
          <a:xfrm>
            <a:off x="6583680" y="2971800"/>
            <a:ext cx="19648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0x9F2A…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Shape 28"/>
          <p:cNvSpPr/>
          <p:nvPr/>
        </p:nvSpPr>
        <p:spPr>
          <a:xfrm>
            <a:off x="5623560" y="3474720"/>
            <a:ext cx="2926080" cy="360"/>
          </a:xfrm>
          <a:prstGeom prst="line">
            <a:avLst/>
          </a:prstGeom>
          <a:ln w="12600">
            <a:solidFill>
              <a:srgbClr val="94a3b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48" name="Text 29"/>
          <p:cNvSpPr/>
          <p:nvPr/>
        </p:nvSpPr>
        <p:spPr>
          <a:xfrm>
            <a:off x="5623560" y="3566160"/>
            <a:ext cx="913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ciphertext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30"/>
          <p:cNvSpPr/>
          <p:nvPr/>
        </p:nvSpPr>
        <p:spPr>
          <a:xfrm>
            <a:off x="6583680" y="3611880"/>
            <a:ext cx="1964880" cy="364680"/>
          </a:xfrm>
          <a:prstGeom prst="rect">
            <a:avLst/>
          </a:prstGeom>
          <a:solidFill>
            <a:srgbClr val="f970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0" name="Text 31"/>
          <p:cNvSpPr/>
          <p:nvPr/>
        </p:nvSpPr>
        <p:spPr>
          <a:xfrm>
            <a:off x="6583680" y="3611880"/>
            <a:ext cx="19648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0xC10B…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32"/>
          <p:cNvSpPr/>
          <p:nvPr/>
        </p:nvSpPr>
        <p:spPr>
          <a:xfrm>
            <a:off x="8275320" y="4851000"/>
            <a:ext cx="163440" cy="4464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2" name="Shape 33"/>
          <p:cNvSpPr/>
          <p:nvPr/>
        </p:nvSpPr>
        <p:spPr>
          <a:xfrm>
            <a:off x="8503920" y="4851000"/>
            <a:ext cx="364680" cy="4464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3" name="Text 34"/>
          <p:cNvSpPr/>
          <p:nvPr/>
        </p:nvSpPr>
        <p:spPr>
          <a:xfrm>
            <a:off x="6400800" y="4759560"/>
            <a:ext cx="17820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35"/>
          <p:cNvSpPr/>
          <p:nvPr/>
        </p:nvSpPr>
        <p:spPr>
          <a:xfrm>
            <a:off x="365760" y="4759560"/>
            <a:ext cx="9133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09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Shape 0"/>
          <p:cNvSpPr/>
          <p:nvPr/>
        </p:nvSpPr>
        <p:spPr>
          <a:xfrm>
            <a:off x="457200" y="502920"/>
            <a:ext cx="163440" cy="1634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6" name="Text 1"/>
          <p:cNvSpPr/>
          <p:nvPr/>
        </p:nvSpPr>
        <p:spPr>
          <a:xfrm>
            <a:off x="713160" y="365760"/>
            <a:ext cx="79542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ChaCha20: Internal State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2"/>
          <p:cNvSpPr/>
          <p:nvPr/>
        </p:nvSpPr>
        <p:spPr>
          <a:xfrm>
            <a:off x="713160" y="868680"/>
            <a:ext cx="79542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A 4×4 matrix of 32-bit words — 16 words × 32 bits = 512 bits.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Shape 3"/>
          <p:cNvSpPr/>
          <p:nvPr/>
        </p:nvSpPr>
        <p:spPr>
          <a:xfrm>
            <a:off x="640080" y="1554480"/>
            <a:ext cx="712080" cy="712080"/>
          </a:xfrm>
          <a:prstGeom prst="rect">
            <a:avLst/>
          </a:prstGeom>
          <a:solidFill>
            <a:srgbClr val="14b8a6"/>
          </a:solidFill>
          <a:ln w="0">
            <a:noFill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59" name="Text 4"/>
          <p:cNvSpPr/>
          <p:nvPr/>
        </p:nvSpPr>
        <p:spPr>
          <a:xfrm>
            <a:off x="640080" y="1554480"/>
            <a:ext cx="712080" cy="71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const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Shape 5"/>
          <p:cNvSpPr/>
          <p:nvPr/>
        </p:nvSpPr>
        <p:spPr>
          <a:xfrm>
            <a:off x="1408320" y="1554480"/>
            <a:ext cx="712080" cy="712080"/>
          </a:xfrm>
          <a:prstGeom prst="rect">
            <a:avLst/>
          </a:prstGeom>
          <a:solidFill>
            <a:srgbClr val="14b8a6"/>
          </a:solidFill>
          <a:ln w="0">
            <a:noFill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1" name="Text 6"/>
          <p:cNvSpPr/>
          <p:nvPr/>
        </p:nvSpPr>
        <p:spPr>
          <a:xfrm>
            <a:off x="1408320" y="1554480"/>
            <a:ext cx="712080" cy="71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const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Shape 7"/>
          <p:cNvSpPr/>
          <p:nvPr/>
        </p:nvSpPr>
        <p:spPr>
          <a:xfrm>
            <a:off x="2176200" y="1554480"/>
            <a:ext cx="712080" cy="712080"/>
          </a:xfrm>
          <a:prstGeom prst="rect">
            <a:avLst/>
          </a:prstGeom>
          <a:solidFill>
            <a:srgbClr val="14b8a6"/>
          </a:solidFill>
          <a:ln w="0">
            <a:noFill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3" name="Text 8"/>
          <p:cNvSpPr/>
          <p:nvPr/>
        </p:nvSpPr>
        <p:spPr>
          <a:xfrm>
            <a:off x="2176200" y="1554480"/>
            <a:ext cx="712080" cy="71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const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Shape 9"/>
          <p:cNvSpPr/>
          <p:nvPr/>
        </p:nvSpPr>
        <p:spPr>
          <a:xfrm>
            <a:off x="2944440" y="1554480"/>
            <a:ext cx="712080" cy="712080"/>
          </a:xfrm>
          <a:prstGeom prst="rect">
            <a:avLst/>
          </a:prstGeom>
          <a:solidFill>
            <a:srgbClr val="14b8a6"/>
          </a:solidFill>
          <a:ln w="0">
            <a:noFill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5" name="Text 10"/>
          <p:cNvSpPr/>
          <p:nvPr/>
        </p:nvSpPr>
        <p:spPr>
          <a:xfrm>
            <a:off x="2944440" y="1554480"/>
            <a:ext cx="712080" cy="71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const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11"/>
          <p:cNvSpPr/>
          <p:nvPr/>
        </p:nvSpPr>
        <p:spPr>
          <a:xfrm>
            <a:off x="640080" y="2322720"/>
            <a:ext cx="712080" cy="712080"/>
          </a:xfrm>
          <a:prstGeom prst="rect">
            <a:avLst/>
          </a:prstGeom>
          <a:solidFill>
            <a:srgbClr val="f5b400"/>
          </a:solidFill>
          <a:ln w="0">
            <a:noFill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7" name="Text 12"/>
          <p:cNvSpPr/>
          <p:nvPr/>
        </p:nvSpPr>
        <p:spPr>
          <a:xfrm>
            <a:off x="640080" y="2322720"/>
            <a:ext cx="712080" cy="71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key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Shape 13"/>
          <p:cNvSpPr/>
          <p:nvPr/>
        </p:nvSpPr>
        <p:spPr>
          <a:xfrm>
            <a:off x="1408320" y="2322720"/>
            <a:ext cx="712080" cy="712080"/>
          </a:xfrm>
          <a:prstGeom prst="rect">
            <a:avLst/>
          </a:prstGeom>
          <a:solidFill>
            <a:srgbClr val="f5b400"/>
          </a:solidFill>
          <a:ln w="0">
            <a:noFill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69" name="Text 14"/>
          <p:cNvSpPr/>
          <p:nvPr/>
        </p:nvSpPr>
        <p:spPr>
          <a:xfrm>
            <a:off x="1408320" y="2322720"/>
            <a:ext cx="712080" cy="71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key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Shape 15"/>
          <p:cNvSpPr/>
          <p:nvPr/>
        </p:nvSpPr>
        <p:spPr>
          <a:xfrm>
            <a:off x="2176200" y="2322720"/>
            <a:ext cx="712080" cy="712080"/>
          </a:xfrm>
          <a:prstGeom prst="rect">
            <a:avLst/>
          </a:prstGeom>
          <a:solidFill>
            <a:srgbClr val="f5b400"/>
          </a:solidFill>
          <a:ln w="0">
            <a:noFill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1" name="Text 16"/>
          <p:cNvSpPr/>
          <p:nvPr/>
        </p:nvSpPr>
        <p:spPr>
          <a:xfrm>
            <a:off x="2176200" y="2322720"/>
            <a:ext cx="712080" cy="71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key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Shape 17"/>
          <p:cNvSpPr/>
          <p:nvPr/>
        </p:nvSpPr>
        <p:spPr>
          <a:xfrm>
            <a:off x="2944440" y="2322720"/>
            <a:ext cx="712080" cy="712080"/>
          </a:xfrm>
          <a:prstGeom prst="rect">
            <a:avLst/>
          </a:prstGeom>
          <a:solidFill>
            <a:srgbClr val="f5b400"/>
          </a:solidFill>
          <a:ln w="0">
            <a:noFill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3" name="Text 18"/>
          <p:cNvSpPr/>
          <p:nvPr/>
        </p:nvSpPr>
        <p:spPr>
          <a:xfrm>
            <a:off x="2944440" y="2322720"/>
            <a:ext cx="712080" cy="71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key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19"/>
          <p:cNvSpPr/>
          <p:nvPr/>
        </p:nvSpPr>
        <p:spPr>
          <a:xfrm>
            <a:off x="640080" y="3090600"/>
            <a:ext cx="712080" cy="712080"/>
          </a:xfrm>
          <a:prstGeom prst="rect">
            <a:avLst/>
          </a:prstGeom>
          <a:solidFill>
            <a:srgbClr val="f5b400"/>
          </a:solidFill>
          <a:ln w="0">
            <a:noFill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5" name="Text 20"/>
          <p:cNvSpPr/>
          <p:nvPr/>
        </p:nvSpPr>
        <p:spPr>
          <a:xfrm>
            <a:off x="640080" y="3090600"/>
            <a:ext cx="712080" cy="71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key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Shape 21"/>
          <p:cNvSpPr/>
          <p:nvPr/>
        </p:nvSpPr>
        <p:spPr>
          <a:xfrm>
            <a:off x="1408320" y="3090600"/>
            <a:ext cx="712080" cy="712080"/>
          </a:xfrm>
          <a:prstGeom prst="rect">
            <a:avLst/>
          </a:prstGeom>
          <a:solidFill>
            <a:srgbClr val="f5b400"/>
          </a:solidFill>
          <a:ln w="0">
            <a:noFill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7" name="Text 22"/>
          <p:cNvSpPr/>
          <p:nvPr/>
        </p:nvSpPr>
        <p:spPr>
          <a:xfrm>
            <a:off x="1408320" y="3090600"/>
            <a:ext cx="712080" cy="71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key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Shape 23"/>
          <p:cNvSpPr/>
          <p:nvPr/>
        </p:nvSpPr>
        <p:spPr>
          <a:xfrm>
            <a:off x="2176200" y="3090600"/>
            <a:ext cx="712080" cy="712080"/>
          </a:xfrm>
          <a:prstGeom prst="rect">
            <a:avLst/>
          </a:prstGeom>
          <a:solidFill>
            <a:srgbClr val="f5b400"/>
          </a:solidFill>
          <a:ln w="0">
            <a:noFill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79" name="Text 24"/>
          <p:cNvSpPr/>
          <p:nvPr/>
        </p:nvSpPr>
        <p:spPr>
          <a:xfrm>
            <a:off x="2176200" y="3090600"/>
            <a:ext cx="712080" cy="71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key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Shape 25"/>
          <p:cNvSpPr/>
          <p:nvPr/>
        </p:nvSpPr>
        <p:spPr>
          <a:xfrm>
            <a:off x="2944440" y="3090600"/>
            <a:ext cx="712080" cy="712080"/>
          </a:xfrm>
          <a:prstGeom prst="rect">
            <a:avLst/>
          </a:prstGeom>
          <a:solidFill>
            <a:srgbClr val="f5b400"/>
          </a:solidFill>
          <a:ln w="0">
            <a:noFill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1" name="Text 26"/>
          <p:cNvSpPr/>
          <p:nvPr/>
        </p:nvSpPr>
        <p:spPr>
          <a:xfrm>
            <a:off x="2944440" y="3090600"/>
            <a:ext cx="712080" cy="71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key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Shape 27"/>
          <p:cNvSpPr/>
          <p:nvPr/>
        </p:nvSpPr>
        <p:spPr>
          <a:xfrm>
            <a:off x="640080" y="3858840"/>
            <a:ext cx="712080" cy="712080"/>
          </a:xfrm>
          <a:prstGeom prst="rect">
            <a:avLst/>
          </a:prstGeom>
          <a:solidFill>
            <a:srgbClr val="f97066"/>
          </a:solidFill>
          <a:ln w="0">
            <a:noFill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3" name="Text 28"/>
          <p:cNvSpPr/>
          <p:nvPr/>
        </p:nvSpPr>
        <p:spPr>
          <a:xfrm>
            <a:off x="640080" y="3858840"/>
            <a:ext cx="712080" cy="71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ctr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Shape 29"/>
          <p:cNvSpPr/>
          <p:nvPr/>
        </p:nvSpPr>
        <p:spPr>
          <a:xfrm>
            <a:off x="1408320" y="3858840"/>
            <a:ext cx="712080" cy="712080"/>
          </a:xfrm>
          <a:prstGeom prst="rect">
            <a:avLst/>
          </a:prstGeom>
          <a:solidFill>
            <a:srgbClr val="8b5cf6"/>
          </a:solidFill>
          <a:ln w="0">
            <a:noFill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5" name="Text 30"/>
          <p:cNvSpPr/>
          <p:nvPr/>
        </p:nvSpPr>
        <p:spPr>
          <a:xfrm>
            <a:off x="1408320" y="3858840"/>
            <a:ext cx="712080" cy="71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nonce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Shape 31"/>
          <p:cNvSpPr/>
          <p:nvPr/>
        </p:nvSpPr>
        <p:spPr>
          <a:xfrm>
            <a:off x="2176200" y="3858840"/>
            <a:ext cx="712080" cy="712080"/>
          </a:xfrm>
          <a:prstGeom prst="rect">
            <a:avLst/>
          </a:prstGeom>
          <a:solidFill>
            <a:srgbClr val="8b5cf6"/>
          </a:solidFill>
          <a:ln w="0">
            <a:noFill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7" name="Text 32"/>
          <p:cNvSpPr/>
          <p:nvPr/>
        </p:nvSpPr>
        <p:spPr>
          <a:xfrm>
            <a:off x="2176200" y="3858840"/>
            <a:ext cx="712080" cy="71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nonce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Shape 33"/>
          <p:cNvSpPr/>
          <p:nvPr/>
        </p:nvSpPr>
        <p:spPr>
          <a:xfrm>
            <a:off x="2944440" y="3858840"/>
            <a:ext cx="712080" cy="712080"/>
          </a:xfrm>
          <a:prstGeom prst="rect">
            <a:avLst/>
          </a:prstGeom>
          <a:solidFill>
            <a:srgbClr val="8b5cf6"/>
          </a:solidFill>
          <a:ln w="0">
            <a:noFill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9" name="Text 34"/>
          <p:cNvSpPr/>
          <p:nvPr/>
        </p:nvSpPr>
        <p:spPr>
          <a:xfrm>
            <a:off x="2944440" y="3858840"/>
            <a:ext cx="712080" cy="71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nonce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35"/>
          <p:cNvSpPr/>
          <p:nvPr/>
        </p:nvSpPr>
        <p:spPr>
          <a:xfrm>
            <a:off x="640080" y="4572000"/>
            <a:ext cx="30164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16 words × 32 bits = 512 bits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Shape 36"/>
          <p:cNvSpPr/>
          <p:nvPr/>
        </p:nvSpPr>
        <p:spPr>
          <a:xfrm>
            <a:off x="4297680" y="1600200"/>
            <a:ext cx="318960" cy="3189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92" name="Text 37"/>
          <p:cNvSpPr/>
          <p:nvPr/>
        </p:nvSpPr>
        <p:spPr>
          <a:xfrm>
            <a:off x="4754880" y="1554480"/>
            <a:ext cx="4113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Constants (4 words)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38"/>
          <p:cNvSpPr/>
          <p:nvPr/>
        </p:nvSpPr>
        <p:spPr>
          <a:xfrm>
            <a:off x="4754880" y="1810440"/>
            <a:ext cx="4113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Fixed: "expand 32-byte k"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Shape 39"/>
          <p:cNvSpPr/>
          <p:nvPr/>
        </p:nvSpPr>
        <p:spPr>
          <a:xfrm>
            <a:off x="4297680" y="2194560"/>
            <a:ext cx="318960" cy="318960"/>
          </a:xfrm>
          <a:prstGeom prst="rect">
            <a:avLst/>
          </a:prstGeom>
          <a:solidFill>
            <a:srgbClr val="f5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95" name="Text 40"/>
          <p:cNvSpPr/>
          <p:nvPr/>
        </p:nvSpPr>
        <p:spPr>
          <a:xfrm>
            <a:off x="4754880" y="2148840"/>
            <a:ext cx="4113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Key (8 words)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41"/>
          <p:cNvSpPr/>
          <p:nvPr/>
        </p:nvSpPr>
        <p:spPr>
          <a:xfrm>
            <a:off x="4754880" y="2404800"/>
            <a:ext cx="4113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256-bit shared secret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Shape 42"/>
          <p:cNvSpPr/>
          <p:nvPr/>
        </p:nvSpPr>
        <p:spPr>
          <a:xfrm>
            <a:off x="4297680" y="2788920"/>
            <a:ext cx="318960" cy="318960"/>
          </a:xfrm>
          <a:prstGeom prst="rect">
            <a:avLst/>
          </a:prstGeom>
          <a:solidFill>
            <a:srgbClr val="f970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98" name="Text 43"/>
          <p:cNvSpPr/>
          <p:nvPr/>
        </p:nvSpPr>
        <p:spPr>
          <a:xfrm>
            <a:off x="4754880" y="2743200"/>
            <a:ext cx="4113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Counter (1 word)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44"/>
          <p:cNvSpPr/>
          <p:nvPr/>
        </p:nvSpPr>
        <p:spPr>
          <a:xfrm>
            <a:off x="4754880" y="2999160"/>
            <a:ext cx="4113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Tracks each 512 bit block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Shape 45"/>
          <p:cNvSpPr/>
          <p:nvPr/>
        </p:nvSpPr>
        <p:spPr>
          <a:xfrm>
            <a:off x="4297680" y="3383280"/>
            <a:ext cx="318960" cy="3189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01" name="Text 46"/>
          <p:cNvSpPr/>
          <p:nvPr/>
        </p:nvSpPr>
        <p:spPr>
          <a:xfrm>
            <a:off x="4754880" y="3337560"/>
            <a:ext cx="4113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Nonce (3 words)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47"/>
          <p:cNvSpPr/>
          <p:nvPr/>
        </p:nvSpPr>
        <p:spPr>
          <a:xfrm>
            <a:off x="4754880" y="3593520"/>
            <a:ext cx="4113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96-bit unique-per-message value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Shape 48"/>
          <p:cNvSpPr/>
          <p:nvPr/>
        </p:nvSpPr>
        <p:spPr>
          <a:xfrm>
            <a:off x="4297680" y="4069080"/>
            <a:ext cx="4296600" cy="639000"/>
          </a:xfrm>
          <a:prstGeom prst="rect">
            <a:avLst/>
          </a:prstGeom>
          <a:solidFill>
            <a:srgbClr val="0b1a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04" name="Text 49"/>
          <p:cNvSpPr/>
          <p:nvPr/>
        </p:nvSpPr>
        <p:spPr>
          <a:xfrm>
            <a:off x="4434840" y="4114800"/>
            <a:ext cx="4022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14b8a6"/>
                </a:solidFill>
                <a:effectLst/>
                <a:uFillTx/>
                <a:latin typeface="Georgia"/>
                <a:ea typeface="Georgia"/>
              </a:rPr>
              <a:t>20 rounds = 10 double-rounds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50"/>
          <p:cNvSpPr/>
          <p:nvPr/>
        </p:nvSpPr>
        <p:spPr>
          <a:xfrm>
            <a:off x="4434840" y="4389120"/>
            <a:ext cx="4022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That's where the "20" in ChaCha20 comes from.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Shape 51"/>
          <p:cNvSpPr/>
          <p:nvPr/>
        </p:nvSpPr>
        <p:spPr>
          <a:xfrm>
            <a:off x="8275320" y="4851000"/>
            <a:ext cx="163440" cy="4464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07" name="Shape 52"/>
          <p:cNvSpPr/>
          <p:nvPr/>
        </p:nvSpPr>
        <p:spPr>
          <a:xfrm>
            <a:off x="8503920" y="4851000"/>
            <a:ext cx="364680" cy="4464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08" name="Text 53"/>
          <p:cNvSpPr/>
          <p:nvPr/>
        </p:nvSpPr>
        <p:spPr>
          <a:xfrm>
            <a:off x="6400800" y="4759560"/>
            <a:ext cx="17820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54"/>
          <p:cNvSpPr/>
          <p:nvPr/>
        </p:nvSpPr>
        <p:spPr>
          <a:xfrm>
            <a:off x="365760" y="4759560"/>
            <a:ext cx="9133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10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Shape 0"/>
          <p:cNvSpPr/>
          <p:nvPr/>
        </p:nvSpPr>
        <p:spPr>
          <a:xfrm>
            <a:off x="457200" y="502920"/>
            <a:ext cx="163440" cy="1634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11" name="Text 1"/>
          <p:cNvSpPr/>
          <p:nvPr/>
        </p:nvSpPr>
        <p:spPr>
          <a:xfrm>
            <a:off x="713160" y="365760"/>
            <a:ext cx="79542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The Quarter Round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2"/>
          <p:cNvSpPr/>
          <p:nvPr/>
        </p:nvSpPr>
        <p:spPr>
          <a:xfrm>
            <a:off x="713160" y="868680"/>
            <a:ext cx="79542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The atomic mixing operation. Scrambles four 32-bit words using only ARX.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Shape 3"/>
          <p:cNvSpPr/>
          <p:nvPr/>
        </p:nvSpPr>
        <p:spPr>
          <a:xfrm>
            <a:off x="457200" y="1417320"/>
            <a:ext cx="3656520" cy="319932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14" name="Text 4"/>
          <p:cNvSpPr/>
          <p:nvPr/>
        </p:nvSpPr>
        <p:spPr>
          <a:xfrm>
            <a:off x="640080" y="1554480"/>
            <a:ext cx="32907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ARX operations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5"/>
          <p:cNvSpPr/>
          <p:nvPr/>
        </p:nvSpPr>
        <p:spPr>
          <a:xfrm>
            <a:off x="640080" y="2011680"/>
            <a:ext cx="547560" cy="547560"/>
          </a:xfrm>
          <a:prstGeom prst="ellipse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16" name="Text 6"/>
          <p:cNvSpPr/>
          <p:nvPr/>
        </p:nvSpPr>
        <p:spPr>
          <a:xfrm>
            <a:off x="640080" y="2011680"/>
            <a:ext cx="5475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A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7"/>
          <p:cNvSpPr/>
          <p:nvPr/>
        </p:nvSpPr>
        <p:spPr>
          <a:xfrm>
            <a:off x="1325880" y="2057400"/>
            <a:ext cx="26506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Addition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8"/>
          <p:cNvSpPr/>
          <p:nvPr/>
        </p:nvSpPr>
        <p:spPr>
          <a:xfrm>
            <a:off x="1325880" y="2304360"/>
            <a:ext cx="26506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(mod 2³²)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Shape 9"/>
          <p:cNvSpPr/>
          <p:nvPr/>
        </p:nvSpPr>
        <p:spPr>
          <a:xfrm>
            <a:off x="640080" y="2788920"/>
            <a:ext cx="547560" cy="547560"/>
          </a:xfrm>
          <a:prstGeom prst="ellipse">
            <a:avLst/>
          </a:prstGeom>
          <a:solidFill>
            <a:srgbClr val="f5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20" name="Text 10"/>
          <p:cNvSpPr/>
          <p:nvPr/>
        </p:nvSpPr>
        <p:spPr>
          <a:xfrm>
            <a:off x="640080" y="2788920"/>
            <a:ext cx="5475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11"/>
          <p:cNvSpPr/>
          <p:nvPr/>
        </p:nvSpPr>
        <p:spPr>
          <a:xfrm>
            <a:off x="1325880" y="2834640"/>
            <a:ext cx="26506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Rotation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12"/>
          <p:cNvSpPr/>
          <p:nvPr/>
        </p:nvSpPr>
        <p:spPr>
          <a:xfrm>
            <a:off x="1325880" y="3081600"/>
            <a:ext cx="26506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(left bit-rotate)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13"/>
          <p:cNvSpPr/>
          <p:nvPr/>
        </p:nvSpPr>
        <p:spPr>
          <a:xfrm>
            <a:off x="640080" y="3566160"/>
            <a:ext cx="547560" cy="54756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24" name="Text 14"/>
          <p:cNvSpPr/>
          <p:nvPr/>
        </p:nvSpPr>
        <p:spPr>
          <a:xfrm>
            <a:off x="640080" y="3566160"/>
            <a:ext cx="54756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X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 15"/>
          <p:cNvSpPr/>
          <p:nvPr/>
        </p:nvSpPr>
        <p:spPr>
          <a:xfrm>
            <a:off x="1325880" y="3611880"/>
            <a:ext cx="26506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XOR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16"/>
          <p:cNvSpPr/>
          <p:nvPr/>
        </p:nvSpPr>
        <p:spPr>
          <a:xfrm>
            <a:off x="1325880" y="3858840"/>
            <a:ext cx="26506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(exclusive or)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17"/>
          <p:cNvSpPr/>
          <p:nvPr/>
        </p:nvSpPr>
        <p:spPr>
          <a:xfrm>
            <a:off x="640080" y="4251960"/>
            <a:ext cx="329076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CPU accelerated operations, fast in that architecture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18"/>
          <p:cNvSpPr/>
          <p:nvPr/>
        </p:nvSpPr>
        <p:spPr>
          <a:xfrm>
            <a:off x="4389120" y="1417320"/>
            <a:ext cx="4296600" cy="3199320"/>
          </a:xfrm>
          <a:prstGeom prst="rect">
            <a:avLst/>
          </a:prstGeom>
          <a:solidFill>
            <a:srgbClr val="0b1a2e"/>
          </a:solidFill>
          <a:ln w="0">
            <a:noFill/>
          </a:ln>
          <a:effectLst>
            <a:outerShdw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29" name="Text 19"/>
          <p:cNvSpPr/>
          <p:nvPr/>
        </p:nvSpPr>
        <p:spPr>
          <a:xfrm>
            <a:off x="4526280" y="1554480"/>
            <a:ext cx="402228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pc="99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QUARTERROUND(a, b, c, d)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Shape 20"/>
          <p:cNvSpPr/>
          <p:nvPr/>
        </p:nvSpPr>
        <p:spPr>
          <a:xfrm>
            <a:off x="4526280" y="1965960"/>
            <a:ext cx="4022280" cy="456120"/>
          </a:xfrm>
          <a:prstGeom prst="rect">
            <a:avLst/>
          </a:prstGeom>
          <a:solidFill>
            <a:srgbClr val="1324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31" name="Text 21"/>
          <p:cNvSpPr/>
          <p:nvPr/>
        </p:nvSpPr>
        <p:spPr>
          <a:xfrm>
            <a:off x="4572000" y="1965960"/>
            <a:ext cx="2732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onsolas"/>
                <a:ea typeface="Consolas"/>
              </a:rPr>
              <a:t>1.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22"/>
          <p:cNvSpPr/>
          <p:nvPr/>
        </p:nvSpPr>
        <p:spPr>
          <a:xfrm>
            <a:off x="4892040" y="1965960"/>
            <a:ext cx="3656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e8eef7"/>
                </a:solidFill>
                <a:effectLst/>
                <a:uFillTx/>
                <a:latin typeface="Consolas"/>
                <a:ea typeface="Consolas"/>
              </a:rPr>
              <a:t>a += b;   d ^= a;   d &lt;&lt;&lt;= 16;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Shape 23"/>
          <p:cNvSpPr/>
          <p:nvPr/>
        </p:nvSpPr>
        <p:spPr>
          <a:xfrm>
            <a:off x="4526280" y="2514600"/>
            <a:ext cx="4022280" cy="456120"/>
          </a:xfrm>
          <a:prstGeom prst="rect">
            <a:avLst/>
          </a:prstGeom>
          <a:solidFill>
            <a:srgbClr val="1324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34" name="Text 24"/>
          <p:cNvSpPr/>
          <p:nvPr/>
        </p:nvSpPr>
        <p:spPr>
          <a:xfrm>
            <a:off x="4572000" y="2514600"/>
            <a:ext cx="2732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onsolas"/>
                <a:ea typeface="Consolas"/>
              </a:rPr>
              <a:t>2.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25"/>
          <p:cNvSpPr/>
          <p:nvPr/>
        </p:nvSpPr>
        <p:spPr>
          <a:xfrm>
            <a:off x="4892040" y="2514600"/>
            <a:ext cx="3656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e8eef7"/>
                </a:solidFill>
                <a:effectLst/>
                <a:uFillTx/>
                <a:latin typeface="Consolas"/>
                <a:ea typeface="Consolas"/>
              </a:rPr>
              <a:t>c += d;   b ^= c;   b &lt;&lt;&lt;= 12;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Shape 26"/>
          <p:cNvSpPr/>
          <p:nvPr/>
        </p:nvSpPr>
        <p:spPr>
          <a:xfrm>
            <a:off x="4526280" y="3063240"/>
            <a:ext cx="4022280" cy="456120"/>
          </a:xfrm>
          <a:prstGeom prst="rect">
            <a:avLst/>
          </a:prstGeom>
          <a:solidFill>
            <a:srgbClr val="1324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37" name="Text 27"/>
          <p:cNvSpPr/>
          <p:nvPr/>
        </p:nvSpPr>
        <p:spPr>
          <a:xfrm>
            <a:off x="4572000" y="3063240"/>
            <a:ext cx="2732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onsolas"/>
                <a:ea typeface="Consolas"/>
              </a:rPr>
              <a:t>3.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28"/>
          <p:cNvSpPr/>
          <p:nvPr/>
        </p:nvSpPr>
        <p:spPr>
          <a:xfrm>
            <a:off x="4892040" y="3063240"/>
            <a:ext cx="3656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e8eef7"/>
                </a:solidFill>
                <a:effectLst/>
                <a:uFillTx/>
                <a:latin typeface="Consolas"/>
                <a:ea typeface="Consolas"/>
              </a:rPr>
              <a:t>a += b;   d ^= a;   d &lt;&lt;&lt;= 8;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Shape 29"/>
          <p:cNvSpPr/>
          <p:nvPr/>
        </p:nvSpPr>
        <p:spPr>
          <a:xfrm>
            <a:off x="4526280" y="3611880"/>
            <a:ext cx="4022280" cy="456120"/>
          </a:xfrm>
          <a:prstGeom prst="rect">
            <a:avLst/>
          </a:prstGeom>
          <a:solidFill>
            <a:srgbClr val="1324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40" name="Text 30"/>
          <p:cNvSpPr/>
          <p:nvPr/>
        </p:nvSpPr>
        <p:spPr>
          <a:xfrm>
            <a:off x="4572000" y="3611880"/>
            <a:ext cx="2732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94a3b8"/>
                </a:solidFill>
                <a:effectLst/>
                <a:uFillTx/>
                <a:latin typeface="Consolas"/>
                <a:ea typeface="Consolas"/>
              </a:rPr>
              <a:t>4.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31"/>
          <p:cNvSpPr/>
          <p:nvPr/>
        </p:nvSpPr>
        <p:spPr>
          <a:xfrm>
            <a:off x="4892040" y="3611880"/>
            <a:ext cx="36565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e8eef7"/>
                </a:solidFill>
                <a:effectLst/>
                <a:uFillTx/>
                <a:latin typeface="Consolas"/>
                <a:ea typeface="Consolas"/>
              </a:rPr>
              <a:t>c += d;   b ^= c;   b &lt;&lt;&lt;= 7;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32"/>
          <p:cNvSpPr/>
          <p:nvPr/>
        </p:nvSpPr>
        <p:spPr>
          <a:xfrm>
            <a:off x="4526280" y="4297680"/>
            <a:ext cx="40222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i="1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Apply 80 quarter rounds total — 4 columns × 4 diagonals × 10 double-rounds.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Shape 33"/>
          <p:cNvSpPr/>
          <p:nvPr/>
        </p:nvSpPr>
        <p:spPr>
          <a:xfrm>
            <a:off x="8275320" y="4851000"/>
            <a:ext cx="163440" cy="4464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44" name="Shape 34"/>
          <p:cNvSpPr/>
          <p:nvPr/>
        </p:nvSpPr>
        <p:spPr>
          <a:xfrm>
            <a:off x="8503920" y="4851000"/>
            <a:ext cx="364680" cy="4464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45" name="Text 35"/>
          <p:cNvSpPr/>
          <p:nvPr/>
        </p:nvSpPr>
        <p:spPr>
          <a:xfrm>
            <a:off x="6400800" y="4759560"/>
            <a:ext cx="17820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36"/>
          <p:cNvSpPr/>
          <p:nvPr/>
        </p:nvSpPr>
        <p:spPr>
          <a:xfrm>
            <a:off x="365760" y="4759560"/>
            <a:ext cx="9133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11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Shape 0"/>
          <p:cNvSpPr/>
          <p:nvPr/>
        </p:nvSpPr>
        <p:spPr>
          <a:xfrm>
            <a:off x="457200" y="502920"/>
            <a:ext cx="163440" cy="1634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48" name="Text 1"/>
          <p:cNvSpPr/>
          <p:nvPr/>
        </p:nvSpPr>
        <p:spPr>
          <a:xfrm>
            <a:off x="713160" y="365760"/>
            <a:ext cx="79542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Column and Diagonal Rounds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2"/>
          <p:cNvSpPr/>
          <p:nvPr/>
        </p:nvSpPr>
        <p:spPr>
          <a:xfrm>
            <a:off x="713160" y="868680"/>
            <a:ext cx="79542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A double-round mixes the matrix two ways: by column, then by diagonal.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3"/>
          <p:cNvSpPr/>
          <p:nvPr/>
        </p:nvSpPr>
        <p:spPr>
          <a:xfrm>
            <a:off x="640080" y="1463040"/>
            <a:ext cx="21204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Index Map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Shape 4"/>
          <p:cNvSpPr/>
          <p:nvPr/>
        </p:nvSpPr>
        <p:spPr>
          <a:xfrm>
            <a:off x="640080" y="1874520"/>
            <a:ext cx="501840" cy="5018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2" name="Text 5"/>
          <p:cNvSpPr/>
          <p:nvPr/>
        </p:nvSpPr>
        <p:spPr>
          <a:xfrm>
            <a:off x="640080" y="187452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Shape 6"/>
          <p:cNvSpPr/>
          <p:nvPr/>
        </p:nvSpPr>
        <p:spPr>
          <a:xfrm>
            <a:off x="1179720" y="1874520"/>
            <a:ext cx="501840" cy="5018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4" name="Text 7"/>
          <p:cNvSpPr/>
          <p:nvPr/>
        </p:nvSpPr>
        <p:spPr>
          <a:xfrm>
            <a:off x="1179720" y="187452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8"/>
          <p:cNvSpPr/>
          <p:nvPr/>
        </p:nvSpPr>
        <p:spPr>
          <a:xfrm>
            <a:off x="1719000" y="1874520"/>
            <a:ext cx="501840" cy="5018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6" name="Text 9"/>
          <p:cNvSpPr/>
          <p:nvPr/>
        </p:nvSpPr>
        <p:spPr>
          <a:xfrm>
            <a:off x="1719000" y="187452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Shape 10"/>
          <p:cNvSpPr/>
          <p:nvPr/>
        </p:nvSpPr>
        <p:spPr>
          <a:xfrm>
            <a:off x="2258640" y="1874520"/>
            <a:ext cx="501840" cy="5018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58" name="Text 11"/>
          <p:cNvSpPr/>
          <p:nvPr/>
        </p:nvSpPr>
        <p:spPr>
          <a:xfrm>
            <a:off x="2258640" y="187452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Shape 12"/>
          <p:cNvSpPr/>
          <p:nvPr/>
        </p:nvSpPr>
        <p:spPr>
          <a:xfrm>
            <a:off x="640080" y="2414160"/>
            <a:ext cx="501840" cy="5018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60" name="Text 13"/>
          <p:cNvSpPr/>
          <p:nvPr/>
        </p:nvSpPr>
        <p:spPr>
          <a:xfrm>
            <a:off x="640080" y="241416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Shape 14"/>
          <p:cNvSpPr/>
          <p:nvPr/>
        </p:nvSpPr>
        <p:spPr>
          <a:xfrm>
            <a:off x="1179720" y="2414160"/>
            <a:ext cx="501840" cy="5018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62" name="Text 15"/>
          <p:cNvSpPr/>
          <p:nvPr/>
        </p:nvSpPr>
        <p:spPr>
          <a:xfrm>
            <a:off x="1179720" y="241416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Shape 16"/>
          <p:cNvSpPr/>
          <p:nvPr/>
        </p:nvSpPr>
        <p:spPr>
          <a:xfrm>
            <a:off x="1719000" y="2414160"/>
            <a:ext cx="501840" cy="5018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64" name="Text 17"/>
          <p:cNvSpPr/>
          <p:nvPr/>
        </p:nvSpPr>
        <p:spPr>
          <a:xfrm>
            <a:off x="1719000" y="241416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Shape 18"/>
          <p:cNvSpPr/>
          <p:nvPr/>
        </p:nvSpPr>
        <p:spPr>
          <a:xfrm>
            <a:off x="2258640" y="2414160"/>
            <a:ext cx="501840" cy="5018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66" name="Text 19"/>
          <p:cNvSpPr/>
          <p:nvPr/>
        </p:nvSpPr>
        <p:spPr>
          <a:xfrm>
            <a:off x="2258640" y="241416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Shape 20"/>
          <p:cNvSpPr/>
          <p:nvPr/>
        </p:nvSpPr>
        <p:spPr>
          <a:xfrm>
            <a:off x="640080" y="2953440"/>
            <a:ext cx="501840" cy="5018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68" name="Text 21"/>
          <p:cNvSpPr/>
          <p:nvPr/>
        </p:nvSpPr>
        <p:spPr>
          <a:xfrm>
            <a:off x="640080" y="295344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Shape 22"/>
          <p:cNvSpPr/>
          <p:nvPr/>
        </p:nvSpPr>
        <p:spPr>
          <a:xfrm>
            <a:off x="1179720" y="2953440"/>
            <a:ext cx="501840" cy="5018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70" name="Text 23"/>
          <p:cNvSpPr/>
          <p:nvPr/>
        </p:nvSpPr>
        <p:spPr>
          <a:xfrm>
            <a:off x="1179720" y="295344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Shape 24"/>
          <p:cNvSpPr/>
          <p:nvPr/>
        </p:nvSpPr>
        <p:spPr>
          <a:xfrm>
            <a:off x="1719000" y="2953440"/>
            <a:ext cx="501840" cy="5018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72" name="Text 25"/>
          <p:cNvSpPr/>
          <p:nvPr/>
        </p:nvSpPr>
        <p:spPr>
          <a:xfrm>
            <a:off x="1719000" y="295344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Shape 26"/>
          <p:cNvSpPr/>
          <p:nvPr/>
        </p:nvSpPr>
        <p:spPr>
          <a:xfrm>
            <a:off x="2258640" y="2953440"/>
            <a:ext cx="501840" cy="5018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74" name="Text 27"/>
          <p:cNvSpPr/>
          <p:nvPr/>
        </p:nvSpPr>
        <p:spPr>
          <a:xfrm>
            <a:off x="2258640" y="295344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Shape 28"/>
          <p:cNvSpPr/>
          <p:nvPr/>
        </p:nvSpPr>
        <p:spPr>
          <a:xfrm>
            <a:off x="640080" y="3493080"/>
            <a:ext cx="501840" cy="5018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76" name="Text 29"/>
          <p:cNvSpPr/>
          <p:nvPr/>
        </p:nvSpPr>
        <p:spPr>
          <a:xfrm>
            <a:off x="640080" y="349308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Shape 30"/>
          <p:cNvSpPr/>
          <p:nvPr/>
        </p:nvSpPr>
        <p:spPr>
          <a:xfrm>
            <a:off x="1179720" y="3493080"/>
            <a:ext cx="501840" cy="5018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78" name="Text 31"/>
          <p:cNvSpPr/>
          <p:nvPr/>
        </p:nvSpPr>
        <p:spPr>
          <a:xfrm>
            <a:off x="1179720" y="349308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Shape 32"/>
          <p:cNvSpPr/>
          <p:nvPr/>
        </p:nvSpPr>
        <p:spPr>
          <a:xfrm>
            <a:off x="1719000" y="3493080"/>
            <a:ext cx="501840" cy="5018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80" name="Text 33"/>
          <p:cNvSpPr/>
          <p:nvPr/>
        </p:nvSpPr>
        <p:spPr>
          <a:xfrm>
            <a:off x="1719000" y="349308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Shape 34"/>
          <p:cNvSpPr/>
          <p:nvPr/>
        </p:nvSpPr>
        <p:spPr>
          <a:xfrm>
            <a:off x="2258640" y="3493080"/>
            <a:ext cx="501840" cy="5018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82" name="Text 35"/>
          <p:cNvSpPr/>
          <p:nvPr/>
        </p:nvSpPr>
        <p:spPr>
          <a:xfrm>
            <a:off x="2258640" y="349308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36"/>
          <p:cNvSpPr/>
          <p:nvPr/>
        </p:nvSpPr>
        <p:spPr>
          <a:xfrm>
            <a:off x="3703320" y="1463040"/>
            <a:ext cx="21204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Column Round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Shape 37"/>
          <p:cNvSpPr/>
          <p:nvPr/>
        </p:nvSpPr>
        <p:spPr>
          <a:xfrm>
            <a:off x="3703320" y="1874520"/>
            <a:ext cx="501840" cy="501840"/>
          </a:xfrm>
          <a:prstGeom prst="rect">
            <a:avLst/>
          </a:prstGeom>
          <a:solidFill>
            <a:srgbClr val="14b8a6"/>
          </a:solidFill>
          <a:ln w="6480">
            <a:solidFill>
              <a:srgbClr val="14b8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85" name="Text 38"/>
          <p:cNvSpPr/>
          <p:nvPr/>
        </p:nvSpPr>
        <p:spPr>
          <a:xfrm>
            <a:off x="3703320" y="187452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Shape 39"/>
          <p:cNvSpPr/>
          <p:nvPr/>
        </p:nvSpPr>
        <p:spPr>
          <a:xfrm>
            <a:off x="4242960" y="1874520"/>
            <a:ext cx="501840" cy="5018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87" name="Text 40"/>
          <p:cNvSpPr/>
          <p:nvPr/>
        </p:nvSpPr>
        <p:spPr>
          <a:xfrm>
            <a:off x="4242960" y="187452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Shape 41"/>
          <p:cNvSpPr/>
          <p:nvPr/>
        </p:nvSpPr>
        <p:spPr>
          <a:xfrm>
            <a:off x="4782240" y="1874520"/>
            <a:ext cx="501840" cy="5018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89" name="Text 42"/>
          <p:cNvSpPr/>
          <p:nvPr/>
        </p:nvSpPr>
        <p:spPr>
          <a:xfrm>
            <a:off x="4782240" y="187452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Shape 43"/>
          <p:cNvSpPr/>
          <p:nvPr/>
        </p:nvSpPr>
        <p:spPr>
          <a:xfrm>
            <a:off x="5321880" y="1874520"/>
            <a:ext cx="501840" cy="5018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1" name="Text 44"/>
          <p:cNvSpPr/>
          <p:nvPr/>
        </p:nvSpPr>
        <p:spPr>
          <a:xfrm>
            <a:off x="5321880" y="187452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Shape 45"/>
          <p:cNvSpPr/>
          <p:nvPr/>
        </p:nvSpPr>
        <p:spPr>
          <a:xfrm>
            <a:off x="3703320" y="2414160"/>
            <a:ext cx="501840" cy="501840"/>
          </a:xfrm>
          <a:prstGeom prst="rect">
            <a:avLst/>
          </a:prstGeom>
          <a:solidFill>
            <a:srgbClr val="14b8a6"/>
          </a:solidFill>
          <a:ln w="6480">
            <a:solidFill>
              <a:srgbClr val="14b8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3" name="Text 46"/>
          <p:cNvSpPr/>
          <p:nvPr/>
        </p:nvSpPr>
        <p:spPr>
          <a:xfrm>
            <a:off x="3703320" y="241416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Shape 47"/>
          <p:cNvSpPr/>
          <p:nvPr/>
        </p:nvSpPr>
        <p:spPr>
          <a:xfrm>
            <a:off x="4242960" y="2414160"/>
            <a:ext cx="501840" cy="5018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5" name="Text 48"/>
          <p:cNvSpPr/>
          <p:nvPr/>
        </p:nvSpPr>
        <p:spPr>
          <a:xfrm>
            <a:off x="4242960" y="241416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Shape 49"/>
          <p:cNvSpPr/>
          <p:nvPr/>
        </p:nvSpPr>
        <p:spPr>
          <a:xfrm>
            <a:off x="4782240" y="2414160"/>
            <a:ext cx="501840" cy="5018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7" name="Text 50"/>
          <p:cNvSpPr/>
          <p:nvPr/>
        </p:nvSpPr>
        <p:spPr>
          <a:xfrm>
            <a:off x="4782240" y="241416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Shape 51"/>
          <p:cNvSpPr/>
          <p:nvPr/>
        </p:nvSpPr>
        <p:spPr>
          <a:xfrm>
            <a:off x="5321880" y="2414160"/>
            <a:ext cx="501840" cy="5018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99" name="Text 52"/>
          <p:cNvSpPr/>
          <p:nvPr/>
        </p:nvSpPr>
        <p:spPr>
          <a:xfrm>
            <a:off x="5321880" y="241416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Shape 53"/>
          <p:cNvSpPr/>
          <p:nvPr/>
        </p:nvSpPr>
        <p:spPr>
          <a:xfrm>
            <a:off x="3703320" y="2953440"/>
            <a:ext cx="501840" cy="501840"/>
          </a:xfrm>
          <a:prstGeom prst="rect">
            <a:avLst/>
          </a:prstGeom>
          <a:solidFill>
            <a:srgbClr val="14b8a6"/>
          </a:solidFill>
          <a:ln w="6480">
            <a:solidFill>
              <a:srgbClr val="14b8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1" name="Text 54"/>
          <p:cNvSpPr/>
          <p:nvPr/>
        </p:nvSpPr>
        <p:spPr>
          <a:xfrm>
            <a:off x="3703320" y="295344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Shape 55"/>
          <p:cNvSpPr/>
          <p:nvPr/>
        </p:nvSpPr>
        <p:spPr>
          <a:xfrm>
            <a:off x="4242960" y="2953440"/>
            <a:ext cx="501840" cy="5018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3" name="Text 56"/>
          <p:cNvSpPr/>
          <p:nvPr/>
        </p:nvSpPr>
        <p:spPr>
          <a:xfrm>
            <a:off x="4242960" y="295344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Shape 57"/>
          <p:cNvSpPr/>
          <p:nvPr/>
        </p:nvSpPr>
        <p:spPr>
          <a:xfrm>
            <a:off x="4782240" y="2953440"/>
            <a:ext cx="501840" cy="5018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5" name="Text 58"/>
          <p:cNvSpPr/>
          <p:nvPr/>
        </p:nvSpPr>
        <p:spPr>
          <a:xfrm>
            <a:off x="4782240" y="295344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Shape 59"/>
          <p:cNvSpPr/>
          <p:nvPr/>
        </p:nvSpPr>
        <p:spPr>
          <a:xfrm>
            <a:off x="5321880" y="2953440"/>
            <a:ext cx="501840" cy="5018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7" name="Text 60"/>
          <p:cNvSpPr/>
          <p:nvPr/>
        </p:nvSpPr>
        <p:spPr>
          <a:xfrm>
            <a:off x="5321880" y="295344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Shape 61"/>
          <p:cNvSpPr/>
          <p:nvPr/>
        </p:nvSpPr>
        <p:spPr>
          <a:xfrm>
            <a:off x="3703320" y="3493080"/>
            <a:ext cx="501840" cy="501840"/>
          </a:xfrm>
          <a:prstGeom prst="rect">
            <a:avLst/>
          </a:prstGeom>
          <a:solidFill>
            <a:srgbClr val="14b8a6"/>
          </a:solidFill>
          <a:ln w="6480">
            <a:solidFill>
              <a:srgbClr val="14b8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09" name="Text 62"/>
          <p:cNvSpPr/>
          <p:nvPr/>
        </p:nvSpPr>
        <p:spPr>
          <a:xfrm>
            <a:off x="3703320" y="349308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Shape 63"/>
          <p:cNvSpPr/>
          <p:nvPr/>
        </p:nvSpPr>
        <p:spPr>
          <a:xfrm>
            <a:off x="4242960" y="3493080"/>
            <a:ext cx="501840" cy="5018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11" name="Text 64"/>
          <p:cNvSpPr/>
          <p:nvPr/>
        </p:nvSpPr>
        <p:spPr>
          <a:xfrm>
            <a:off x="4242960" y="349308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Shape 65"/>
          <p:cNvSpPr/>
          <p:nvPr/>
        </p:nvSpPr>
        <p:spPr>
          <a:xfrm>
            <a:off x="4782240" y="3493080"/>
            <a:ext cx="501840" cy="5018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13" name="Text 66"/>
          <p:cNvSpPr/>
          <p:nvPr/>
        </p:nvSpPr>
        <p:spPr>
          <a:xfrm>
            <a:off x="4782240" y="349308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Shape 67"/>
          <p:cNvSpPr/>
          <p:nvPr/>
        </p:nvSpPr>
        <p:spPr>
          <a:xfrm>
            <a:off x="5321880" y="3493080"/>
            <a:ext cx="501840" cy="5018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15" name="Text 68"/>
          <p:cNvSpPr/>
          <p:nvPr/>
        </p:nvSpPr>
        <p:spPr>
          <a:xfrm>
            <a:off x="5321880" y="349308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 69"/>
          <p:cNvSpPr/>
          <p:nvPr/>
        </p:nvSpPr>
        <p:spPr>
          <a:xfrm>
            <a:off x="6766560" y="1463040"/>
            <a:ext cx="21204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Diagonal Round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Shape 70"/>
          <p:cNvSpPr/>
          <p:nvPr/>
        </p:nvSpPr>
        <p:spPr>
          <a:xfrm>
            <a:off x="6766560" y="1874520"/>
            <a:ext cx="501840" cy="501840"/>
          </a:xfrm>
          <a:prstGeom prst="rect">
            <a:avLst/>
          </a:prstGeom>
          <a:solidFill>
            <a:srgbClr val="f5b400"/>
          </a:solidFill>
          <a:ln w="6480">
            <a:solidFill>
              <a:srgbClr val="f5b4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18" name="Text 71"/>
          <p:cNvSpPr/>
          <p:nvPr/>
        </p:nvSpPr>
        <p:spPr>
          <a:xfrm>
            <a:off x="6766560" y="187452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Shape 72"/>
          <p:cNvSpPr/>
          <p:nvPr/>
        </p:nvSpPr>
        <p:spPr>
          <a:xfrm>
            <a:off x="7306200" y="1874520"/>
            <a:ext cx="501840" cy="5018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20" name="Text 73"/>
          <p:cNvSpPr/>
          <p:nvPr/>
        </p:nvSpPr>
        <p:spPr>
          <a:xfrm>
            <a:off x="7306200" y="187452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Shape 74"/>
          <p:cNvSpPr/>
          <p:nvPr/>
        </p:nvSpPr>
        <p:spPr>
          <a:xfrm>
            <a:off x="7845480" y="1874520"/>
            <a:ext cx="501840" cy="5018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22" name="Text 75"/>
          <p:cNvSpPr/>
          <p:nvPr/>
        </p:nvSpPr>
        <p:spPr>
          <a:xfrm>
            <a:off x="7845480" y="187452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Shape 76"/>
          <p:cNvSpPr/>
          <p:nvPr/>
        </p:nvSpPr>
        <p:spPr>
          <a:xfrm>
            <a:off x="8385120" y="1874520"/>
            <a:ext cx="501840" cy="5018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24" name="Text 77"/>
          <p:cNvSpPr/>
          <p:nvPr/>
        </p:nvSpPr>
        <p:spPr>
          <a:xfrm>
            <a:off x="8385120" y="187452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Shape 78"/>
          <p:cNvSpPr/>
          <p:nvPr/>
        </p:nvSpPr>
        <p:spPr>
          <a:xfrm>
            <a:off x="6766560" y="2414160"/>
            <a:ext cx="501840" cy="5018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26" name="Text 79"/>
          <p:cNvSpPr/>
          <p:nvPr/>
        </p:nvSpPr>
        <p:spPr>
          <a:xfrm>
            <a:off x="6766560" y="241416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Shape 80"/>
          <p:cNvSpPr/>
          <p:nvPr/>
        </p:nvSpPr>
        <p:spPr>
          <a:xfrm>
            <a:off x="7306200" y="2414160"/>
            <a:ext cx="501840" cy="501840"/>
          </a:xfrm>
          <a:prstGeom prst="rect">
            <a:avLst/>
          </a:prstGeom>
          <a:solidFill>
            <a:srgbClr val="f5b400"/>
          </a:solidFill>
          <a:ln w="6480">
            <a:solidFill>
              <a:srgbClr val="f5b4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28" name="Text 81"/>
          <p:cNvSpPr/>
          <p:nvPr/>
        </p:nvSpPr>
        <p:spPr>
          <a:xfrm>
            <a:off x="7306200" y="241416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Shape 82"/>
          <p:cNvSpPr/>
          <p:nvPr/>
        </p:nvSpPr>
        <p:spPr>
          <a:xfrm>
            <a:off x="7845480" y="2414160"/>
            <a:ext cx="501840" cy="5018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30" name="Text 83"/>
          <p:cNvSpPr/>
          <p:nvPr/>
        </p:nvSpPr>
        <p:spPr>
          <a:xfrm>
            <a:off x="7845480" y="241416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Shape 84"/>
          <p:cNvSpPr/>
          <p:nvPr/>
        </p:nvSpPr>
        <p:spPr>
          <a:xfrm>
            <a:off x="8385120" y="2414160"/>
            <a:ext cx="501840" cy="5018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32" name="Text 85"/>
          <p:cNvSpPr/>
          <p:nvPr/>
        </p:nvSpPr>
        <p:spPr>
          <a:xfrm>
            <a:off x="8385120" y="241416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Shape 86"/>
          <p:cNvSpPr/>
          <p:nvPr/>
        </p:nvSpPr>
        <p:spPr>
          <a:xfrm>
            <a:off x="6766560" y="2953440"/>
            <a:ext cx="501840" cy="5018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34" name="Text 87"/>
          <p:cNvSpPr/>
          <p:nvPr/>
        </p:nvSpPr>
        <p:spPr>
          <a:xfrm>
            <a:off x="6766560" y="295344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Shape 88"/>
          <p:cNvSpPr/>
          <p:nvPr/>
        </p:nvSpPr>
        <p:spPr>
          <a:xfrm>
            <a:off x="7306200" y="2953440"/>
            <a:ext cx="501840" cy="5018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36" name="Text 89"/>
          <p:cNvSpPr/>
          <p:nvPr/>
        </p:nvSpPr>
        <p:spPr>
          <a:xfrm>
            <a:off x="7306200" y="295344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Shape 90"/>
          <p:cNvSpPr/>
          <p:nvPr/>
        </p:nvSpPr>
        <p:spPr>
          <a:xfrm>
            <a:off x="7845480" y="2953440"/>
            <a:ext cx="501840" cy="501840"/>
          </a:xfrm>
          <a:prstGeom prst="rect">
            <a:avLst/>
          </a:prstGeom>
          <a:solidFill>
            <a:srgbClr val="f5b400"/>
          </a:solidFill>
          <a:ln w="6480">
            <a:solidFill>
              <a:srgbClr val="f5b4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38" name="Text 91"/>
          <p:cNvSpPr/>
          <p:nvPr/>
        </p:nvSpPr>
        <p:spPr>
          <a:xfrm>
            <a:off x="7845480" y="295344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Shape 92"/>
          <p:cNvSpPr/>
          <p:nvPr/>
        </p:nvSpPr>
        <p:spPr>
          <a:xfrm>
            <a:off x="8385120" y="2953440"/>
            <a:ext cx="501840" cy="5018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40" name="Text 93"/>
          <p:cNvSpPr/>
          <p:nvPr/>
        </p:nvSpPr>
        <p:spPr>
          <a:xfrm>
            <a:off x="8385120" y="295344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Shape 94"/>
          <p:cNvSpPr/>
          <p:nvPr/>
        </p:nvSpPr>
        <p:spPr>
          <a:xfrm>
            <a:off x="6766560" y="3493080"/>
            <a:ext cx="501840" cy="5018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42" name="Text 95"/>
          <p:cNvSpPr/>
          <p:nvPr/>
        </p:nvSpPr>
        <p:spPr>
          <a:xfrm>
            <a:off x="6766560" y="349308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Shape 96"/>
          <p:cNvSpPr/>
          <p:nvPr/>
        </p:nvSpPr>
        <p:spPr>
          <a:xfrm>
            <a:off x="7306200" y="3493080"/>
            <a:ext cx="501840" cy="5018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44" name="Text 97"/>
          <p:cNvSpPr/>
          <p:nvPr/>
        </p:nvSpPr>
        <p:spPr>
          <a:xfrm>
            <a:off x="7306200" y="349308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Shape 98"/>
          <p:cNvSpPr/>
          <p:nvPr/>
        </p:nvSpPr>
        <p:spPr>
          <a:xfrm>
            <a:off x="7845480" y="3493080"/>
            <a:ext cx="501840" cy="5018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46" name="Text 99"/>
          <p:cNvSpPr/>
          <p:nvPr/>
        </p:nvSpPr>
        <p:spPr>
          <a:xfrm>
            <a:off x="7845480" y="349308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onsolas"/>
                <a:ea typeface="Consolas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Shape 100"/>
          <p:cNvSpPr/>
          <p:nvPr/>
        </p:nvSpPr>
        <p:spPr>
          <a:xfrm>
            <a:off x="8385120" y="3493080"/>
            <a:ext cx="501840" cy="501840"/>
          </a:xfrm>
          <a:prstGeom prst="rect">
            <a:avLst/>
          </a:prstGeom>
          <a:solidFill>
            <a:srgbClr val="f5b400"/>
          </a:solidFill>
          <a:ln w="6480">
            <a:solidFill>
              <a:srgbClr val="f5b4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48" name="Text 101"/>
          <p:cNvSpPr/>
          <p:nvPr/>
        </p:nvSpPr>
        <p:spPr>
          <a:xfrm>
            <a:off x="8385120" y="3493080"/>
            <a:ext cx="5018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onsolas"/>
                <a:ea typeface="Consolas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9" name="Shape 102"/>
          <p:cNvSpPr/>
          <p:nvPr/>
        </p:nvSpPr>
        <p:spPr>
          <a:xfrm>
            <a:off x="457200" y="4160520"/>
            <a:ext cx="8228520" cy="59328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50" name="Text 103"/>
          <p:cNvSpPr/>
          <p:nvPr/>
        </p:nvSpPr>
        <p:spPr>
          <a:xfrm>
            <a:off x="640080" y="4160520"/>
            <a:ext cx="786276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One double-round</a:t>
            </a:r>
            <a:r>
              <a:rPr lang="en-US" sz="12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 = 4 quarter rounds on columns + 4 quarter rounds on diagonals. </a:t>
            </a:r>
            <a:r>
              <a:rPr lang="en-US" sz="1200" b="1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ChaCha20 runs 10 double-rounds → 20 total mixing rounds.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Shape 104"/>
          <p:cNvSpPr/>
          <p:nvPr/>
        </p:nvSpPr>
        <p:spPr>
          <a:xfrm>
            <a:off x="8275320" y="4851000"/>
            <a:ext cx="163440" cy="4464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52" name="Shape 105"/>
          <p:cNvSpPr/>
          <p:nvPr/>
        </p:nvSpPr>
        <p:spPr>
          <a:xfrm>
            <a:off x="8503920" y="4851000"/>
            <a:ext cx="364680" cy="4464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53" name="Text 106"/>
          <p:cNvSpPr/>
          <p:nvPr/>
        </p:nvSpPr>
        <p:spPr>
          <a:xfrm>
            <a:off x="6400800" y="4759560"/>
            <a:ext cx="17820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Text 107"/>
          <p:cNvSpPr/>
          <p:nvPr/>
        </p:nvSpPr>
        <p:spPr>
          <a:xfrm>
            <a:off x="365760" y="4759560"/>
            <a:ext cx="9133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12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Shape 0"/>
          <p:cNvSpPr/>
          <p:nvPr/>
        </p:nvSpPr>
        <p:spPr>
          <a:xfrm>
            <a:off x="457200" y="502920"/>
            <a:ext cx="163440" cy="1634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56" name="Text 1"/>
          <p:cNvSpPr/>
          <p:nvPr/>
        </p:nvSpPr>
        <p:spPr>
          <a:xfrm>
            <a:off x="713160" y="365760"/>
            <a:ext cx="77713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From State to Ciphertext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 2"/>
          <p:cNvSpPr/>
          <p:nvPr/>
        </p:nvSpPr>
        <p:spPr>
          <a:xfrm>
            <a:off x="713160" y="868680"/>
            <a:ext cx="7771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The full pipeline from inputs to encrypted output.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8" name="Shape 3"/>
          <p:cNvSpPr/>
          <p:nvPr/>
        </p:nvSpPr>
        <p:spPr>
          <a:xfrm>
            <a:off x="411480" y="1691640"/>
            <a:ext cx="1370520" cy="1370520"/>
          </a:xfrm>
          <a:prstGeom prst="rect">
            <a:avLst/>
          </a:prstGeom>
          <a:solidFill>
            <a:srgbClr val="13243f"/>
          </a:solidFill>
          <a:ln w="19080">
            <a:solidFill>
              <a:srgbClr val="f5b400"/>
            </a:solidFill>
            <a:round/>
          </a:ln>
          <a:effectLst>
            <a:outerShdw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59" name="Shape 4"/>
          <p:cNvSpPr/>
          <p:nvPr/>
        </p:nvSpPr>
        <p:spPr>
          <a:xfrm>
            <a:off x="411480" y="1691640"/>
            <a:ext cx="1370520" cy="108720"/>
          </a:xfrm>
          <a:prstGeom prst="rect">
            <a:avLst/>
          </a:prstGeom>
          <a:solidFill>
            <a:srgbClr val="f5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60" name="Text 5"/>
          <p:cNvSpPr/>
          <p:nvPr/>
        </p:nvSpPr>
        <p:spPr>
          <a:xfrm>
            <a:off x="411480" y="1874520"/>
            <a:ext cx="137052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Inputs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 6"/>
          <p:cNvSpPr/>
          <p:nvPr/>
        </p:nvSpPr>
        <p:spPr>
          <a:xfrm>
            <a:off x="457200" y="2286000"/>
            <a:ext cx="127908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Key + Nonce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+ Counter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Shape 7"/>
          <p:cNvSpPr/>
          <p:nvPr/>
        </p:nvSpPr>
        <p:spPr>
          <a:xfrm>
            <a:off x="1828800" y="2377440"/>
            <a:ext cx="274320" cy="360"/>
          </a:xfrm>
          <a:prstGeom prst="line">
            <a:avLst/>
          </a:prstGeom>
          <a:ln w="31680">
            <a:solidFill>
              <a:srgbClr val="14b8a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63" name="Shape 8"/>
          <p:cNvSpPr/>
          <p:nvPr/>
        </p:nvSpPr>
        <p:spPr>
          <a:xfrm>
            <a:off x="2148840" y="1691640"/>
            <a:ext cx="1370520" cy="1370520"/>
          </a:xfrm>
          <a:prstGeom prst="rect">
            <a:avLst/>
          </a:prstGeom>
          <a:solidFill>
            <a:srgbClr val="13243f"/>
          </a:solidFill>
          <a:ln w="19080">
            <a:solidFill>
              <a:srgbClr val="14b8a6"/>
            </a:solidFill>
            <a:round/>
          </a:ln>
          <a:effectLst>
            <a:outerShdw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64" name="Shape 9"/>
          <p:cNvSpPr/>
          <p:nvPr/>
        </p:nvSpPr>
        <p:spPr>
          <a:xfrm>
            <a:off x="2148840" y="1691640"/>
            <a:ext cx="1370520" cy="10872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65" name="Text 10"/>
          <p:cNvSpPr/>
          <p:nvPr/>
        </p:nvSpPr>
        <p:spPr>
          <a:xfrm>
            <a:off x="2148840" y="1874520"/>
            <a:ext cx="137052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ChaCha20 State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6" name="Text 11"/>
          <p:cNvSpPr/>
          <p:nvPr/>
        </p:nvSpPr>
        <p:spPr>
          <a:xfrm>
            <a:off x="2194560" y="2286000"/>
            <a:ext cx="127908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4×4 matrix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(512 bits)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Shape 12"/>
          <p:cNvSpPr/>
          <p:nvPr/>
        </p:nvSpPr>
        <p:spPr>
          <a:xfrm>
            <a:off x="3566160" y="2377440"/>
            <a:ext cx="274320" cy="360"/>
          </a:xfrm>
          <a:prstGeom prst="line">
            <a:avLst/>
          </a:prstGeom>
          <a:ln w="31680">
            <a:solidFill>
              <a:srgbClr val="14b8a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68" name="Shape 13"/>
          <p:cNvSpPr/>
          <p:nvPr/>
        </p:nvSpPr>
        <p:spPr>
          <a:xfrm>
            <a:off x="3886200" y="1691640"/>
            <a:ext cx="1370520" cy="1370520"/>
          </a:xfrm>
          <a:prstGeom prst="rect">
            <a:avLst/>
          </a:prstGeom>
          <a:solidFill>
            <a:srgbClr val="13243f"/>
          </a:solidFill>
          <a:ln w="19080">
            <a:solidFill>
              <a:srgbClr val="8b5cf6"/>
            </a:solidFill>
            <a:round/>
          </a:ln>
          <a:effectLst>
            <a:outerShdw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69" name="Shape 14"/>
          <p:cNvSpPr/>
          <p:nvPr/>
        </p:nvSpPr>
        <p:spPr>
          <a:xfrm>
            <a:off x="3886200" y="1691640"/>
            <a:ext cx="1370520" cy="1087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70" name="Text 15"/>
          <p:cNvSpPr/>
          <p:nvPr/>
        </p:nvSpPr>
        <p:spPr>
          <a:xfrm>
            <a:off x="3886200" y="1874520"/>
            <a:ext cx="137052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Mix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1" name="Text 16"/>
          <p:cNvSpPr/>
          <p:nvPr/>
        </p:nvSpPr>
        <p:spPr>
          <a:xfrm>
            <a:off x="3931920" y="2286000"/>
            <a:ext cx="127908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20 rounds of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quarter rounds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Shape 17"/>
          <p:cNvSpPr/>
          <p:nvPr/>
        </p:nvSpPr>
        <p:spPr>
          <a:xfrm>
            <a:off x="5303520" y="2377440"/>
            <a:ext cx="274320" cy="360"/>
          </a:xfrm>
          <a:prstGeom prst="line">
            <a:avLst/>
          </a:prstGeom>
          <a:ln w="31680">
            <a:solidFill>
              <a:srgbClr val="14b8a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73" name="Shape 18"/>
          <p:cNvSpPr/>
          <p:nvPr/>
        </p:nvSpPr>
        <p:spPr>
          <a:xfrm>
            <a:off x="5623560" y="1691640"/>
            <a:ext cx="1370520" cy="1370520"/>
          </a:xfrm>
          <a:prstGeom prst="rect">
            <a:avLst/>
          </a:prstGeom>
          <a:solidFill>
            <a:srgbClr val="13243f"/>
          </a:solidFill>
          <a:ln w="19080">
            <a:solidFill>
              <a:srgbClr val="14b8a6"/>
            </a:solidFill>
            <a:round/>
          </a:ln>
          <a:effectLst>
            <a:outerShdw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74" name="Shape 19"/>
          <p:cNvSpPr/>
          <p:nvPr/>
        </p:nvSpPr>
        <p:spPr>
          <a:xfrm>
            <a:off x="5623560" y="1691640"/>
            <a:ext cx="1370520" cy="10872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75" name="Text 20"/>
          <p:cNvSpPr/>
          <p:nvPr/>
        </p:nvSpPr>
        <p:spPr>
          <a:xfrm>
            <a:off x="5623560" y="1874520"/>
            <a:ext cx="137052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Keystream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 21"/>
          <p:cNvSpPr/>
          <p:nvPr/>
        </p:nvSpPr>
        <p:spPr>
          <a:xfrm>
            <a:off x="5669280" y="2286000"/>
            <a:ext cx="127908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512-bit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pseudorandom block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22"/>
          <p:cNvSpPr/>
          <p:nvPr/>
        </p:nvSpPr>
        <p:spPr>
          <a:xfrm>
            <a:off x="7040880" y="2377440"/>
            <a:ext cx="274320" cy="360"/>
          </a:xfrm>
          <a:prstGeom prst="line">
            <a:avLst/>
          </a:prstGeom>
          <a:ln w="31680">
            <a:solidFill>
              <a:srgbClr val="14b8a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78" name="Shape 23"/>
          <p:cNvSpPr/>
          <p:nvPr/>
        </p:nvSpPr>
        <p:spPr>
          <a:xfrm>
            <a:off x="7360920" y="1691640"/>
            <a:ext cx="1370520" cy="1370520"/>
          </a:xfrm>
          <a:prstGeom prst="rect">
            <a:avLst/>
          </a:prstGeom>
          <a:solidFill>
            <a:srgbClr val="13243f"/>
          </a:solidFill>
          <a:ln w="19080">
            <a:solidFill>
              <a:srgbClr val="f97066"/>
            </a:solidFill>
            <a:round/>
          </a:ln>
          <a:effectLst>
            <a:outerShdw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79" name="Shape 24"/>
          <p:cNvSpPr/>
          <p:nvPr/>
        </p:nvSpPr>
        <p:spPr>
          <a:xfrm>
            <a:off x="7360920" y="1691640"/>
            <a:ext cx="1370520" cy="108720"/>
          </a:xfrm>
          <a:prstGeom prst="rect">
            <a:avLst/>
          </a:prstGeom>
          <a:solidFill>
            <a:srgbClr val="f970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80" name="Text 25"/>
          <p:cNvSpPr/>
          <p:nvPr/>
        </p:nvSpPr>
        <p:spPr>
          <a:xfrm>
            <a:off x="7360920" y="1874520"/>
            <a:ext cx="137052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Ciphertext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1" name="Text 26"/>
          <p:cNvSpPr/>
          <p:nvPr/>
        </p:nvSpPr>
        <p:spPr>
          <a:xfrm>
            <a:off x="7406640" y="2286000"/>
            <a:ext cx="127908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Plaintext XOR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Keystream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2" name="Shape 27"/>
          <p:cNvSpPr/>
          <p:nvPr/>
        </p:nvSpPr>
        <p:spPr>
          <a:xfrm>
            <a:off x="640080" y="3520440"/>
            <a:ext cx="7862760" cy="1187640"/>
          </a:xfrm>
          <a:prstGeom prst="rect">
            <a:avLst/>
          </a:prstGeom>
          <a:solidFill>
            <a:srgbClr val="13243f"/>
          </a:solidFill>
          <a:ln w="64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83" name="Text 28"/>
          <p:cNvSpPr/>
          <p:nvPr/>
        </p:nvSpPr>
        <p:spPr>
          <a:xfrm>
            <a:off x="777240" y="3611880"/>
            <a:ext cx="75884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Symmetry: encryption and decryption use the same operation.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 29"/>
          <p:cNvSpPr/>
          <p:nvPr/>
        </p:nvSpPr>
        <p:spPr>
          <a:xfrm>
            <a:off x="777240" y="3886200"/>
            <a:ext cx="758844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lang="en-US" sz="1600" b="1" u="none" strike="noStrike">
                <a:solidFill>
                  <a:srgbClr val="e8eef7"/>
                </a:solidFill>
                <a:effectLst/>
                <a:uFillTx/>
                <a:latin typeface="Calibri"/>
                <a:ea typeface="Consolas"/>
              </a:rPr>
              <a:t>Plaintext  XOR  Keystream  =  Ciphertext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lang="en-US" sz="1600" b="1" u="none" strike="noStrike">
                <a:solidFill>
                  <a:srgbClr val="14b8a6"/>
                </a:solidFill>
                <a:effectLst/>
                <a:uFillTx/>
                <a:latin typeface="Calibri"/>
                <a:ea typeface="Consolas"/>
              </a:rPr>
              <a:t>Ciphertext XOR  Keystream  =  Plaintext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5" name="Shape 30"/>
          <p:cNvSpPr/>
          <p:nvPr/>
        </p:nvSpPr>
        <p:spPr>
          <a:xfrm>
            <a:off x="8275320" y="4851000"/>
            <a:ext cx="163440" cy="446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86" name="Shape 31"/>
          <p:cNvSpPr/>
          <p:nvPr/>
        </p:nvSpPr>
        <p:spPr>
          <a:xfrm>
            <a:off x="8503920" y="4851000"/>
            <a:ext cx="364680" cy="44640"/>
          </a:xfrm>
          <a:prstGeom prst="rect">
            <a:avLst/>
          </a:prstGeom>
          <a:solidFill>
            <a:srgbClr val="14b8a6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87" name="Text 32"/>
          <p:cNvSpPr/>
          <p:nvPr/>
        </p:nvSpPr>
        <p:spPr>
          <a:xfrm>
            <a:off x="6400800" y="4759560"/>
            <a:ext cx="17820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 33"/>
          <p:cNvSpPr/>
          <p:nvPr/>
        </p:nvSpPr>
        <p:spPr>
          <a:xfrm>
            <a:off x="365760" y="4759560"/>
            <a:ext cx="9133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13 / 32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Shape 0"/>
          <p:cNvSpPr/>
          <p:nvPr/>
        </p:nvSpPr>
        <p:spPr>
          <a:xfrm>
            <a:off x="457200" y="502920"/>
            <a:ext cx="163440" cy="1634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90" name="Text 1"/>
          <p:cNvSpPr/>
          <p:nvPr/>
        </p:nvSpPr>
        <p:spPr>
          <a:xfrm>
            <a:off x="713160" y="365760"/>
            <a:ext cx="79542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The Nonce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Text 2"/>
          <p:cNvSpPr/>
          <p:nvPr/>
        </p:nvSpPr>
        <p:spPr>
          <a:xfrm>
            <a:off x="713160" y="868680"/>
            <a:ext cx="79542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A "number used once" — public, but must be unique per message.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Shape 3"/>
          <p:cNvSpPr/>
          <p:nvPr/>
        </p:nvSpPr>
        <p:spPr>
          <a:xfrm>
            <a:off x="457200" y="1417320"/>
            <a:ext cx="3839400" cy="319932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493" name="Image 0" descr="preencoded.png"/>
          <p:cNvPicPr/>
          <p:nvPr/>
        </p:nvPicPr>
        <p:blipFill>
          <a:blip r:embed="rId1"/>
          <a:stretch/>
        </p:blipFill>
        <p:spPr>
          <a:xfrm>
            <a:off x="640080" y="1627560"/>
            <a:ext cx="456120" cy="456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4" name="Text 4"/>
          <p:cNvSpPr/>
          <p:nvPr/>
        </p:nvSpPr>
        <p:spPr>
          <a:xfrm>
            <a:off x="1234440" y="1627560"/>
            <a:ext cx="29250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What it is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Text 5"/>
          <p:cNvSpPr/>
          <p:nvPr/>
        </p:nvSpPr>
        <p:spPr>
          <a:xfrm>
            <a:off x="640080" y="2240280"/>
            <a:ext cx="3519360" cy="228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en-US" sz="1200" b="1" u="none" strike="noStrike">
                <a:solidFill>
                  <a:srgbClr val="f5b400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2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A 96-bit value used alongside the key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en-US" sz="1200" b="1" u="none" strike="noStrike">
                <a:solidFill>
                  <a:srgbClr val="f5b400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2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Public — does not need to be secret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en-US" sz="1200" b="1" u="none" strike="noStrike">
                <a:solidFill>
                  <a:srgbClr val="f5b400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2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Must be unique for each message under the same key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en-US" sz="1200" b="1" u="none" strike="noStrike">
                <a:solidFill>
                  <a:srgbClr val="f5b400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2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Sent alongside the ciphertext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Shape 6"/>
          <p:cNvSpPr/>
          <p:nvPr/>
        </p:nvSpPr>
        <p:spPr>
          <a:xfrm>
            <a:off x="4526280" y="1417320"/>
            <a:ext cx="4159440" cy="3199320"/>
          </a:xfrm>
          <a:prstGeom prst="rect">
            <a:avLst/>
          </a:prstGeom>
          <a:solidFill>
            <a:srgbClr val="0b1a2e"/>
          </a:solidFill>
          <a:ln w="0">
            <a:noFill/>
          </a:ln>
          <a:effectLst>
            <a:outerShdw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97" name="Text 7"/>
          <p:cNvSpPr/>
          <p:nvPr/>
        </p:nvSpPr>
        <p:spPr>
          <a:xfrm>
            <a:off x="4526280" y="1554480"/>
            <a:ext cx="41594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pc="400" strike="noStrike">
                <a:solidFill>
                  <a:srgbClr val="f5b400"/>
                </a:solidFill>
                <a:effectLst/>
                <a:uFillTx/>
                <a:latin typeface="Calibri"/>
                <a:ea typeface="Calibri"/>
              </a:rPr>
              <a:t>WHY IT MATTERS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Shape 8"/>
          <p:cNvSpPr/>
          <p:nvPr/>
        </p:nvSpPr>
        <p:spPr>
          <a:xfrm>
            <a:off x="4663440" y="1965960"/>
            <a:ext cx="1233360" cy="547560"/>
          </a:xfrm>
          <a:prstGeom prst="rect">
            <a:avLst/>
          </a:prstGeom>
          <a:solidFill>
            <a:srgbClr val="f5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499" name="Text 9"/>
          <p:cNvSpPr/>
          <p:nvPr/>
        </p:nvSpPr>
        <p:spPr>
          <a:xfrm>
            <a:off x="4663440" y="2011680"/>
            <a:ext cx="12333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Key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Text 10"/>
          <p:cNvSpPr/>
          <p:nvPr/>
        </p:nvSpPr>
        <p:spPr>
          <a:xfrm>
            <a:off x="4663440" y="2258640"/>
            <a:ext cx="12333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(secret)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Shape 11"/>
          <p:cNvSpPr/>
          <p:nvPr/>
        </p:nvSpPr>
        <p:spPr>
          <a:xfrm>
            <a:off x="5943600" y="1965960"/>
            <a:ext cx="1233360" cy="5475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02" name="Text 12"/>
          <p:cNvSpPr/>
          <p:nvPr/>
        </p:nvSpPr>
        <p:spPr>
          <a:xfrm>
            <a:off x="5943600" y="2011680"/>
            <a:ext cx="12333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Nonce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13"/>
          <p:cNvSpPr/>
          <p:nvPr/>
        </p:nvSpPr>
        <p:spPr>
          <a:xfrm>
            <a:off x="5943600" y="2258640"/>
            <a:ext cx="12333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(unique)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Shape 14"/>
          <p:cNvSpPr/>
          <p:nvPr/>
        </p:nvSpPr>
        <p:spPr>
          <a:xfrm>
            <a:off x="7223760" y="1965960"/>
            <a:ext cx="1233360" cy="5475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05" name="Text 15"/>
          <p:cNvSpPr/>
          <p:nvPr/>
        </p:nvSpPr>
        <p:spPr>
          <a:xfrm>
            <a:off x="7223760" y="2011680"/>
            <a:ext cx="12333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Counter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Text 16"/>
          <p:cNvSpPr/>
          <p:nvPr/>
        </p:nvSpPr>
        <p:spPr>
          <a:xfrm>
            <a:off x="7223760" y="2258640"/>
            <a:ext cx="12333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0" i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(per block)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Shape 17"/>
          <p:cNvSpPr/>
          <p:nvPr/>
        </p:nvSpPr>
        <p:spPr>
          <a:xfrm>
            <a:off x="6606360" y="2606040"/>
            <a:ext cx="360" cy="457200"/>
          </a:xfrm>
          <a:prstGeom prst="line">
            <a:avLst/>
          </a:prstGeom>
          <a:ln w="25560">
            <a:solidFill>
              <a:srgbClr val="94a3b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08" name="Shape 18"/>
          <p:cNvSpPr/>
          <p:nvPr/>
        </p:nvSpPr>
        <p:spPr>
          <a:xfrm>
            <a:off x="4983480" y="3154680"/>
            <a:ext cx="3245040" cy="5018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09" name="Text 19"/>
          <p:cNvSpPr/>
          <p:nvPr/>
        </p:nvSpPr>
        <p:spPr>
          <a:xfrm>
            <a:off x="4983480" y="3154680"/>
            <a:ext cx="324504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ChaCha20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Shape 20"/>
          <p:cNvSpPr/>
          <p:nvPr/>
        </p:nvSpPr>
        <p:spPr>
          <a:xfrm>
            <a:off x="6606360" y="3703320"/>
            <a:ext cx="360" cy="365760"/>
          </a:xfrm>
          <a:prstGeom prst="line">
            <a:avLst/>
          </a:prstGeom>
          <a:ln w="25560">
            <a:solidFill>
              <a:srgbClr val="94a3b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11" name="Text 21"/>
          <p:cNvSpPr/>
          <p:nvPr/>
        </p:nvSpPr>
        <p:spPr>
          <a:xfrm>
            <a:off x="4572000" y="4160520"/>
            <a:ext cx="40680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i="1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→ Different nonce produces a different keystream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Shape 22"/>
          <p:cNvSpPr/>
          <p:nvPr/>
        </p:nvSpPr>
        <p:spPr>
          <a:xfrm>
            <a:off x="8275320" y="4851000"/>
            <a:ext cx="163440" cy="4464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13" name="Shape 23"/>
          <p:cNvSpPr/>
          <p:nvPr/>
        </p:nvSpPr>
        <p:spPr>
          <a:xfrm>
            <a:off x="8503920" y="4851000"/>
            <a:ext cx="364680" cy="4464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14" name="Text 24"/>
          <p:cNvSpPr/>
          <p:nvPr/>
        </p:nvSpPr>
        <p:spPr>
          <a:xfrm>
            <a:off x="6400800" y="4759560"/>
            <a:ext cx="17820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Text 25"/>
          <p:cNvSpPr/>
          <p:nvPr/>
        </p:nvSpPr>
        <p:spPr>
          <a:xfrm>
            <a:off x="365760" y="4759560"/>
            <a:ext cx="9133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14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Shape 0"/>
          <p:cNvSpPr/>
          <p:nvPr/>
        </p:nvSpPr>
        <p:spPr>
          <a:xfrm>
            <a:off x="457200" y="502920"/>
            <a:ext cx="163440" cy="1634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17" name="Text 1"/>
          <p:cNvSpPr/>
          <p:nvPr/>
        </p:nvSpPr>
        <p:spPr>
          <a:xfrm>
            <a:off x="713160" y="365760"/>
            <a:ext cx="79542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Can we re-use a nonce?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2"/>
          <p:cNvSpPr/>
          <p:nvPr/>
        </p:nvSpPr>
        <p:spPr>
          <a:xfrm>
            <a:off x="713160" y="868680"/>
            <a:ext cx="79542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No. Reusing a nonce with the same key is catastrophic.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Shape 3"/>
          <p:cNvSpPr/>
          <p:nvPr/>
        </p:nvSpPr>
        <p:spPr>
          <a:xfrm>
            <a:off x="640080" y="1554480"/>
            <a:ext cx="1461960" cy="1461960"/>
          </a:xfrm>
          <a:prstGeom prst="ellipse">
            <a:avLst/>
          </a:prstGeom>
          <a:solidFill>
            <a:srgbClr val="f97066"/>
          </a:solidFill>
          <a:ln w="0">
            <a:noFill/>
          </a:ln>
          <a:effectLst>
            <a:outerShdw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20" name="Text 4"/>
          <p:cNvSpPr/>
          <p:nvPr/>
        </p:nvSpPr>
        <p:spPr>
          <a:xfrm>
            <a:off x="640080" y="1554480"/>
            <a:ext cx="1461960" cy="146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NO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 5"/>
          <p:cNvSpPr/>
          <p:nvPr/>
        </p:nvSpPr>
        <p:spPr>
          <a:xfrm>
            <a:off x="457200" y="3108960"/>
            <a:ext cx="18277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dc2626"/>
                </a:solidFill>
                <a:effectLst/>
                <a:uFillTx/>
                <a:latin typeface="Calibri"/>
                <a:ea typeface="Calibri"/>
              </a:rPr>
              <a:t>Never reuse with same key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Shape 6"/>
          <p:cNvSpPr/>
          <p:nvPr/>
        </p:nvSpPr>
        <p:spPr>
          <a:xfrm>
            <a:off x="2468880" y="1417320"/>
            <a:ext cx="6216840" cy="3245040"/>
          </a:xfrm>
          <a:prstGeom prst="rect">
            <a:avLst/>
          </a:prstGeom>
          <a:solidFill>
            <a:srgbClr val="0b1a2e"/>
          </a:solidFill>
          <a:ln w="0">
            <a:noFill/>
          </a:ln>
          <a:effectLst>
            <a:outerShdw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23" name="Text 7"/>
          <p:cNvSpPr/>
          <p:nvPr/>
        </p:nvSpPr>
        <p:spPr>
          <a:xfrm>
            <a:off x="2606040" y="1554480"/>
            <a:ext cx="594252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Suppose two messages reuse the same nonce + key: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Text 8"/>
          <p:cNvSpPr/>
          <p:nvPr/>
        </p:nvSpPr>
        <p:spPr>
          <a:xfrm>
            <a:off x="2606040" y="1965960"/>
            <a:ext cx="594252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lang="en-US" sz="1800" b="1" u="none" strike="noStrike">
                <a:solidFill>
                  <a:srgbClr val="14b8a6"/>
                </a:solidFill>
                <a:effectLst/>
                <a:uFillTx/>
                <a:latin typeface="Calibri"/>
                <a:ea typeface="Consolas"/>
              </a:rPr>
              <a:t>C₁ = P₁ ⊕ Keystream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lang="en-US" sz="1800" b="1" u="none" strike="noStrike">
                <a:solidFill>
                  <a:srgbClr val="14b8a6"/>
                </a:solidFill>
                <a:effectLst/>
                <a:uFillTx/>
                <a:latin typeface="Calibri"/>
                <a:ea typeface="Consolas"/>
              </a:rPr>
              <a:t>C₂ = P₂ ⊕ Keystream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Shape 9"/>
          <p:cNvSpPr/>
          <p:nvPr/>
        </p:nvSpPr>
        <p:spPr>
          <a:xfrm>
            <a:off x="3200400" y="2834640"/>
            <a:ext cx="4572000" cy="360"/>
          </a:xfrm>
          <a:prstGeom prst="line">
            <a:avLst/>
          </a:prstGeom>
          <a:ln w="93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26" name="Text 10"/>
          <p:cNvSpPr/>
          <p:nvPr/>
        </p:nvSpPr>
        <p:spPr>
          <a:xfrm>
            <a:off x="2606040" y="2926080"/>
            <a:ext cx="59425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i="1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XOR them together: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11"/>
          <p:cNvSpPr/>
          <p:nvPr/>
        </p:nvSpPr>
        <p:spPr>
          <a:xfrm>
            <a:off x="2606040" y="3246120"/>
            <a:ext cx="59425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f97066"/>
                </a:solidFill>
                <a:effectLst/>
                <a:uFillTx/>
                <a:latin typeface="Calibri"/>
                <a:ea typeface="Consolas"/>
              </a:rPr>
              <a:t>C₁ ⊕ C₂ = P₁ ⊕ P₂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12"/>
          <p:cNvSpPr/>
          <p:nvPr/>
        </p:nvSpPr>
        <p:spPr>
          <a:xfrm>
            <a:off x="2606040" y="3840480"/>
            <a:ext cx="5942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→ keystream cancels, plaintext patterns leak, confidentiality broken.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Shape 13"/>
          <p:cNvSpPr/>
          <p:nvPr/>
        </p:nvSpPr>
        <p:spPr>
          <a:xfrm>
            <a:off x="457200" y="4754880"/>
            <a:ext cx="8228520" cy="44640"/>
          </a:xfrm>
          <a:prstGeom prst="rect">
            <a:avLst/>
          </a:prstGeom>
          <a:solidFill>
            <a:srgbClr val="f970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30" name="Shape 14"/>
          <p:cNvSpPr/>
          <p:nvPr/>
        </p:nvSpPr>
        <p:spPr>
          <a:xfrm>
            <a:off x="8275320" y="4851000"/>
            <a:ext cx="163440" cy="4464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31" name="Shape 15"/>
          <p:cNvSpPr/>
          <p:nvPr/>
        </p:nvSpPr>
        <p:spPr>
          <a:xfrm>
            <a:off x="8503920" y="4851000"/>
            <a:ext cx="364680" cy="4464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32" name="Text 16"/>
          <p:cNvSpPr/>
          <p:nvPr/>
        </p:nvSpPr>
        <p:spPr>
          <a:xfrm>
            <a:off x="6400800" y="4759560"/>
            <a:ext cx="17820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17"/>
          <p:cNvSpPr/>
          <p:nvPr/>
        </p:nvSpPr>
        <p:spPr>
          <a:xfrm>
            <a:off x="365760" y="4759560"/>
            <a:ext cx="9133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15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Shape 0"/>
          <p:cNvSpPr/>
          <p:nvPr/>
        </p:nvSpPr>
        <p:spPr>
          <a:xfrm>
            <a:off x="457200" y="502920"/>
            <a:ext cx="163440" cy="1634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35" name="Text 1"/>
          <p:cNvSpPr/>
          <p:nvPr/>
        </p:nvSpPr>
        <p:spPr>
          <a:xfrm>
            <a:off x="713160" y="365760"/>
            <a:ext cx="79542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Poly1305: Message Authentication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6" name="Text 2"/>
          <p:cNvSpPr/>
          <p:nvPr/>
        </p:nvSpPr>
        <p:spPr>
          <a:xfrm>
            <a:off x="713160" y="868680"/>
            <a:ext cx="79542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Detects tampering. Does not encrypt — that's still ChaCha20's job.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Shape 3"/>
          <p:cNvSpPr/>
          <p:nvPr/>
        </p:nvSpPr>
        <p:spPr>
          <a:xfrm>
            <a:off x="457200" y="1417320"/>
            <a:ext cx="8228520" cy="7761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38" name="Shape 4"/>
          <p:cNvSpPr/>
          <p:nvPr/>
        </p:nvSpPr>
        <p:spPr>
          <a:xfrm>
            <a:off x="457200" y="1417320"/>
            <a:ext cx="4113720" cy="77616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39" name="Image 0" descr="preencoded.png"/>
          <p:cNvPicPr/>
          <p:nvPr/>
        </p:nvPicPr>
        <p:blipFill>
          <a:blip r:embed="rId1"/>
          <a:stretch/>
        </p:blipFill>
        <p:spPr>
          <a:xfrm>
            <a:off x="685800" y="1627560"/>
            <a:ext cx="364680" cy="364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0" name="Text 5"/>
          <p:cNvSpPr/>
          <p:nvPr/>
        </p:nvSpPr>
        <p:spPr>
          <a:xfrm>
            <a:off x="1143000" y="1417320"/>
            <a:ext cx="329076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ChaCha20 → encrypts the message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1" name="Image 1" descr="preencoded.png"/>
          <p:cNvPicPr/>
          <p:nvPr/>
        </p:nvPicPr>
        <p:blipFill>
          <a:blip r:embed="rId2"/>
          <a:stretch/>
        </p:blipFill>
        <p:spPr>
          <a:xfrm>
            <a:off x="4800600" y="1627560"/>
            <a:ext cx="364680" cy="364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2" name="Text 6"/>
          <p:cNvSpPr/>
          <p:nvPr/>
        </p:nvSpPr>
        <p:spPr>
          <a:xfrm>
            <a:off x="5257800" y="1417320"/>
            <a:ext cx="329076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8b5cf6"/>
                </a:solidFill>
                <a:effectLst/>
                <a:uFillTx/>
                <a:latin typeface="Georgia"/>
                <a:ea typeface="Georgia"/>
              </a:rPr>
              <a:t>Poly1305 → protects it from modification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Shape 7"/>
          <p:cNvSpPr/>
          <p:nvPr/>
        </p:nvSpPr>
        <p:spPr>
          <a:xfrm>
            <a:off x="457200" y="2377440"/>
            <a:ext cx="3976560" cy="228492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44" name="Shape 8"/>
          <p:cNvSpPr/>
          <p:nvPr/>
        </p:nvSpPr>
        <p:spPr>
          <a:xfrm>
            <a:off x="457200" y="2377440"/>
            <a:ext cx="53640" cy="22849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45" name="Shape 9"/>
          <p:cNvSpPr/>
          <p:nvPr/>
        </p:nvSpPr>
        <p:spPr>
          <a:xfrm>
            <a:off x="685800" y="2541960"/>
            <a:ext cx="501840" cy="50184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46" name="Image 2" descr="preencoded.png"/>
          <p:cNvPicPr/>
          <p:nvPr/>
        </p:nvPicPr>
        <p:blipFill>
          <a:blip r:embed="rId3"/>
          <a:stretch/>
        </p:blipFill>
        <p:spPr>
          <a:xfrm>
            <a:off x="786240" y="2642760"/>
            <a:ext cx="300600" cy="300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7" name="Text 10"/>
          <p:cNvSpPr/>
          <p:nvPr/>
        </p:nvSpPr>
        <p:spPr>
          <a:xfrm>
            <a:off x="1325880" y="2468880"/>
            <a:ext cx="301644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Produces a 16-byte tag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8" name="Text 11"/>
          <p:cNvSpPr/>
          <p:nvPr/>
        </p:nvSpPr>
        <p:spPr>
          <a:xfrm>
            <a:off x="685800" y="3154680"/>
            <a:ext cx="3656520" cy="14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en-US" sz="115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1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Computed from key + ciphertext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en-US" sz="115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1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Sent alongside the message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en-US" sz="115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1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Acts like a cryptographic fingerprint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Shape 12"/>
          <p:cNvSpPr/>
          <p:nvPr/>
        </p:nvSpPr>
        <p:spPr>
          <a:xfrm>
            <a:off x="4709160" y="2377440"/>
            <a:ext cx="3976560" cy="228492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50" name="Shape 13"/>
          <p:cNvSpPr/>
          <p:nvPr/>
        </p:nvSpPr>
        <p:spPr>
          <a:xfrm>
            <a:off x="4709160" y="2377440"/>
            <a:ext cx="53640" cy="22849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51" name="Shape 14"/>
          <p:cNvSpPr/>
          <p:nvPr/>
        </p:nvSpPr>
        <p:spPr>
          <a:xfrm>
            <a:off x="4937760" y="2541960"/>
            <a:ext cx="501840" cy="50184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52" name="Image 3" descr="preencoded.png"/>
          <p:cNvPicPr/>
          <p:nvPr/>
        </p:nvPicPr>
        <p:blipFill>
          <a:blip r:embed="rId4"/>
          <a:stretch/>
        </p:blipFill>
        <p:spPr>
          <a:xfrm>
            <a:off x="5038200" y="2642760"/>
            <a:ext cx="300600" cy="300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3" name="Text 15"/>
          <p:cNvSpPr/>
          <p:nvPr/>
        </p:nvSpPr>
        <p:spPr>
          <a:xfrm>
            <a:off x="5577840" y="2468880"/>
            <a:ext cx="301644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Receiver verifies the tag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Text 16"/>
          <p:cNvSpPr/>
          <p:nvPr/>
        </p:nvSpPr>
        <p:spPr>
          <a:xfrm>
            <a:off x="4937760" y="3154680"/>
            <a:ext cx="3656520" cy="14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en-US" sz="115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1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Recomputes the tag during decryption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en-US" sz="115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1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If tags differ → message rejected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lang="en-US" sz="115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1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Tampering becomes detectable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Shape 17"/>
          <p:cNvSpPr/>
          <p:nvPr/>
        </p:nvSpPr>
        <p:spPr>
          <a:xfrm>
            <a:off x="8275320" y="4851000"/>
            <a:ext cx="163440" cy="4464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56" name="Shape 18"/>
          <p:cNvSpPr/>
          <p:nvPr/>
        </p:nvSpPr>
        <p:spPr>
          <a:xfrm>
            <a:off x="8503920" y="4851000"/>
            <a:ext cx="364680" cy="4464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57" name="Text 19"/>
          <p:cNvSpPr/>
          <p:nvPr/>
        </p:nvSpPr>
        <p:spPr>
          <a:xfrm>
            <a:off x="6400800" y="4759560"/>
            <a:ext cx="17820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Text 20"/>
          <p:cNvSpPr/>
          <p:nvPr/>
        </p:nvSpPr>
        <p:spPr>
          <a:xfrm>
            <a:off x="365760" y="4759560"/>
            <a:ext cx="9133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16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Shape 0"/>
          <p:cNvSpPr/>
          <p:nvPr/>
        </p:nvSpPr>
        <p:spPr>
          <a:xfrm>
            <a:off x="457200" y="502920"/>
            <a:ext cx="163440" cy="1634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60" name="Text 1"/>
          <p:cNvSpPr/>
          <p:nvPr/>
        </p:nvSpPr>
        <p:spPr>
          <a:xfrm>
            <a:off x="713160" y="365760"/>
            <a:ext cx="79542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Poly1305: How the Tag is Created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Text 2"/>
          <p:cNvSpPr/>
          <p:nvPr/>
        </p:nvSpPr>
        <p:spPr>
          <a:xfrm>
            <a:off x="713160" y="868680"/>
            <a:ext cx="79542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Polynomial evaluation modulo a 130-bit prime.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2" name="Shape 3"/>
          <p:cNvSpPr/>
          <p:nvPr/>
        </p:nvSpPr>
        <p:spPr>
          <a:xfrm>
            <a:off x="457200" y="1463040"/>
            <a:ext cx="1992240" cy="23763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63" name="Shape 4"/>
          <p:cNvSpPr/>
          <p:nvPr/>
        </p:nvSpPr>
        <p:spPr>
          <a:xfrm>
            <a:off x="1225440" y="1627560"/>
            <a:ext cx="456120" cy="45612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64" name="Text 5"/>
          <p:cNvSpPr/>
          <p:nvPr/>
        </p:nvSpPr>
        <p:spPr>
          <a:xfrm>
            <a:off x="1225440" y="1627560"/>
            <a:ext cx="4561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5" name="Image 0" descr="preencoded.png"/>
          <p:cNvPicPr/>
          <p:nvPr/>
        </p:nvPicPr>
        <p:blipFill>
          <a:blip r:embed="rId1"/>
          <a:stretch/>
        </p:blipFill>
        <p:spPr>
          <a:xfrm>
            <a:off x="1248120" y="2194560"/>
            <a:ext cx="410400" cy="410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6" name="Text 6"/>
          <p:cNvSpPr/>
          <p:nvPr/>
        </p:nvSpPr>
        <p:spPr>
          <a:xfrm>
            <a:off x="548640" y="2697480"/>
            <a:ext cx="18093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One-time key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7" name="Text 7"/>
          <p:cNvSpPr/>
          <p:nvPr/>
        </p:nvSpPr>
        <p:spPr>
          <a:xfrm>
            <a:off x="594360" y="3063240"/>
            <a:ext cx="171792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Derived from ChaCha20 with counter = 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Shape 8"/>
          <p:cNvSpPr/>
          <p:nvPr/>
        </p:nvSpPr>
        <p:spPr>
          <a:xfrm>
            <a:off x="2569320" y="1463040"/>
            <a:ext cx="1992240" cy="23763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69" name="Shape 9"/>
          <p:cNvSpPr/>
          <p:nvPr/>
        </p:nvSpPr>
        <p:spPr>
          <a:xfrm>
            <a:off x="3337560" y="1627560"/>
            <a:ext cx="456120" cy="45612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70" name="Text 10"/>
          <p:cNvSpPr/>
          <p:nvPr/>
        </p:nvSpPr>
        <p:spPr>
          <a:xfrm>
            <a:off x="3337560" y="1627560"/>
            <a:ext cx="4561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1" name="Image 1" descr="preencoded.png"/>
          <p:cNvPicPr/>
          <p:nvPr/>
        </p:nvPicPr>
        <p:blipFill>
          <a:blip r:embed="rId2"/>
          <a:stretch/>
        </p:blipFill>
        <p:spPr>
          <a:xfrm>
            <a:off x="3360600" y="2194560"/>
            <a:ext cx="410400" cy="410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2" name="Text 11"/>
          <p:cNvSpPr/>
          <p:nvPr/>
        </p:nvSpPr>
        <p:spPr>
          <a:xfrm>
            <a:off x="2660760" y="2697480"/>
            <a:ext cx="18093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Split message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Text 12"/>
          <p:cNvSpPr/>
          <p:nvPr/>
        </p:nvSpPr>
        <p:spPr>
          <a:xfrm>
            <a:off x="2706480" y="3063240"/>
            <a:ext cx="171792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Ciphertext divided into 16-byte blocks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Shape 13"/>
          <p:cNvSpPr/>
          <p:nvPr/>
        </p:nvSpPr>
        <p:spPr>
          <a:xfrm>
            <a:off x="4681800" y="1463040"/>
            <a:ext cx="1992240" cy="23763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75" name="Shape 14"/>
          <p:cNvSpPr/>
          <p:nvPr/>
        </p:nvSpPr>
        <p:spPr>
          <a:xfrm>
            <a:off x="5449680" y="1627560"/>
            <a:ext cx="456120" cy="45612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76" name="Text 15"/>
          <p:cNvSpPr/>
          <p:nvPr/>
        </p:nvSpPr>
        <p:spPr>
          <a:xfrm>
            <a:off x="5449680" y="1627560"/>
            <a:ext cx="4561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7" name="Image 2" descr="preencoded.png"/>
          <p:cNvPicPr/>
          <p:nvPr/>
        </p:nvPicPr>
        <p:blipFill>
          <a:blip r:embed="rId3"/>
          <a:stretch/>
        </p:blipFill>
        <p:spPr>
          <a:xfrm>
            <a:off x="5472720" y="2194560"/>
            <a:ext cx="410400" cy="410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8" name="Text 16"/>
          <p:cNvSpPr/>
          <p:nvPr/>
        </p:nvSpPr>
        <p:spPr>
          <a:xfrm>
            <a:off x="4773240" y="2697480"/>
            <a:ext cx="18093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Polynomial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Text 17"/>
          <p:cNvSpPr/>
          <p:nvPr/>
        </p:nvSpPr>
        <p:spPr>
          <a:xfrm>
            <a:off x="4818960" y="3063240"/>
            <a:ext cx="171792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Evaluate mod 2¹³⁰ − 5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(a 130-bit prime)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Shape 18"/>
          <p:cNvSpPr/>
          <p:nvPr/>
        </p:nvSpPr>
        <p:spPr>
          <a:xfrm>
            <a:off x="6793920" y="1463040"/>
            <a:ext cx="1992240" cy="23763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81" name="Shape 19"/>
          <p:cNvSpPr/>
          <p:nvPr/>
        </p:nvSpPr>
        <p:spPr>
          <a:xfrm>
            <a:off x="7562160" y="1627560"/>
            <a:ext cx="456120" cy="45612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82" name="Text 20"/>
          <p:cNvSpPr/>
          <p:nvPr/>
        </p:nvSpPr>
        <p:spPr>
          <a:xfrm>
            <a:off x="7562160" y="1627560"/>
            <a:ext cx="4561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3" name="Image 3" descr="preencoded.png"/>
          <p:cNvPicPr/>
          <p:nvPr/>
        </p:nvPicPr>
        <p:blipFill>
          <a:blip r:embed="rId4"/>
          <a:stretch/>
        </p:blipFill>
        <p:spPr>
          <a:xfrm>
            <a:off x="7584840" y="2194560"/>
            <a:ext cx="410400" cy="410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4" name="Text 21"/>
          <p:cNvSpPr/>
          <p:nvPr/>
        </p:nvSpPr>
        <p:spPr>
          <a:xfrm>
            <a:off x="6885360" y="2697480"/>
            <a:ext cx="18093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16-byte tag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5" name="Text 22"/>
          <p:cNvSpPr/>
          <p:nvPr/>
        </p:nvSpPr>
        <p:spPr>
          <a:xfrm>
            <a:off x="6931080" y="3063240"/>
            <a:ext cx="1717920" cy="73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Output: highly sensitive to any change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Shape 23"/>
          <p:cNvSpPr/>
          <p:nvPr/>
        </p:nvSpPr>
        <p:spPr>
          <a:xfrm>
            <a:off x="457200" y="4114800"/>
            <a:ext cx="8228520" cy="593280"/>
          </a:xfrm>
          <a:prstGeom prst="rect">
            <a:avLst/>
          </a:prstGeom>
          <a:solidFill>
            <a:srgbClr val="0b1a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87" name="Text 24"/>
          <p:cNvSpPr/>
          <p:nvPr/>
        </p:nvSpPr>
        <p:spPr>
          <a:xfrm>
            <a:off x="640080" y="4114800"/>
            <a:ext cx="786276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1" u="none" strike="noStrike">
                <a:solidFill>
                  <a:srgbClr val="f5b400"/>
                </a:solidFill>
                <a:effectLst/>
                <a:uFillTx/>
                <a:latin typeface="Calibri"/>
                <a:ea typeface="Calibri"/>
              </a:rPr>
              <a:t>Why polynomial math? </a:t>
            </a:r>
            <a:r>
              <a:rPr lang="en-US" sz="1150" b="0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Even a single flipped bit in the ciphertext changes the tag completely — making forgery essentially impossible.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Shape 25"/>
          <p:cNvSpPr/>
          <p:nvPr/>
        </p:nvSpPr>
        <p:spPr>
          <a:xfrm>
            <a:off x="8275320" y="4851000"/>
            <a:ext cx="163440" cy="4464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89" name="Shape 26"/>
          <p:cNvSpPr/>
          <p:nvPr/>
        </p:nvSpPr>
        <p:spPr>
          <a:xfrm>
            <a:off x="8503920" y="4851000"/>
            <a:ext cx="364680" cy="4464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90" name="Text 27"/>
          <p:cNvSpPr/>
          <p:nvPr/>
        </p:nvSpPr>
        <p:spPr>
          <a:xfrm>
            <a:off x="6400800" y="4759560"/>
            <a:ext cx="17820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1" name="Text 28"/>
          <p:cNvSpPr/>
          <p:nvPr/>
        </p:nvSpPr>
        <p:spPr>
          <a:xfrm>
            <a:off x="365760" y="4759560"/>
            <a:ext cx="9133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17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Shape 0"/>
          <p:cNvSpPr/>
          <p:nvPr/>
        </p:nvSpPr>
        <p:spPr>
          <a:xfrm>
            <a:off x="457200" y="502920"/>
            <a:ext cx="163440" cy="1634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93" name="Text 1"/>
          <p:cNvSpPr/>
          <p:nvPr/>
        </p:nvSpPr>
        <p:spPr>
          <a:xfrm>
            <a:off x="713160" y="365760"/>
            <a:ext cx="79542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AEAD Construction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4" name="Text 2"/>
          <p:cNvSpPr/>
          <p:nvPr/>
        </p:nvSpPr>
        <p:spPr>
          <a:xfrm>
            <a:off x="713160" y="868680"/>
            <a:ext cx="79542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Authenticated Encryption with Associated Data — three guarantees in one cipher.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5" name="Shape 3"/>
          <p:cNvSpPr/>
          <p:nvPr/>
        </p:nvSpPr>
        <p:spPr>
          <a:xfrm>
            <a:off x="457200" y="1417320"/>
            <a:ext cx="2742120" cy="1690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596" name="Shape 4"/>
          <p:cNvSpPr/>
          <p:nvPr/>
        </p:nvSpPr>
        <p:spPr>
          <a:xfrm>
            <a:off x="457200" y="1417320"/>
            <a:ext cx="2742120" cy="720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597" name="Image 0" descr="preencoded.png"/>
          <p:cNvPicPr/>
          <p:nvPr/>
        </p:nvPicPr>
        <p:blipFill>
          <a:blip r:embed="rId1"/>
          <a:stretch/>
        </p:blipFill>
        <p:spPr>
          <a:xfrm>
            <a:off x="685800" y="1645920"/>
            <a:ext cx="410400" cy="410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8" name="Text 5"/>
          <p:cNvSpPr/>
          <p:nvPr/>
        </p:nvSpPr>
        <p:spPr>
          <a:xfrm>
            <a:off x="1234440" y="1627560"/>
            <a:ext cx="18277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14b8a6"/>
                </a:solidFill>
                <a:effectLst/>
                <a:uFillTx/>
                <a:latin typeface="Georgia"/>
                <a:ea typeface="Georgia"/>
              </a:rPr>
              <a:t>Confidentiality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6"/>
          <p:cNvSpPr/>
          <p:nvPr/>
        </p:nvSpPr>
        <p:spPr>
          <a:xfrm>
            <a:off x="685800" y="2194560"/>
            <a:ext cx="233064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Plaintext is hidden from anyone who doesn't have the key.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Shape 7"/>
          <p:cNvSpPr/>
          <p:nvPr/>
        </p:nvSpPr>
        <p:spPr>
          <a:xfrm>
            <a:off x="3319200" y="1417320"/>
            <a:ext cx="2742120" cy="1690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01" name="Shape 8"/>
          <p:cNvSpPr/>
          <p:nvPr/>
        </p:nvSpPr>
        <p:spPr>
          <a:xfrm>
            <a:off x="3319200" y="1417320"/>
            <a:ext cx="2742120" cy="7200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602" name="Image 1" descr="preencoded.png"/>
          <p:cNvPicPr/>
          <p:nvPr/>
        </p:nvPicPr>
        <p:blipFill>
          <a:blip r:embed="rId2"/>
          <a:stretch/>
        </p:blipFill>
        <p:spPr>
          <a:xfrm>
            <a:off x="3547800" y="1645920"/>
            <a:ext cx="410400" cy="410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3" name="Text 9"/>
          <p:cNvSpPr/>
          <p:nvPr/>
        </p:nvSpPr>
        <p:spPr>
          <a:xfrm>
            <a:off x="4096440" y="1627560"/>
            <a:ext cx="18277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8b5cf6"/>
                </a:solidFill>
                <a:effectLst/>
                <a:uFillTx/>
                <a:latin typeface="Georgia"/>
                <a:ea typeface="Georgia"/>
              </a:rPr>
              <a:t>Integrity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4" name="Text 10"/>
          <p:cNvSpPr/>
          <p:nvPr/>
        </p:nvSpPr>
        <p:spPr>
          <a:xfrm>
            <a:off x="3547800" y="2194560"/>
            <a:ext cx="233064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Any modification of the ciphertext is detected.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5" name="Shape 11"/>
          <p:cNvSpPr/>
          <p:nvPr/>
        </p:nvSpPr>
        <p:spPr>
          <a:xfrm>
            <a:off x="6181200" y="1417320"/>
            <a:ext cx="2742120" cy="1690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06" name="Shape 12"/>
          <p:cNvSpPr/>
          <p:nvPr/>
        </p:nvSpPr>
        <p:spPr>
          <a:xfrm>
            <a:off x="6181200" y="1417320"/>
            <a:ext cx="2742120" cy="72000"/>
          </a:xfrm>
          <a:prstGeom prst="rect">
            <a:avLst/>
          </a:prstGeom>
          <a:solidFill>
            <a:srgbClr val="f5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607" name="Image 2" descr="preencoded.png"/>
          <p:cNvPicPr/>
          <p:nvPr/>
        </p:nvPicPr>
        <p:blipFill>
          <a:blip r:embed="rId3"/>
          <a:stretch/>
        </p:blipFill>
        <p:spPr>
          <a:xfrm>
            <a:off x="6409800" y="1645920"/>
            <a:ext cx="410400" cy="410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8" name="Text 13"/>
          <p:cNvSpPr/>
          <p:nvPr/>
        </p:nvSpPr>
        <p:spPr>
          <a:xfrm>
            <a:off x="6958440" y="1627560"/>
            <a:ext cx="18277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500" b="1" u="none" strike="noStrike">
                <a:solidFill>
                  <a:srgbClr val="f5b400"/>
                </a:solidFill>
                <a:effectLst/>
                <a:uFillTx/>
                <a:latin typeface="Georgia"/>
                <a:ea typeface="Georgia"/>
              </a:rPr>
              <a:t>Authentication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9" name="Text 14"/>
          <p:cNvSpPr/>
          <p:nvPr/>
        </p:nvSpPr>
        <p:spPr>
          <a:xfrm>
            <a:off x="6409800" y="2194560"/>
            <a:ext cx="2330640" cy="86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Only someone with the key could have produced the tag.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0" name="Shape 15"/>
          <p:cNvSpPr/>
          <p:nvPr/>
        </p:nvSpPr>
        <p:spPr>
          <a:xfrm>
            <a:off x="457200" y="3337560"/>
            <a:ext cx="8228520" cy="1324800"/>
          </a:xfrm>
          <a:prstGeom prst="rect">
            <a:avLst/>
          </a:prstGeom>
          <a:solidFill>
            <a:srgbClr val="0b1a2e"/>
          </a:solidFill>
          <a:ln w="0">
            <a:noFill/>
          </a:ln>
          <a:effectLst>
            <a:outerShdw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11" name="Text 16"/>
          <p:cNvSpPr/>
          <p:nvPr/>
        </p:nvSpPr>
        <p:spPr>
          <a:xfrm>
            <a:off x="640080" y="3474720"/>
            <a:ext cx="78627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pc="400" strike="noStrike">
                <a:solidFill>
                  <a:srgbClr val="f5b400"/>
                </a:solidFill>
                <a:effectLst/>
                <a:uFillTx/>
                <a:latin typeface="Calibri"/>
                <a:ea typeface="Calibri"/>
              </a:rPr>
              <a:t>ASSOCIATED DATA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2" name="Text 17"/>
          <p:cNvSpPr/>
          <p:nvPr/>
        </p:nvSpPr>
        <p:spPr>
          <a:xfrm>
            <a:off x="640080" y="3749040"/>
            <a:ext cx="786276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Data that is authenticated but NOT encrypted.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Text 18"/>
          <p:cNvSpPr/>
          <p:nvPr/>
        </p:nvSpPr>
        <p:spPr>
          <a:xfrm>
            <a:off x="640080" y="4114800"/>
            <a:ext cx="786276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i="1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Examples: message headers, usernames, timestamps, message type. The AD travels in the clear but is bound to the ciphertext via the tag, so an attacker can't swap it out without detection.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Shape 19"/>
          <p:cNvSpPr/>
          <p:nvPr/>
        </p:nvSpPr>
        <p:spPr>
          <a:xfrm>
            <a:off x="8275320" y="4851000"/>
            <a:ext cx="163440" cy="4464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15" name="Shape 20"/>
          <p:cNvSpPr/>
          <p:nvPr/>
        </p:nvSpPr>
        <p:spPr>
          <a:xfrm>
            <a:off x="8503920" y="4851000"/>
            <a:ext cx="364680" cy="4464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16" name="Text 21"/>
          <p:cNvSpPr/>
          <p:nvPr/>
        </p:nvSpPr>
        <p:spPr>
          <a:xfrm>
            <a:off x="6400800" y="4759560"/>
            <a:ext cx="17820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 22"/>
          <p:cNvSpPr/>
          <p:nvPr/>
        </p:nvSpPr>
        <p:spPr>
          <a:xfrm>
            <a:off x="365760" y="4759560"/>
            <a:ext cx="9133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18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Shape 0"/>
          <p:cNvSpPr/>
          <p:nvPr/>
        </p:nvSpPr>
        <p:spPr>
          <a:xfrm>
            <a:off x="457200" y="502920"/>
            <a:ext cx="163440" cy="1634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19" name="Text 1"/>
          <p:cNvSpPr/>
          <p:nvPr/>
        </p:nvSpPr>
        <p:spPr>
          <a:xfrm>
            <a:off x="713160" y="365760"/>
            <a:ext cx="79542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Encryption Process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0" name="Text 2"/>
          <p:cNvSpPr/>
          <p:nvPr/>
        </p:nvSpPr>
        <p:spPr>
          <a:xfrm>
            <a:off x="713160" y="868680"/>
            <a:ext cx="79542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Five steps from plaintext to authenticated ciphertext.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1" name="Shape 3"/>
          <p:cNvSpPr/>
          <p:nvPr/>
        </p:nvSpPr>
        <p:spPr>
          <a:xfrm>
            <a:off x="457200" y="1371600"/>
            <a:ext cx="8228520" cy="547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22" name="Shape 4"/>
          <p:cNvSpPr/>
          <p:nvPr/>
        </p:nvSpPr>
        <p:spPr>
          <a:xfrm>
            <a:off x="594360" y="1463040"/>
            <a:ext cx="364680" cy="364680"/>
          </a:xfrm>
          <a:prstGeom prst="ellipse">
            <a:avLst/>
          </a:prstGeom>
          <a:solidFill>
            <a:srgbClr val="f5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23" name="Text 5"/>
          <p:cNvSpPr/>
          <p:nvPr/>
        </p:nvSpPr>
        <p:spPr>
          <a:xfrm>
            <a:off x="594360" y="1463040"/>
            <a:ext cx="3646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4" name="Text 6"/>
          <p:cNvSpPr/>
          <p:nvPr/>
        </p:nvSpPr>
        <p:spPr>
          <a:xfrm>
            <a:off x="1097280" y="1417320"/>
            <a:ext cx="27421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Load 256-bit key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 7"/>
          <p:cNvSpPr/>
          <p:nvPr/>
        </p:nvSpPr>
        <p:spPr>
          <a:xfrm>
            <a:off x="3931920" y="1417320"/>
            <a:ext cx="46166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The shared secret. Same key used by sender and receiver.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Shape 8"/>
          <p:cNvSpPr/>
          <p:nvPr/>
        </p:nvSpPr>
        <p:spPr>
          <a:xfrm>
            <a:off x="457200" y="2011680"/>
            <a:ext cx="8228520" cy="547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27" name="Shape 9"/>
          <p:cNvSpPr/>
          <p:nvPr/>
        </p:nvSpPr>
        <p:spPr>
          <a:xfrm>
            <a:off x="594360" y="2103120"/>
            <a:ext cx="364680" cy="36468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28" name="Text 10"/>
          <p:cNvSpPr/>
          <p:nvPr/>
        </p:nvSpPr>
        <p:spPr>
          <a:xfrm>
            <a:off x="594360" y="2103120"/>
            <a:ext cx="3646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9" name="Text 11"/>
          <p:cNvSpPr/>
          <p:nvPr/>
        </p:nvSpPr>
        <p:spPr>
          <a:xfrm>
            <a:off x="1097280" y="2057400"/>
            <a:ext cx="27421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Generate 96-bit nonce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Text 12"/>
          <p:cNvSpPr/>
          <p:nvPr/>
        </p:nvSpPr>
        <p:spPr>
          <a:xfrm>
            <a:off x="3931920" y="2057400"/>
            <a:ext cx="46166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Random or counter-based. Public, but must be unique per message.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Shape 13"/>
          <p:cNvSpPr/>
          <p:nvPr/>
        </p:nvSpPr>
        <p:spPr>
          <a:xfrm>
            <a:off x="457200" y="2651760"/>
            <a:ext cx="8228520" cy="547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32" name="Shape 14"/>
          <p:cNvSpPr/>
          <p:nvPr/>
        </p:nvSpPr>
        <p:spPr>
          <a:xfrm>
            <a:off x="594360" y="2743200"/>
            <a:ext cx="364680" cy="364680"/>
          </a:xfrm>
          <a:prstGeom prst="ellipse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33" name="Text 15"/>
          <p:cNvSpPr/>
          <p:nvPr/>
        </p:nvSpPr>
        <p:spPr>
          <a:xfrm>
            <a:off x="594360" y="2743200"/>
            <a:ext cx="3646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Text 16"/>
          <p:cNvSpPr/>
          <p:nvPr/>
        </p:nvSpPr>
        <p:spPr>
          <a:xfrm>
            <a:off x="1097280" y="2697480"/>
            <a:ext cx="27421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Derive Poly1305 key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5" name="Text 17"/>
          <p:cNvSpPr/>
          <p:nvPr/>
        </p:nvSpPr>
        <p:spPr>
          <a:xfrm>
            <a:off x="3931920" y="2697480"/>
            <a:ext cx="46166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 with counter = 0 produces the one-time MAC key.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Shape 18"/>
          <p:cNvSpPr/>
          <p:nvPr/>
        </p:nvSpPr>
        <p:spPr>
          <a:xfrm>
            <a:off x="457200" y="3291840"/>
            <a:ext cx="8228520" cy="547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37" name="Shape 19"/>
          <p:cNvSpPr/>
          <p:nvPr/>
        </p:nvSpPr>
        <p:spPr>
          <a:xfrm>
            <a:off x="594360" y="3383280"/>
            <a:ext cx="364680" cy="364680"/>
          </a:xfrm>
          <a:prstGeom prst="ellipse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38" name="Text 20"/>
          <p:cNvSpPr/>
          <p:nvPr/>
        </p:nvSpPr>
        <p:spPr>
          <a:xfrm>
            <a:off x="594360" y="3383280"/>
            <a:ext cx="3646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9" name="Text 21"/>
          <p:cNvSpPr/>
          <p:nvPr/>
        </p:nvSpPr>
        <p:spPr>
          <a:xfrm>
            <a:off x="1097280" y="3337560"/>
            <a:ext cx="27421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Encrypt with ChaCha20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Text 22"/>
          <p:cNvSpPr/>
          <p:nvPr/>
        </p:nvSpPr>
        <p:spPr>
          <a:xfrm>
            <a:off x="3931920" y="3337560"/>
            <a:ext cx="46166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Counter starts at 1. Plaintext XOR keystream = ciphertext.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1" name="Shape 23"/>
          <p:cNvSpPr/>
          <p:nvPr/>
        </p:nvSpPr>
        <p:spPr>
          <a:xfrm>
            <a:off x="457200" y="3931920"/>
            <a:ext cx="8228520" cy="547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42" name="Shape 24"/>
          <p:cNvSpPr/>
          <p:nvPr/>
        </p:nvSpPr>
        <p:spPr>
          <a:xfrm>
            <a:off x="594360" y="4023360"/>
            <a:ext cx="364680" cy="36468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43" name="Text 25"/>
          <p:cNvSpPr/>
          <p:nvPr/>
        </p:nvSpPr>
        <p:spPr>
          <a:xfrm>
            <a:off x="594360" y="4023360"/>
            <a:ext cx="3646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Text 26"/>
          <p:cNvSpPr/>
          <p:nvPr/>
        </p:nvSpPr>
        <p:spPr>
          <a:xfrm>
            <a:off x="1097280" y="3977640"/>
            <a:ext cx="27421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Compute Poly1305 tag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Text 27"/>
          <p:cNvSpPr/>
          <p:nvPr/>
        </p:nvSpPr>
        <p:spPr>
          <a:xfrm>
            <a:off x="3931920" y="3977640"/>
            <a:ext cx="46166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Tag covers associated data, ciphertext, and length fields.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6" name="Shape 28"/>
          <p:cNvSpPr/>
          <p:nvPr/>
        </p:nvSpPr>
        <p:spPr>
          <a:xfrm>
            <a:off x="1371600" y="4617720"/>
            <a:ext cx="6399720" cy="356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47" name="Text 29"/>
          <p:cNvSpPr/>
          <p:nvPr/>
        </p:nvSpPr>
        <p:spPr>
          <a:xfrm>
            <a:off x="1371600" y="4681800"/>
            <a:ext cx="63997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i="1" u="none" strike="noStrike">
                <a:solidFill>
                  <a:srgbClr val="0d9488"/>
                </a:solidFill>
                <a:effectLst/>
                <a:uFillTx/>
                <a:latin typeface="Calibri"/>
                <a:ea typeface="Calibri"/>
              </a:rPr>
              <a:t>Output: Nonce + Ciphertext + Authentication Tag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8" name="Shape 30"/>
          <p:cNvSpPr/>
          <p:nvPr/>
        </p:nvSpPr>
        <p:spPr>
          <a:xfrm>
            <a:off x="8275320" y="4851000"/>
            <a:ext cx="163440" cy="4464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49" name="Shape 31"/>
          <p:cNvSpPr/>
          <p:nvPr/>
        </p:nvSpPr>
        <p:spPr>
          <a:xfrm>
            <a:off x="8503920" y="4851000"/>
            <a:ext cx="364680" cy="4464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50" name="Text 32"/>
          <p:cNvSpPr/>
          <p:nvPr/>
        </p:nvSpPr>
        <p:spPr>
          <a:xfrm>
            <a:off x="6400800" y="4759560"/>
            <a:ext cx="17820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Text 33"/>
          <p:cNvSpPr/>
          <p:nvPr/>
        </p:nvSpPr>
        <p:spPr>
          <a:xfrm>
            <a:off x="365760" y="4759560"/>
            <a:ext cx="9133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19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Shape 0"/>
          <p:cNvSpPr/>
          <p:nvPr/>
        </p:nvSpPr>
        <p:spPr>
          <a:xfrm>
            <a:off x="457200" y="502920"/>
            <a:ext cx="163440" cy="1634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53" name="Text 1"/>
          <p:cNvSpPr/>
          <p:nvPr/>
        </p:nvSpPr>
        <p:spPr>
          <a:xfrm>
            <a:off x="713160" y="365760"/>
            <a:ext cx="79542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Decryption Process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Text 2"/>
          <p:cNvSpPr/>
          <p:nvPr/>
        </p:nvSpPr>
        <p:spPr>
          <a:xfrm>
            <a:off x="713160" y="868680"/>
            <a:ext cx="79542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Verify before you decrypt — reject any tampered message.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Shape 3"/>
          <p:cNvSpPr/>
          <p:nvPr/>
        </p:nvSpPr>
        <p:spPr>
          <a:xfrm>
            <a:off x="457200" y="1371600"/>
            <a:ext cx="8228520" cy="547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56" name="Shape 4"/>
          <p:cNvSpPr/>
          <p:nvPr/>
        </p:nvSpPr>
        <p:spPr>
          <a:xfrm>
            <a:off x="594360" y="1463040"/>
            <a:ext cx="364680" cy="364680"/>
          </a:xfrm>
          <a:prstGeom prst="ellipse">
            <a:avLst/>
          </a:prstGeom>
          <a:solidFill>
            <a:srgbClr val="f5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57" name="Text 5"/>
          <p:cNvSpPr/>
          <p:nvPr/>
        </p:nvSpPr>
        <p:spPr>
          <a:xfrm>
            <a:off x="594360" y="1463040"/>
            <a:ext cx="3646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8" name="Text 6"/>
          <p:cNvSpPr/>
          <p:nvPr/>
        </p:nvSpPr>
        <p:spPr>
          <a:xfrm>
            <a:off x="1097280" y="1417320"/>
            <a:ext cx="27421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Receive package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Text 7"/>
          <p:cNvSpPr/>
          <p:nvPr/>
        </p:nvSpPr>
        <p:spPr>
          <a:xfrm>
            <a:off x="3931920" y="1417320"/>
            <a:ext cx="46166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Nonce + ciphertext + authentication tag arrive together.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0" name="Shape 8"/>
          <p:cNvSpPr/>
          <p:nvPr/>
        </p:nvSpPr>
        <p:spPr>
          <a:xfrm>
            <a:off x="457200" y="2011680"/>
            <a:ext cx="8228520" cy="547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61" name="Shape 9"/>
          <p:cNvSpPr/>
          <p:nvPr/>
        </p:nvSpPr>
        <p:spPr>
          <a:xfrm>
            <a:off x="594360" y="2103120"/>
            <a:ext cx="364680" cy="36468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62" name="Text 10"/>
          <p:cNvSpPr/>
          <p:nvPr/>
        </p:nvSpPr>
        <p:spPr>
          <a:xfrm>
            <a:off x="594360" y="2103120"/>
            <a:ext cx="3646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Text 11"/>
          <p:cNvSpPr/>
          <p:nvPr/>
        </p:nvSpPr>
        <p:spPr>
          <a:xfrm>
            <a:off x="1097280" y="2057400"/>
            <a:ext cx="27421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Recompute the tag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4" name="Text 12"/>
          <p:cNvSpPr/>
          <p:nvPr/>
        </p:nvSpPr>
        <p:spPr>
          <a:xfrm>
            <a:off x="3931920" y="2057400"/>
            <a:ext cx="46166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Use the same key and nonce to recompute Poly1305 over the ciphertext.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Shape 13"/>
          <p:cNvSpPr/>
          <p:nvPr/>
        </p:nvSpPr>
        <p:spPr>
          <a:xfrm>
            <a:off x="457200" y="2651760"/>
            <a:ext cx="8228520" cy="547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66" name="Shape 14"/>
          <p:cNvSpPr/>
          <p:nvPr/>
        </p:nvSpPr>
        <p:spPr>
          <a:xfrm>
            <a:off x="594360" y="2743200"/>
            <a:ext cx="364680" cy="364680"/>
          </a:xfrm>
          <a:prstGeom prst="ellipse">
            <a:avLst/>
          </a:prstGeom>
          <a:solidFill>
            <a:srgbClr val="f970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67" name="Text 15"/>
          <p:cNvSpPr/>
          <p:nvPr/>
        </p:nvSpPr>
        <p:spPr>
          <a:xfrm>
            <a:off x="594360" y="2743200"/>
            <a:ext cx="3646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Text 16"/>
          <p:cNvSpPr/>
          <p:nvPr/>
        </p:nvSpPr>
        <p:spPr>
          <a:xfrm>
            <a:off x="1097280" y="2697480"/>
            <a:ext cx="27421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Compare tags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Text 17"/>
          <p:cNvSpPr/>
          <p:nvPr/>
        </p:nvSpPr>
        <p:spPr>
          <a:xfrm>
            <a:off x="3931920" y="2697480"/>
            <a:ext cx="46166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If they don't match, REJECT — message was modified, drop it.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0" name="Shape 18"/>
          <p:cNvSpPr/>
          <p:nvPr/>
        </p:nvSpPr>
        <p:spPr>
          <a:xfrm>
            <a:off x="457200" y="3291840"/>
            <a:ext cx="8228520" cy="547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71" name="Shape 19"/>
          <p:cNvSpPr/>
          <p:nvPr/>
        </p:nvSpPr>
        <p:spPr>
          <a:xfrm>
            <a:off x="594360" y="3383280"/>
            <a:ext cx="364680" cy="364680"/>
          </a:xfrm>
          <a:prstGeom prst="ellipse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72" name="Text 20"/>
          <p:cNvSpPr/>
          <p:nvPr/>
        </p:nvSpPr>
        <p:spPr>
          <a:xfrm>
            <a:off x="594360" y="3383280"/>
            <a:ext cx="3646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Text 21"/>
          <p:cNvSpPr/>
          <p:nvPr/>
        </p:nvSpPr>
        <p:spPr>
          <a:xfrm>
            <a:off x="1097280" y="3337560"/>
            <a:ext cx="27421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Regenerate keystream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4" name="Text 22"/>
          <p:cNvSpPr/>
          <p:nvPr/>
        </p:nvSpPr>
        <p:spPr>
          <a:xfrm>
            <a:off x="3931920" y="3337560"/>
            <a:ext cx="46166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Same key + same nonce + same counter produces the same keystream.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Shape 23"/>
          <p:cNvSpPr/>
          <p:nvPr/>
        </p:nvSpPr>
        <p:spPr>
          <a:xfrm>
            <a:off x="457200" y="3931920"/>
            <a:ext cx="8228520" cy="5475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76" name="Shape 24"/>
          <p:cNvSpPr/>
          <p:nvPr/>
        </p:nvSpPr>
        <p:spPr>
          <a:xfrm>
            <a:off x="594360" y="4023360"/>
            <a:ext cx="364680" cy="364680"/>
          </a:xfrm>
          <a:prstGeom prst="ellipse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77" name="Text 25"/>
          <p:cNvSpPr/>
          <p:nvPr/>
        </p:nvSpPr>
        <p:spPr>
          <a:xfrm>
            <a:off x="594360" y="4023360"/>
            <a:ext cx="3646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Text 26"/>
          <p:cNvSpPr/>
          <p:nvPr/>
        </p:nvSpPr>
        <p:spPr>
          <a:xfrm>
            <a:off x="1097280" y="3977640"/>
            <a:ext cx="27421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Recover plaintext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Text 27"/>
          <p:cNvSpPr/>
          <p:nvPr/>
        </p:nvSpPr>
        <p:spPr>
          <a:xfrm>
            <a:off x="3931920" y="3977640"/>
            <a:ext cx="46166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Ciphertext XOR keystream = original plaintext. Done.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0" name="Shape 28"/>
          <p:cNvSpPr/>
          <p:nvPr/>
        </p:nvSpPr>
        <p:spPr>
          <a:xfrm>
            <a:off x="1371600" y="4617720"/>
            <a:ext cx="6399720" cy="356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8280" bIns="-828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81" name="Text 29"/>
          <p:cNvSpPr/>
          <p:nvPr/>
        </p:nvSpPr>
        <p:spPr>
          <a:xfrm>
            <a:off x="1371600" y="4681800"/>
            <a:ext cx="63997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i="1" u="none" strike="noStrike">
                <a:solidFill>
                  <a:srgbClr val="0d9488"/>
                </a:solidFill>
                <a:effectLst/>
                <a:uFillTx/>
                <a:latin typeface="Calibri"/>
                <a:ea typeface="Calibri"/>
              </a:rPr>
              <a:t>Verify, then decrypt — only authenticated messages reach the app.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Shape 30"/>
          <p:cNvSpPr/>
          <p:nvPr/>
        </p:nvSpPr>
        <p:spPr>
          <a:xfrm>
            <a:off x="8275320" y="4851000"/>
            <a:ext cx="163440" cy="4464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83" name="Shape 31"/>
          <p:cNvSpPr/>
          <p:nvPr/>
        </p:nvSpPr>
        <p:spPr>
          <a:xfrm>
            <a:off x="8503920" y="4851000"/>
            <a:ext cx="364680" cy="4464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84" name="Text 32"/>
          <p:cNvSpPr/>
          <p:nvPr/>
        </p:nvSpPr>
        <p:spPr>
          <a:xfrm>
            <a:off x="6400800" y="4759560"/>
            <a:ext cx="17820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5" name="Text 33"/>
          <p:cNvSpPr/>
          <p:nvPr/>
        </p:nvSpPr>
        <p:spPr>
          <a:xfrm>
            <a:off x="365760" y="4759560"/>
            <a:ext cx="9133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20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Shape 0"/>
          <p:cNvSpPr/>
          <p:nvPr/>
        </p:nvSpPr>
        <p:spPr>
          <a:xfrm>
            <a:off x="457200" y="502920"/>
            <a:ext cx="163440" cy="1634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87" name="Text 1"/>
          <p:cNvSpPr/>
          <p:nvPr/>
        </p:nvSpPr>
        <p:spPr>
          <a:xfrm>
            <a:off x="713160" y="365760"/>
            <a:ext cx="79542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Hybrid Encryption Design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8" name="Text 2"/>
          <p:cNvSpPr/>
          <p:nvPr/>
        </p:nvSpPr>
        <p:spPr>
          <a:xfrm>
            <a:off x="713160" y="868680"/>
            <a:ext cx="79542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RSA solves key distribution. ChaCha20-Poly1305 handles the messages.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9" name="Shape 3"/>
          <p:cNvSpPr/>
          <p:nvPr/>
        </p:nvSpPr>
        <p:spPr>
          <a:xfrm>
            <a:off x="457200" y="1417320"/>
            <a:ext cx="4068000" cy="32450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90" name="Shape 4"/>
          <p:cNvSpPr/>
          <p:nvPr/>
        </p:nvSpPr>
        <p:spPr>
          <a:xfrm>
            <a:off x="457200" y="1417320"/>
            <a:ext cx="4068000" cy="456120"/>
          </a:xfrm>
          <a:prstGeom prst="rect">
            <a:avLst/>
          </a:prstGeom>
          <a:solidFill>
            <a:srgbClr val="f5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91" name="Text 5"/>
          <p:cNvSpPr/>
          <p:nvPr/>
        </p:nvSpPr>
        <p:spPr>
          <a:xfrm>
            <a:off x="640080" y="1417320"/>
            <a:ext cx="37022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KEY PROTECTION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Text 6"/>
          <p:cNvSpPr/>
          <p:nvPr/>
        </p:nvSpPr>
        <p:spPr>
          <a:xfrm>
            <a:off x="685800" y="2011680"/>
            <a:ext cx="36565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RSA-2048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3" name="Text 7"/>
          <p:cNvSpPr/>
          <p:nvPr/>
        </p:nvSpPr>
        <p:spPr>
          <a:xfrm>
            <a:off x="685800" y="2606040"/>
            <a:ext cx="3656520" cy="19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algn="l" pos="0"/>
              </a:tabLst>
            </a:pPr>
            <a:r>
              <a:rPr lang="en-US" sz="1150" b="1" u="none" strike="noStrike">
                <a:solidFill>
                  <a:srgbClr val="f5b400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1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Public key encrypts the symmetric key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algn="l" pos="0"/>
              </a:tabLst>
            </a:pPr>
            <a:r>
              <a:rPr lang="en-US" sz="1150" b="1" u="none" strike="noStrike">
                <a:solidFill>
                  <a:srgbClr val="f5b400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1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Private key decrypts on the receiver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algn="l" pos="0"/>
              </a:tabLst>
            </a:pPr>
            <a:r>
              <a:rPr lang="en-US" sz="1150" b="1" u="none" strike="noStrike">
                <a:solidFill>
                  <a:srgbClr val="f5b400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1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Slow, but only runs once per session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algn="l" pos="0"/>
              </a:tabLst>
            </a:pPr>
            <a:r>
              <a:rPr lang="en-US" sz="1150" b="1" u="none" strike="noStrike">
                <a:solidFill>
                  <a:srgbClr val="f5b400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1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Solves the key-distribution problem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4" name="Shape 8"/>
          <p:cNvSpPr/>
          <p:nvPr/>
        </p:nvSpPr>
        <p:spPr>
          <a:xfrm>
            <a:off x="4617720" y="1417320"/>
            <a:ext cx="4068000" cy="32450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95" name="Shape 9"/>
          <p:cNvSpPr/>
          <p:nvPr/>
        </p:nvSpPr>
        <p:spPr>
          <a:xfrm>
            <a:off x="4617720" y="1417320"/>
            <a:ext cx="4068000" cy="45612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696" name="Text 10"/>
          <p:cNvSpPr/>
          <p:nvPr/>
        </p:nvSpPr>
        <p:spPr>
          <a:xfrm>
            <a:off x="4800600" y="1417320"/>
            <a:ext cx="37022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MESSAGE ENCRYPTION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7" name="Text 11"/>
          <p:cNvSpPr/>
          <p:nvPr/>
        </p:nvSpPr>
        <p:spPr>
          <a:xfrm>
            <a:off x="4846320" y="2011680"/>
            <a:ext cx="36565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ChaCha20-Poly1305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8" name="Text 12"/>
          <p:cNvSpPr/>
          <p:nvPr/>
        </p:nvSpPr>
        <p:spPr>
          <a:xfrm>
            <a:off x="4846320" y="2606040"/>
            <a:ext cx="3656520" cy="19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algn="l" pos="0"/>
              </a:tabLst>
            </a:pPr>
            <a:r>
              <a:rPr lang="en-US" sz="1150" b="1" u="none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1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Encrypts plaintext with the shared key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algn="l" pos="0"/>
              </a:tabLst>
            </a:pPr>
            <a:r>
              <a:rPr lang="en-US" sz="1150" b="1" u="none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1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Produces ciphertext + authentication tag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algn="l" pos="0"/>
              </a:tabLst>
            </a:pPr>
            <a:r>
              <a:rPr lang="en-US" sz="1150" b="1" u="none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1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Fast — built for high message volume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  <a:tabLst>
                <a:tab algn="l" pos="0"/>
              </a:tabLst>
            </a:pPr>
            <a:r>
              <a:rPr lang="en-US" sz="1150" b="1" u="none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1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Used for every message after handshake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9" name="Shape 13"/>
          <p:cNvSpPr/>
          <p:nvPr/>
        </p:nvSpPr>
        <p:spPr>
          <a:xfrm>
            <a:off x="8275320" y="4851000"/>
            <a:ext cx="163440" cy="4464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00" name="Shape 14"/>
          <p:cNvSpPr/>
          <p:nvPr/>
        </p:nvSpPr>
        <p:spPr>
          <a:xfrm>
            <a:off x="8503920" y="4851000"/>
            <a:ext cx="364680" cy="4464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01" name="Text 15"/>
          <p:cNvSpPr/>
          <p:nvPr/>
        </p:nvSpPr>
        <p:spPr>
          <a:xfrm>
            <a:off x="6400800" y="4759560"/>
            <a:ext cx="17820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Text 16"/>
          <p:cNvSpPr/>
          <p:nvPr/>
        </p:nvSpPr>
        <p:spPr>
          <a:xfrm>
            <a:off x="365760" y="4759560"/>
            <a:ext cx="9133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21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Shape 0"/>
          <p:cNvSpPr/>
          <p:nvPr/>
        </p:nvSpPr>
        <p:spPr>
          <a:xfrm>
            <a:off x="457200" y="502920"/>
            <a:ext cx="163440" cy="1634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04" name="Text 1"/>
          <p:cNvSpPr/>
          <p:nvPr/>
        </p:nvSpPr>
        <p:spPr>
          <a:xfrm>
            <a:off x="713160" y="365760"/>
            <a:ext cx="79542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Message Flow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5" name="Text 2"/>
          <p:cNvSpPr/>
          <p:nvPr/>
        </p:nvSpPr>
        <p:spPr>
          <a:xfrm>
            <a:off x="713160" y="868680"/>
            <a:ext cx="79542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What happens between typing a message and the recipient reading it.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6" name="Shape 3"/>
          <p:cNvSpPr/>
          <p:nvPr/>
        </p:nvSpPr>
        <p:spPr>
          <a:xfrm>
            <a:off x="4572000" y="1463040"/>
            <a:ext cx="360" cy="3246120"/>
          </a:xfrm>
          <a:prstGeom prst="line">
            <a:avLst/>
          </a:prstGeom>
          <a:ln w="25560">
            <a:solidFill>
              <a:srgbClr val="e2e8f0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07" name="Shape 4"/>
          <p:cNvSpPr/>
          <p:nvPr/>
        </p:nvSpPr>
        <p:spPr>
          <a:xfrm>
            <a:off x="4325040" y="1554480"/>
            <a:ext cx="492840" cy="492840"/>
          </a:xfrm>
          <a:prstGeom prst="ellipse">
            <a:avLst/>
          </a:prstGeom>
          <a:solidFill>
            <a:srgbClr val="14b8a6"/>
          </a:solidFill>
          <a:ln w="2556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08" name="Text 5"/>
          <p:cNvSpPr/>
          <p:nvPr/>
        </p:nvSpPr>
        <p:spPr>
          <a:xfrm>
            <a:off x="4325040" y="1554480"/>
            <a:ext cx="492840" cy="49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9" name="Shape 6"/>
          <p:cNvSpPr/>
          <p:nvPr/>
        </p:nvSpPr>
        <p:spPr>
          <a:xfrm>
            <a:off x="457200" y="1508760"/>
            <a:ext cx="3747960" cy="56592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10" name="Shape 7"/>
          <p:cNvSpPr/>
          <p:nvPr/>
        </p:nvSpPr>
        <p:spPr>
          <a:xfrm>
            <a:off x="4151520" y="1508760"/>
            <a:ext cx="53640" cy="56592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11" name="Text 8"/>
          <p:cNvSpPr/>
          <p:nvPr/>
        </p:nvSpPr>
        <p:spPr>
          <a:xfrm>
            <a:off x="594360" y="1508760"/>
            <a:ext cx="347364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User types a message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2" name="Text 9"/>
          <p:cNvSpPr/>
          <p:nvPr/>
        </p:nvSpPr>
        <p:spPr>
          <a:xfrm>
            <a:off x="594360" y="1774080"/>
            <a:ext cx="347364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Plaintext exists only in the sender's app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3" name="Shape 10"/>
          <p:cNvSpPr/>
          <p:nvPr/>
        </p:nvSpPr>
        <p:spPr>
          <a:xfrm>
            <a:off x="4325040" y="2212920"/>
            <a:ext cx="492840" cy="492840"/>
          </a:xfrm>
          <a:prstGeom prst="ellipse">
            <a:avLst/>
          </a:prstGeom>
          <a:solidFill>
            <a:srgbClr val="8b5cf6"/>
          </a:solidFill>
          <a:ln w="2556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14" name="Text 11"/>
          <p:cNvSpPr/>
          <p:nvPr/>
        </p:nvSpPr>
        <p:spPr>
          <a:xfrm>
            <a:off x="4325040" y="2212920"/>
            <a:ext cx="492840" cy="49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5" name="Shape 12"/>
          <p:cNvSpPr/>
          <p:nvPr/>
        </p:nvSpPr>
        <p:spPr>
          <a:xfrm>
            <a:off x="4937760" y="2167200"/>
            <a:ext cx="3747960" cy="56592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16" name="Shape 13"/>
          <p:cNvSpPr/>
          <p:nvPr/>
        </p:nvSpPr>
        <p:spPr>
          <a:xfrm>
            <a:off x="4937760" y="2167200"/>
            <a:ext cx="53640" cy="56592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17" name="Text 14"/>
          <p:cNvSpPr/>
          <p:nvPr/>
        </p:nvSpPr>
        <p:spPr>
          <a:xfrm>
            <a:off x="5074920" y="2167200"/>
            <a:ext cx="347364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Encrypt on the client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8" name="Text 15"/>
          <p:cNvSpPr/>
          <p:nvPr/>
        </p:nvSpPr>
        <p:spPr>
          <a:xfrm>
            <a:off x="5074920" y="2432160"/>
            <a:ext cx="347364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 produces ciphertext + tag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9" name="Shape 16"/>
          <p:cNvSpPr/>
          <p:nvPr/>
        </p:nvSpPr>
        <p:spPr>
          <a:xfrm>
            <a:off x="4325040" y="2871360"/>
            <a:ext cx="492840" cy="492840"/>
          </a:xfrm>
          <a:prstGeom prst="ellipse">
            <a:avLst/>
          </a:prstGeom>
          <a:solidFill>
            <a:srgbClr val="f5b400"/>
          </a:solidFill>
          <a:ln w="2556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20" name="Text 17"/>
          <p:cNvSpPr/>
          <p:nvPr/>
        </p:nvSpPr>
        <p:spPr>
          <a:xfrm>
            <a:off x="4325040" y="2871360"/>
            <a:ext cx="492840" cy="49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1" name="Shape 18"/>
          <p:cNvSpPr/>
          <p:nvPr/>
        </p:nvSpPr>
        <p:spPr>
          <a:xfrm>
            <a:off x="457200" y="2825640"/>
            <a:ext cx="3747960" cy="56592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22" name="Shape 19"/>
          <p:cNvSpPr/>
          <p:nvPr/>
        </p:nvSpPr>
        <p:spPr>
          <a:xfrm>
            <a:off x="4151520" y="2825640"/>
            <a:ext cx="53640" cy="565920"/>
          </a:xfrm>
          <a:prstGeom prst="rect">
            <a:avLst/>
          </a:prstGeom>
          <a:solidFill>
            <a:srgbClr val="f5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23" name="Text 20"/>
          <p:cNvSpPr/>
          <p:nvPr/>
        </p:nvSpPr>
        <p:spPr>
          <a:xfrm>
            <a:off x="594360" y="2825640"/>
            <a:ext cx="347364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Send to server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4" name="Text 21"/>
          <p:cNvSpPr/>
          <p:nvPr/>
        </p:nvSpPr>
        <p:spPr>
          <a:xfrm>
            <a:off x="594360" y="3090600"/>
            <a:ext cx="347364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Only ciphertext crosses the network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5" name="Shape 22"/>
          <p:cNvSpPr/>
          <p:nvPr/>
        </p:nvSpPr>
        <p:spPr>
          <a:xfrm>
            <a:off x="4325040" y="3529440"/>
            <a:ext cx="492840" cy="492840"/>
          </a:xfrm>
          <a:prstGeom prst="ellipse">
            <a:avLst/>
          </a:prstGeom>
          <a:solidFill>
            <a:srgbClr val="f5b400"/>
          </a:solidFill>
          <a:ln w="2556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26" name="Text 23"/>
          <p:cNvSpPr/>
          <p:nvPr/>
        </p:nvSpPr>
        <p:spPr>
          <a:xfrm>
            <a:off x="4325040" y="3529440"/>
            <a:ext cx="492840" cy="49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7" name="Shape 24"/>
          <p:cNvSpPr/>
          <p:nvPr/>
        </p:nvSpPr>
        <p:spPr>
          <a:xfrm>
            <a:off x="4937760" y="3483720"/>
            <a:ext cx="3747960" cy="56592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28" name="Shape 25"/>
          <p:cNvSpPr/>
          <p:nvPr/>
        </p:nvSpPr>
        <p:spPr>
          <a:xfrm>
            <a:off x="4937760" y="3483720"/>
            <a:ext cx="53640" cy="565920"/>
          </a:xfrm>
          <a:prstGeom prst="rect">
            <a:avLst/>
          </a:prstGeom>
          <a:solidFill>
            <a:srgbClr val="f5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29" name="Text 26"/>
          <p:cNvSpPr/>
          <p:nvPr/>
        </p:nvSpPr>
        <p:spPr>
          <a:xfrm>
            <a:off x="5074920" y="3483720"/>
            <a:ext cx="347364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Server forwards data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0" name="Text 27"/>
          <p:cNvSpPr/>
          <p:nvPr/>
        </p:nvSpPr>
        <p:spPr>
          <a:xfrm>
            <a:off x="5074920" y="3749040"/>
            <a:ext cx="347364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Server cannot read it — relays opaque bytes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Shape 28"/>
          <p:cNvSpPr/>
          <p:nvPr/>
        </p:nvSpPr>
        <p:spPr>
          <a:xfrm>
            <a:off x="4325040" y="4187880"/>
            <a:ext cx="492840" cy="492840"/>
          </a:xfrm>
          <a:prstGeom prst="ellipse">
            <a:avLst/>
          </a:prstGeom>
          <a:solidFill>
            <a:srgbClr val="14b8a6"/>
          </a:solidFill>
          <a:ln w="2556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32" name="Text 29"/>
          <p:cNvSpPr/>
          <p:nvPr/>
        </p:nvSpPr>
        <p:spPr>
          <a:xfrm>
            <a:off x="4325040" y="4187880"/>
            <a:ext cx="492840" cy="49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3" name="Shape 30"/>
          <p:cNvSpPr/>
          <p:nvPr/>
        </p:nvSpPr>
        <p:spPr>
          <a:xfrm>
            <a:off x="457200" y="4142160"/>
            <a:ext cx="3747960" cy="56592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34" name="Shape 31"/>
          <p:cNvSpPr/>
          <p:nvPr/>
        </p:nvSpPr>
        <p:spPr>
          <a:xfrm>
            <a:off x="4151520" y="4142160"/>
            <a:ext cx="53640" cy="56592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35" name="Text 32"/>
          <p:cNvSpPr/>
          <p:nvPr/>
        </p:nvSpPr>
        <p:spPr>
          <a:xfrm>
            <a:off x="594360" y="4142160"/>
            <a:ext cx="347364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Receiver decrypts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6" name="Text 33"/>
          <p:cNvSpPr/>
          <p:nvPr/>
        </p:nvSpPr>
        <p:spPr>
          <a:xfrm>
            <a:off x="594360" y="4407480"/>
            <a:ext cx="347364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Plaintext recovered on the receiver's device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7" name="Shape 34"/>
          <p:cNvSpPr/>
          <p:nvPr/>
        </p:nvSpPr>
        <p:spPr>
          <a:xfrm>
            <a:off x="8275320" y="4851000"/>
            <a:ext cx="163440" cy="4464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38" name="Shape 35"/>
          <p:cNvSpPr/>
          <p:nvPr/>
        </p:nvSpPr>
        <p:spPr>
          <a:xfrm>
            <a:off x="8503920" y="4851000"/>
            <a:ext cx="364680" cy="4464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39" name="Text 36"/>
          <p:cNvSpPr/>
          <p:nvPr/>
        </p:nvSpPr>
        <p:spPr>
          <a:xfrm>
            <a:off x="6400800" y="4759560"/>
            <a:ext cx="17820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0" name="Text 37"/>
          <p:cNvSpPr/>
          <p:nvPr/>
        </p:nvSpPr>
        <p:spPr>
          <a:xfrm>
            <a:off x="365760" y="4759560"/>
            <a:ext cx="9133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22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Shape 0"/>
          <p:cNvSpPr/>
          <p:nvPr/>
        </p:nvSpPr>
        <p:spPr>
          <a:xfrm>
            <a:off x="457200" y="502920"/>
            <a:ext cx="163440" cy="1634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42" name="Text 1"/>
          <p:cNvSpPr/>
          <p:nvPr/>
        </p:nvSpPr>
        <p:spPr>
          <a:xfrm>
            <a:off x="713160" y="365760"/>
            <a:ext cx="79542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Encrypted vs. Unencrypted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3" name="Text 2"/>
          <p:cNvSpPr/>
          <p:nvPr/>
        </p:nvSpPr>
        <p:spPr>
          <a:xfrm>
            <a:off x="713160" y="868680"/>
            <a:ext cx="79542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What the server actually sees in each mode of our application.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Shape 3"/>
          <p:cNvSpPr/>
          <p:nvPr/>
        </p:nvSpPr>
        <p:spPr>
          <a:xfrm>
            <a:off x="457200" y="1417320"/>
            <a:ext cx="4068000" cy="32450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45" name="Shape 4"/>
          <p:cNvSpPr/>
          <p:nvPr/>
        </p:nvSpPr>
        <p:spPr>
          <a:xfrm>
            <a:off x="457200" y="1417320"/>
            <a:ext cx="4068000" cy="456120"/>
          </a:xfrm>
          <a:prstGeom prst="rect">
            <a:avLst/>
          </a:prstGeom>
          <a:solidFill>
            <a:srgbClr val="f970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746" name="Image 0" descr="preencoded.png"/>
          <p:cNvPicPr/>
          <p:nvPr/>
        </p:nvPicPr>
        <p:blipFill>
          <a:blip r:embed="rId1"/>
          <a:stretch/>
        </p:blipFill>
        <p:spPr>
          <a:xfrm>
            <a:off x="640080" y="1508760"/>
            <a:ext cx="273240" cy="27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7" name="Text 5"/>
          <p:cNvSpPr/>
          <p:nvPr/>
        </p:nvSpPr>
        <p:spPr>
          <a:xfrm>
            <a:off x="1005840" y="1417320"/>
            <a:ext cx="33822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WITHOUT ENCRYPTION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8" name="Text 6"/>
          <p:cNvSpPr/>
          <p:nvPr/>
        </p:nvSpPr>
        <p:spPr>
          <a:xfrm>
            <a:off x="640080" y="2011680"/>
            <a:ext cx="37022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Server sees plaintext: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9" name="Shape 7"/>
          <p:cNvSpPr/>
          <p:nvPr/>
        </p:nvSpPr>
        <p:spPr>
          <a:xfrm>
            <a:off x="640080" y="2331720"/>
            <a:ext cx="3702240" cy="2193480"/>
          </a:xfrm>
          <a:prstGeom prst="rect">
            <a:avLst/>
          </a:prstGeom>
          <a:solidFill>
            <a:srgbClr val="0b1a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50" name="Text 8"/>
          <p:cNvSpPr/>
          <p:nvPr/>
        </p:nvSpPr>
        <p:spPr>
          <a:xfrm>
            <a:off x="777240" y="2468880"/>
            <a:ext cx="3519360" cy="19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lang="en-US" sz="1100" b="0" u="none" strike="noStrike">
                <a:solidFill>
                  <a:srgbClr val="5eead4"/>
                </a:solidFill>
                <a:effectLst/>
                <a:uFillTx/>
                <a:latin typeface="Calibri"/>
                <a:ea typeface="Consolas"/>
              </a:rPr>
              <a:t>&gt; alice: hey, are we still on?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lang="en-US" sz="1100" b="0" u="none" strike="noStrike">
                <a:solidFill>
                  <a:srgbClr val="5eead4"/>
                </a:solidFill>
                <a:effectLst/>
                <a:uFillTx/>
                <a:latin typeface="Calibri"/>
                <a:ea typeface="Consolas"/>
              </a:rPr>
              <a:t>&gt; bob:   yeah, 6pm at the cafe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lang="en-US" sz="1100" b="0" u="none" strike="noStrike">
                <a:solidFill>
                  <a:srgbClr val="5eead4"/>
                </a:solidFill>
                <a:effectLst/>
                <a:uFillTx/>
                <a:latin typeface="Calibri"/>
                <a:ea typeface="Consolas"/>
              </a:rPr>
              <a:t>&gt; alice: bring my laptop?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lang="en-US" sz="1100" b="0" u="none" strike="noStrike">
                <a:solidFill>
                  <a:srgbClr val="fecaca"/>
                </a:solidFill>
                <a:effectLst/>
                <a:uFillTx/>
                <a:latin typeface="Calibri"/>
                <a:ea typeface="Consolas"/>
              </a:rPr>
              <a:t>&gt; bob:   yes — pwd is hunter2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lang="en-US" sz="1100" b="0" i="1" u="none" strike="noStrike">
                <a:solidFill>
                  <a:srgbClr val="f97066"/>
                </a:solidFill>
                <a:effectLst/>
                <a:uFillTx/>
                <a:latin typeface="Calibri"/>
                <a:ea typeface="Consolas"/>
              </a:rPr>
              <a:t>          ↑ leaked to anyone listening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1" name="Shape 9"/>
          <p:cNvSpPr/>
          <p:nvPr/>
        </p:nvSpPr>
        <p:spPr>
          <a:xfrm>
            <a:off x="4617720" y="1417320"/>
            <a:ext cx="4068000" cy="32450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52" name="Shape 10"/>
          <p:cNvSpPr/>
          <p:nvPr/>
        </p:nvSpPr>
        <p:spPr>
          <a:xfrm>
            <a:off x="4617720" y="1417320"/>
            <a:ext cx="4068000" cy="45612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753" name="Image 1" descr="preencoded.png"/>
          <p:cNvPicPr/>
          <p:nvPr/>
        </p:nvPicPr>
        <p:blipFill>
          <a:blip r:embed="rId2"/>
          <a:stretch/>
        </p:blipFill>
        <p:spPr>
          <a:xfrm>
            <a:off x="4800600" y="1508760"/>
            <a:ext cx="273240" cy="27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4" name="Text 11"/>
          <p:cNvSpPr/>
          <p:nvPr/>
        </p:nvSpPr>
        <p:spPr>
          <a:xfrm>
            <a:off x="5166360" y="1417320"/>
            <a:ext cx="33822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WITH ENCRYPTION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5" name="Text 12"/>
          <p:cNvSpPr/>
          <p:nvPr/>
        </p:nvSpPr>
        <p:spPr>
          <a:xfrm>
            <a:off x="4800600" y="2011680"/>
            <a:ext cx="37022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Server sees ciphertext: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6" name="Shape 13"/>
          <p:cNvSpPr/>
          <p:nvPr/>
        </p:nvSpPr>
        <p:spPr>
          <a:xfrm>
            <a:off x="4800600" y="2331720"/>
            <a:ext cx="3702240" cy="2193480"/>
          </a:xfrm>
          <a:prstGeom prst="rect">
            <a:avLst/>
          </a:prstGeom>
          <a:solidFill>
            <a:srgbClr val="0b1a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57" name="Text 14"/>
          <p:cNvSpPr/>
          <p:nvPr/>
        </p:nvSpPr>
        <p:spPr>
          <a:xfrm>
            <a:off x="4937760" y="2468880"/>
            <a:ext cx="3519360" cy="19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lang="en-US" sz="1100" b="0" u="none" strike="noStrike">
                <a:solidFill>
                  <a:srgbClr val="5eead4"/>
                </a:solidFill>
                <a:effectLst/>
                <a:uFillTx/>
                <a:latin typeface="Calibri"/>
                <a:ea typeface="Consolas"/>
              </a:rPr>
              <a:t>&gt; 0xA3F2 91BC 4D3E 8801…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lang="en-US" sz="1100" b="0" u="none" strike="noStrike">
                <a:solidFill>
                  <a:srgbClr val="5eead4"/>
                </a:solidFill>
                <a:effectLst/>
                <a:uFillTx/>
                <a:latin typeface="Calibri"/>
                <a:ea typeface="Consolas"/>
              </a:rPr>
              <a:t>&gt; 0x7E22 0918 BB44 1A0C…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lang="en-US" sz="1100" b="0" u="none" strike="noStrike">
                <a:solidFill>
                  <a:srgbClr val="5eead4"/>
                </a:solidFill>
                <a:effectLst/>
                <a:uFillTx/>
                <a:latin typeface="Calibri"/>
                <a:ea typeface="Consolas"/>
              </a:rPr>
              <a:t>&gt; 0xC891 33A1 F2E0 7755…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lang="en-US" sz="1100" b="0" u="none" strike="noStrike">
                <a:solidFill>
                  <a:srgbClr val="5eead4"/>
                </a:solidFill>
                <a:effectLst/>
                <a:uFillTx/>
                <a:latin typeface="Calibri"/>
                <a:ea typeface="Consolas"/>
              </a:rPr>
              <a:t>&gt; 0x190D 4422 BA17 9988…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  <a:tabLst>
                <a:tab algn="l" pos="0"/>
              </a:tabLst>
            </a:pPr>
            <a:r>
              <a:rPr lang="en-US" sz="1100" b="0" i="1" u="none" strike="noStrike">
                <a:solidFill>
                  <a:srgbClr val="14b8a6"/>
                </a:solidFill>
                <a:effectLst/>
                <a:uFillTx/>
                <a:latin typeface="Calibri"/>
                <a:ea typeface="Consolas"/>
              </a:rPr>
              <a:t>          ↑ true end-to-end privacy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8" name="Shape 15"/>
          <p:cNvSpPr/>
          <p:nvPr/>
        </p:nvSpPr>
        <p:spPr>
          <a:xfrm>
            <a:off x="8275320" y="4851000"/>
            <a:ext cx="163440" cy="4464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59" name="Shape 16"/>
          <p:cNvSpPr/>
          <p:nvPr/>
        </p:nvSpPr>
        <p:spPr>
          <a:xfrm>
            <a:off x="8503920" y="4851000"/>
            <a:ext cx="364680" cy="4464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60" name="Text 17"/>
          <p:cNvSpPr/>
          <p:nvPr/>
        </p:nvSpPr>
        <p:spPr>
          <a:xfrm>
            <a:off x="6400800" y="4759560"/>
            <a:ext cx="17820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1" name="Text 18"/>
          <p:cNvSpPr/>
          <p:nvPr/>
        </p:nvSpPr>
        <p:spPr>
          <a:xfrm>
            <a:off x="365760" y="4759560"/>
            <a:ext cx="9133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23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Shape 0"/>
          <p:cNvSpPr/>
          <p:nvPr/>
        </p:nvSpPr>
        <p:spPr>
          <a:xfrm>
            <a:off x="457200" y="502920"/>
            <a:ext cx="163440" cy="1634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63" name="Text 1"/>
          <p:cNvSpPr/>
          <p:nvPr/>
        </p:nvSpPr>
        <p:spPr>
          <a:xfrm>
            <a:off x="713160" y="365760"/>
            <a:ext cx="77713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Security Properties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4" name="Text 2"/>
          <p:cNvSpPr/>
          <p:nvPr/>
        </p:nvSpPr>
        <p:spPr>
          <a:xfrm>
            <a:off x="713160" y="868680"/>
            <a:ext cx="77713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What our system actually guarantees.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5" name="Shape 3"/>
          <p:cNvSpPr/>
          <p:nvPr/>
        </p:nvSpPr>
        <p:spPr>
          <a:xfrm>
            <a:off x="457200" y="1463040"/>
            <a:ext cx="4068000" cy="1553400"/>
          </a:xfrm>
          <a:prstGeom prst="rect">
            <a:avLst/>
          </a:prstGeom>
          <a:solidFill>
            <a:srgbClr val="13243f"/>
          </a:solidFill>
          <a:ln w="9360">
            <a:solidFill>
              <a:srgbClr val="1e3a5f"/>
            </a:solidFill>
            <a:round/>
          </a:ln>
          <a:effectLst>
            <a:outerShdw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66" name="Shape 4"/>
          <p:cNvSpPr/>
          <p:nvPr/>
        </p:nvSpPr>
        <p:spPr>
          <a:xfrm>
            <a:off x="457200" y="1463040"/>
            <a:ext cx="72000" cy="15534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67" name="Shape 5"/>
          <p:cNvSpPr/>
          <p:nvPr/>
        </p:nvSpPr>
        <p:spPr>
          <a:xfrm>
            <a:off x="731520" y="1737360"/>
            <a:ext cx="639000" cy="639000"/>
          </a:xfrm>
          <a:prstGeom prst="ellipse">
            <a:avLst/>
          </a:prstGeom>
          <a:solidFill>
            <a:srgbClr val="14b8a6">
              <a:alpha val="20000"/>
            </a:srgbClr>
          </a:solidFill>
          <a:ln w="12600">
            <a:solidFill>
              <a:srgbClr val="14b8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768" name="Image 0" descr="preencoded.png"/>
          <p:cNvPicPr/>
          <p:nvPr/>
        </p:nvPicPr>
        <p:blipFill>
          <a:blip r:embed="rId1"/>
          <a:stretch/>
        </p:blipFill>
        <p:spPr>
          <a:xfrm>
            <a:off x="841320" y="1847160"/>
            <a:ext cx="419400" cy="41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9" name="Text 6"/>
          <p:cNvSpPr/>
          <p:nvPr/>
        </p:nvSpPr>
        <p:spPr>
          <a:xfrm>
            <a:off x="1554480" y="1691640"/>
            <a:ext cx="28335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Confidentiality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0" name="Text 7"/>
          <p:cNvSpPr/>
          <p:nvPr/>
        </p:nvSpPr>
        <p:spPr>
          <a:xfrm>
            <a:off x="1554480" y="2148840"/>
            <a:ext cx="283356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Plaintext is hidden from everyone except the holders of the key.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1" name="Shape 8"/>
          <p:cNvSpPr/>
          <p:nvPr/>
        </p:nvSpPr>
        <p:spPr>
          <a:xfrm>
            <a:off x="4617720" y="1463040"/>
            <a:ext cx="4068000" cy="1553400"/>
          </a:xfrm>
          <a:prstGeom prst="rect">
            <a:avLst/>
          </a:prstGeom>
          <a:solidFill>
            <a:srgbClr val="13243f"/>
          </a:solidFill>
          <a:ln w="9360">
            <a:solidFill>
              <a:srgbClr val="1e3a5f"/>
            </a:solidFill>
            <a:round/>
          </a:ln>
          <a:effectLst>
            <a:outerShdw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72" name="Shape 9"/>
          <p:cNvSpPr/>
          <p:nvPr/>
        </p:nvSpPr>
        <p:spPr>
          <a:xfrm>
            <a:off x="4617720" y="1463040"/>
            <a:ext cx="72000" cy="155340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73" name="Shape 10"/>
          <p:cNvSpPr/>
          <p:nvPr/>
        </p:nvSpPr>
        <p:spPr>
          <a:xfrm>
            <a:off x="4892040" y="1737360"/>
            <a:ext cx="639000" cy="639000"/>
          </a:xfrm>
          <a:prstGeom prst="ellipse">
            <a:avLst/>
          </a:prstGeom>
          <a:solidFill>
            <a:srgbClr val="8b5cf6">
              <a:alpha val="20000"/>
            </a:srgbClr>
          </a:solidFill>
          <a:ln w="12600">
            <a:solidFill>
              <a:srgbClr val="8b5c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774" name="Image 1" descr="preencoded.png"/>
          <p:cNvPicPr/>
          <p:nvPr/>
        </p:nvPicPr>
        <p:blipFill>
          <a:blip r:embed="rId2"/>
          <a:stretch/>
        </p:blipFill>
        <p:spPr>
          <a:xfrm>
            <a:off x="5001840" y="1847160"/>
            <a:ext cx="419400" cy="41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5" name="Text 11"/>
          <p:cNvSpPr/>
          <p:nvPr/>
        </p:nvSpPr>
        <p:spPr>
          <a:xfrm>
            <a:off x="5715000" y="1691640"/>
            <a:ext cx="28335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Integrity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6" name="Text 12"/>
          <p:cNvSpPr/>
          <p:nvPr/>
        </p:nvSpPr>
        <p:spPr>
          <a:xfrm>
            <a:off x="5715000" y="2148840"/>
            <a:ext cx="283356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Any modification of the ciphertext is detected by the Poly1305 tag.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7" name="Shape 13"/>
          <p:cNvSpPr/>
          <p:nvPr/>
        </p:nvSpPr>
        <p:spPr>
          <a:xfrm>
            <a:off x="457200" y="3108960"/>
            <a:ext cx="4068000" cy="1553400"/>
          </a:xfrm>
          <a:prstGeom prst="rect">
            <a:avLst/>
          </a:prstGeom>
          <a:solidFill>
            <a:srgbClr val="13243f"/>
          </a:solidFill>
          <a:ln w="9360">
            <a:solidFill>
              <a:srgbClr val="1e3a5f"/>
            </a:solidFill>
            <a:round/>
          </a:ln>
          <a:effectLst>
            <a:outerShdw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78" name="Shape 14"/>
          <p:cNvSpPr/>
          <p:nvPr/>
        </p:nvSpPr>
        <p:spPr>
          <a:xfrm>
            <a:off x="457200" y="3108960"/>
            <a:ext cx="72000" cy="1553400"/>
          </a:xfrm>
          <a:prstGeom prst="rect">
            <a:avLst/>
          </a:prstGeom>
          <a:solidFill>
            <a:srgbClr val="f5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79" name="Shape 15"/>
          <p:cNvSpPr/>
          <p:nvPr/>
        </p:nvSpPr>
        <p:spPr>
          <a:xfrm>
            <a:off x="731520" y="3383280"/>
            <a:ext cx="639000" cy="639000"/>
          </a:xfrm>
          <a:prstGeom prst="ellipse">
            <a:avLst/>
          </a:prstGeom>
          <a:solidFill>
            <a:srgbClr val="f5b400">
              <a:alpha val="20000"/>
            </a:srgbClr>
          </a:solidFill>
          <a:ln w="12600">
            <a:solidFill>
              <a:srgbClr val="f5b4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780" name="Image 2" descr="preencoded.png"/>
          <p:cNvPicPr/>
          <p:nvPr/>
        </p:nvPicPr>
        <p:blipFill>
          <a:blip r:embed="rId3"/>
          <a:stretch/>
        </p:blipFill>
        <p:spPr>
          <a:xfrm>
            <a:off x="841320" y="3493080"/>
            <a:ext cx="419400" cy="41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1" name="Text 16"/>
          <p:cNvSpPr/>
          <p:nvPr/>
        </p:nvSpPr>
        <p:spPr>
          <a:xfrm>
            <a:off x="1554480" y="3337560"/>
            <a:ext cx="28335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Authentication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2" name="Text 17"/>
          <p:cNvSpPr/>
          <p:nvPr/>
        </p:nvSpPr>
        <p:spPr>
          <a:xfrm>
            <a:off x="1554480" y="3794760"/>
            <a:ext cx="283356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Only someone with the key could have produced a valid tag.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3" name="Shape 18"/>
          <p:cNvSpPr/>
          <p:nvPr/>
        </p:nvSpPr>
        <p:spPr>
          <a:xfrm>
            <a:off x="4617720" y="3108960"/>
            <a:ext cx="4068000" cy="1553400"/>
          </a:xfrm>
          <a:prstGeom prst="rect">
            <a:avLst/>
          </a:prstGeom>
          <a:solidFill>
            <a:srgbClr val="13243f"/>
          </a:solidFill>
          <a:ln w="9360">
            <a:solidFill>
              <a:srgbClr val="1e3a5f"/>
            </a:solidFill>
            <a:round/>
          </a:ln>
          <a:effectLst>
            <a:outerShdw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84" name="Shape 19"/>
          <p:cNvSpPr/>
          <p:nvPr/>
        </p:nvSpPr>
        <p:spPr>
          <a:xfrm>
            <a:off x="4617720" y="3108960"/>
            <a:ext cx="72000" cy="1553400"/>
          </a:xfrm>
          <a:prstGeom prst="rect">
            <a:avLst/>
          </a:prstGeom>
          <a:solidFill>
            <a:srgbClr val="f970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85" name="Shape 20"/>
          <p:cNvSpPr/>
          <p:nvPr/>
        </p:nvSpPr>
        <p:spPr>
          <a:xfrm>
            <a:off x="4892040" y="3383280"/>
            <a:ext cx="639000" cy="639000"/>
          </a:xfrm>
          <a:prstGeom prst="ellipse">
            <a:avLst/>
          </a:prstGeom>
          <a:solidFill>
            <a:srgbClr val="f97066">
              <a:alpha val="20000"/>
            </a:srgbClr>
          </a:solidFill>
          <a:ln w="12600">
            <a:solidFill>
              <a:srgbClr val="f9706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786" name="Image 3" descr="preencoded.png"/>
          <p:cNvPicPr/>
          <p:nvPr/>
        </p:nvPicPr>
        <p:blipFill>
          <a:blip r:embed="rId4"/>
          <a:stretch/>
        </p:blipFill>
        <p:spPr>
          <a:xfrm>
            <a:off x="5001840" y="3493080"/>
            <a:ext cx="419400" cy="41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7" name="Text 21"/>
          <p:cNvSpPr/>
          <p:nvPr/>
        </p:nvSpPr>
        <p:spPr>
          <a:xfrm>
            <a:off x="5715000" y="3337560"/>
            <a:ext cx="28335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Side-channel resistance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8" name="Text 22"/>
          <p:cNvSpPr/>
          <p:nvPr/>
        </p:nvSpPr>
        <p:spPr>
          <a:xfrm>
            <a:off x="5715000" y="3794760"/>
            <a:ext cx="283356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Constant-time ARX operations resist timing and cache attacks.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9" name="Shape 23"/>
          <p:cNvSpPr/>
          <p:nvPr/>
        </p:nvSpPr>
        <p:spPr>
          <a:xfrm>
            <a:off x="8275320" y="4851000"/>
            <a:ext cx="163440" cy="446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90" name="Shape 24"/>
          <p:cNvSpPr/>
          <p:nvPr/>
        </p:nvSpPr>
        <p:spPr>
          <a:xfrm>
            <a:off x="8503920" y="4851000"/>
            <a:ext cx="364680" cy="44640"/>
          </a:xfrm>
          <a:prstGeom prst="rect">
            <a:avLst/>
          </a:prstGeom>
          <a:solidFill>
            <a:srgbClr val="14b8a6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91" name="Text 25"/>
          <p:cNvSpPr/>
          <p:nvPr/>
        </p:nvSpPr>
        <p:spPr>
          <a:xfrm>
            <a:off x="6400800" y="4759560"/>
            <a:ext cx="17820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2" name="Text 26"/>
          <p:cNvSpPr/>
          <p:nvPr/>
        </p:nvSpPr>
        <p:spPr>
          <a:xfrm>
            <a:off x="365760" y="4759560"/>
            <a:ext cx="9133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24 / 32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Shape 0"/>
          <p:cNvSpPr/>
          <p:nvPr/>
        </p:nvSpPr>
        <p:spPr>
          <a:xfrm>
            <a:off x="457200" y="502920"/>
            <a:ext cx="163440" cy="1634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94" name="Text 1"/>
          <p:cNvSpPr/>
          <p:nvPr/>
        </p:nvSpPr>
        <p:spPr>
          <a:xfrm>
            <a:off x="713160" y="365760"/>
            <a:ext cx="79542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Real-World Applications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5" name="Text 2"/>
          <p:cNvSpPr/>
          <p:nvPr/>
        </p:nvSpPr>
        <p:spPr>
          <a:xfrm>
            <a:off x="713160" y="868680"/>
            <a:ext cx="79542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 is the default in many of the protocols you use every day.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6" name="Shape 3"/>
          <p:cNvSpPr/>
          <p:nvPr/>
        </p:nvSpPr>
        <p:spPr>
          <a:xfrm>
            <a:off x="457200" y="1417320"/>
            <a:ext cx="2696400" cy="14619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97" name="Shape 4"/>
          <p:cNvSpPr/>
          <p:nvPr/>
        </p:nvSpPr>
        <p:spPr>
          <a:xfrm>
            <a:off x="457200" y="1417320"/>
            <a:ext cx="2696400" cy="720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798" name="Text 5"/>
          <p:cNvSpPr/>
          <p:nvPr/>
        </p:nvSpPr>
        <p:spPr>
          <a:xfrm>
            <a:off x="640080" y="1581840"/>
            <a:ext cx="23306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14b8a6"/>
                </a:solidFill>
                <a:effectLst/>
                <a:uFillTx/>
                <a:latin typeface="Georgia"/>
                <a:ea typeface="Georgia"/>
              </a:rPr>
              <a:t>WireGuard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9" name="Text 6"/>
          <p:cNvSpPr/>
          <p:nvPr/>
        </p:nvSpPr>
        <p:spPr>
          <a:xfrm>
            <a:off x="640080" y="2011680"/>
            <a:ext cx="233064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Modern VPN protocol — uses ChaCha20-Poly1305 as its sole cipher.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0" name="Shape 7"/>
          <p:cNvSpPr/>
          <p:nvPr/>
        </p:nvSpPr>
        <p:spPr>
          <a:xfrm>
            <a:off x="3273480" y="1417320"/>
            <a:ext cx="2696400" cy="14619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01" name="Shape 8"/>
          <p:cNvSpPr/>
          <p:nvPr/>
        </p:nvSpPr>
        <p:spPr>
          <a:xfrm>
            <a:off x="3273480" y="1417320"/>
            <a:ext cx="2696400" cy="7200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02" name="Text 9"/>
          <p:cNvSpPr/>
          <p:nvPr/>
        </p:nvSpPr>
        <p:spPr>
          <a:xfrm>
            <a:off x="3456360" y="1581840"/>
            <a:ext cx="23306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Georgia"/>
                <a:ea typeface="Georgia"/>
              </a:rPr>
              <a:t>TLS 1.3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3" name="Text 10"/>
          <p:cNvSpPr/>
          <p:nvPr/>
        </p:nvSpPr>
        <p:spPr>
          <a:xfrm>
            <a:off x="3456360" y="2011680"/>
            <a:ext cx="233064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RFC 7905 cipher suite. Preferred when AES hardware is unavailable.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4" name="Shape 11"/>
          <p:cNvSpPr/>
          <p:nvPr/>
        </p:nvSpPr>
        <p:spPr>
          <a:xfrm>
            <a:off x="6089760" y="1417320"/>
            <a:ext cx="2696400" cy="14619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05" name="Shape 12"/>
          <p:cNvSpPr/>
          <p:nvPr/>
        </p:nvSpPr>
        <p:spPr>
          <a:xfrm>
            <a:off x="6089760" y="1417320"/>
            <a:ext cx="2696400" cy="72000"/>
          </a:xfrm>
          <a:prstGeom prst="rect">
            <a:avLst/>
          </a:prstGeom>
          <a:solidFill>
            <a:srgbClr val="f5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06" name="Text 13"/>
          <p:cNvSpPr/>
          <p:nvPr/>
        </p:nvSpPr>
        <p:spPr>
          <a:xfrm>
            <a:off x="6272640" y="1581840"/>
            <a:ext cx="23306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f5b400"/>
                </a:solidFill>
                <a:effectLst/>
                <a:uFillTx/>
                <a:latin typeface="Georgia"/>
                <a:ea typeface="Georgia"/>
              </a:rPr>
              <a:t>QUIC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7" name="Text 14"/>
          <p:cNvSpPr/>
          <p:nvPr/>
        </p:nvSpPr>
        <p:spPr>
          <a:xfrm>
            <a:off x="6272640" y="2011680"/>
            <a:ext cx="233064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HTTP/3's transport protocol. Mandates ChaCha20-Poly1305 support.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8" name="Shape 15"/>
          <p:cNvSpPr/>
          <p:nvPr/>
        </p:nvSpPr>
        <p:spPr>
          <a:xfrm>
            <a:off x="457200" y="2999160"/>
            <a:ext cx="2696400" cy="14619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09" name="Shape 16"/>
          <p:cNvSpPr/>
          <p:nvPr/>
        </p:nvSpPr>
        <p:spPr>
          <a:xfrm>
            <a:off x="457200" y="2999160"/>
            <a:ext cx="2696400" cy="72000"/>
          </a:xfrm>
          <a:prstGeom prst="rect">
            <a:avLst/>
          </a:prstGeom>
          <a:solidFill>
            <a:srgbClr val="f970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10" name="Text 17"/>
          <p:cNvSpPr/>
          <p:nvPr/>
        </p:nvSpPr>
        <p:spPr>
          <a:xfrm>
            <a:off x="640080" y="3163680"/>
            <a:ext cx="23306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f97066"/>
                </a:solidFill>
                <a:effectLst/>
                <a:uFillTx/>
                <a:latin typeface="Georgia"/>
                <a:ea typeface="Georgia"/>
              </a:rPr>
              <a:t>OpenSSH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1" name="Text 18"/>
          <p:cNvSpPr/>
          <p:nvPr/>
        </p:nvSpPr>
        <p:spPr>
          <a:xfrm>
            <a:off x="640080" y="3593520"/>
            <a:ext cx="233064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Default cipher in modern OpenSSH builds (chacha20-poly1305@openssh.com).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2" name="Shape 19"/>
          <p:cNvSpPr/>
          <p:nvPr/>
        </p:nvSpPr>
        <p:spPr>
          <a:xfrm>
            <a:off x="3273480" y="2999160"/>
            <a:ext cx="2696400" cy="14619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13" name="Shape 20"/>
          <p:cNvSpPr/>
          <p:nvPr/>
        </p:nvSpPr>
        <p:spPr>
          <a:xfrm>
            <a:off x="3273480" y="2999160"/>
            <a:ext cx="2696400" cy="720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14" name="Text 21"/>
          <p:cNvSpPr/>
          <p:nvPr/>
        </p:nvSpPr>
        <p:spPr>
          <a:xfrm>
            <a:off x="3456360" y="3163680"/>
            <a:ext cx="23306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14b8a6"/>
                </a:solidFill>
                <a:effectLst/>
                <a:uFillTx/>
                <a:latin typeface="Georgia"/>
                <a:ea typeface="Georgia"/>
              </a:rPr>
              <a:t>Signal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5" name="Text 22"/>
          <p:cNvSpPr/>
          <p:nvPr/>
        </p:nvSpPr>
        <p:spPr>
          <a:xfrm>
            <a:off x="3456360" y="3593520"/>
            <a:ext cx="233064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End-to-end messaging — same family of constructions for confidentiality.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6" name="Shape 23"/>
          <p:cNvSpPr/>
          <p:nvPr/>
        </p:nvSpPr>
        <p:spPr>
          <a:xfrm>
            <a:off x="6089760" y="2999160"/>
            <a:ext cx="2696400" cy="146196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17" name="Shape 24"/>
          <p:cNvSpPr/>
          <p:nvPr/>
        </p:nvSpPr>
        <p:spPr>
          <a:xfrm>
            <a:off x="6089760" y="2999160"/>
            <a:ext cx="2696400" cy="7200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18" name="Text 25"/>
          <p:cNvSpPr/>
          <p:nvPr/>
        </p:nvSpPr>
        <p:spPr>
          <a:xfrm>
            <a:off x="6272640" y="3163680"/>
            <a:ext cx="233064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8b5cf6"/>
                </a:solidFill>
                <a:effectLst/>
                <a:uFillTx/>
                <a:latin typeface="Georgia"/>
                <a:ea typeface="Georgia"/>
              </a:rPr>
              <a:t>WhatsApp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9" name="Text 26"/>
          <p:cNvSpPr/>
          <p:nvPr/>
        </p:nvSpPr>
        <p:spPr>
          <a:xfrm>
            <a:off x="6272640" y="3593520"/>
            <a:ext cx="233064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Built on Signal Protocol — encrypts billions of messages per day.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0" name="Shape 27"/>
          <p:cNvSpPr/>
          <p:nvPr/>
        </p:nvSpPr>
        <p:spPr>
          <a:xfrm>
            <a:off x="8275320" y="4851000"/>
            <a:ext cx="163440" cy="4464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21" name="Shape 28"/>
          <p:cNvSpPr/>
          <p:nvPr/>
        </p:nvSpPr>
        <p:spPr>
          <a:xfrm>
            <a:off x="8503920" y="4851000"/>
            <a:ext cx="364680" cy="4464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22" name="Text 29"/>
          <p:cNvSpPr/>
          <p:nvPr/>
        </p:nvSpPr>
        <p:spPr>
          <a:xfrm>
            <a:off x="6400800" y="4759560"/>
            <a:ext cx="17820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3" name="Text 30"/>
          <p:cNvSpPr/>
          <p:nvPr/>
        </p:nvSpPr>
        <p:spPr>
          <a:xfrm>
            <a:off x="365760" y="4759560"/>
            <a:ext cx="9133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25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Shape 0"/>
          <p:cNvSpPr/>
          <p:nvPr/>
        </p:nvSpPr>
        <p:spPr>
          <a:xfrm>
            <a:off x="457200" y="502920"/>
            <a:ext cx="163440" cy="1634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25" name="Text 1"/>
          <p:cNvSpPr/>
          <p:nvPr/>
        </p:nvSpPr>
        <p:spPr>
          <a:xfrm>
            <a:off x="713160" y="365760"/>
            <a:ext cx="79542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Challenges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6" name="Text 2"/>
          <p:cNvSpPr/>
          <p:nvPr/>
        </p:nvSpPr>
        <p:spPr>
          <a:xfrm>
            <a:off x="713160" y="868680"/>
            <a:ext cx="79542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Things we wrestled with along the way.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7" name="Shape 3"/>
          <p:cNvSpPr/>
          <p:nvPr/>
        </p:nvSpPr>
        <p:spPr>
          <a:xfrm>
            <a:off x="457200" y="1417320"/>
            <a:ext cx="2047320" cy="32450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28" name="Shape 4"/>
          <p:cNvSpPr/>
          <p:nvPr/>
        </p:nvSpPr>
        <p:spPr>
          <a:xfrm>
            <a:off x="1092600" y="1691640"/>
            <a:ext cx="776160" cy="776160"/>
          </a:xfrm>
          <a:prstGeom prst="ellipse">
            <a:avLst/>
          </a:prstGeom>
          <a:solidFill>
            <a:srgbClr val="f5b4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29" name="Text 5"/>
          <p:cNvSpPr/>
          <p:nvPr/>
        </p:nvSpPr>
        <p:spPr>
          <a:xfrm>
            <a:off x="1092600" y="1691640"/>
            <a:ext cx="77616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1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0" name="Text 6"/>
          <p:cNvSpPr/>
          <p:nvPr/>
        </p:nvSpPr>
        <p:spPr>
          <a:xfrm>
            <a:off x="594360" y="2606040"/>
            <a:ext cx="177300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Coordinating RSA Key Exchange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1" name="Text 7"/>
          <p:cNvSpPr/>
          <p:nvPr/>
        </p:nvSpPr>
        <p:spPr>
          <a:xfrm>
            <a:off x="640080" y="3383280"/>
            <a:ext cx="1681560" cy="12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Getting both clients to exchange public keys before any encrypted message could flow.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2" name="Shape 8"/>
          <p:cNvSpPr/>
          <p:nvPr/>
        </p:nvSpPr>
        <p:spPr>
          <a:xfrm>
            <a:off x="2624400" y="1417320"/>
            <a:ext cx="2047320" cy="32450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33" name="Shape 9"/>
          <p:cNvSpPr/>
          <p:nvPr/>
        </p:nvSpPr>
        <p:spPr>
          <a:xfrm>
            <a:off x="3259800" y="1691640"/>
            <a:ext cx="776160" cy="77616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34" name="Text 10"/>
          <p:cNvSpPr/>
          <p:nvPr/>
        </p:nvSpPr>
        <p:spPr>
          <a:xfrm>
            <a:off x="3259800" y="1691640"/>
            <a:ext cx="77616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2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 11"/>
          <p:cNvSpPr/>
          <p:nvPr/>
        </p:nvSpPr>
        <p:spPr>
          <a:xfrm>
            <a:off x="2761560" y="2606040"/>
            <a:ext cx="177300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Generating a unique nonce per message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6" name="Text 12"/>
          <p:cNvSpPr/>
          <p:nvPr/>
        </p:nvSpPr>
        <p:spPr>
          <a:xfrm>
            <a:off x="2807280" y="3383280"/>
            <a:ext cx="1681560" cy="12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Ensuring no nonce was ever reused under the same key — a single slip would break confidentiality.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7" name="Shape 13"/>
          <p:cNvSpPr/>
          <p:nvPr/>
        </p:nvSpPr>
        <p:spPr>
          <a:xfrm>
            <a:off x="4791600" y="1417320"/>
            <a:ext cx="2047320" cy="32450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38" name="Shape 14"/>
          <p:cNvSpPr/>
          <p:nvPr/>
        </p:nvSpPr>
        <p:spPr>
          <a:xfrm>
            <a:off x="5427000" y="1691640"/>
            <a:ext cx="776160" cy="776160"/>
          </a:xfrm>
          <a:prstGeom prst="ellipse">
            <a:avLst/>
          </a:prstGeom>
          <a:solidFill>
            <a:srgbClr val="f970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39" name="Text 15"/>
          <p:cNvSpPr/>
          <p:nvPr/>
        </p:nvSpPr>
        <p:spPr>
          <a:xfrm>
            <a:off x="5427000" y="1691640"/>
            <a:ext cx="77616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3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0" name="Text 16"/>
          <p:cNvSpPr/>
          <p:nvPr/>
        </p:nvSpPr>
        <p:spPr>
          <a:xfrm>
            <a:off x="4928760" y="2606040"/>
            <a:ext cx="177300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Handling authentication failures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1" name="Text 17"/>
          <p:cNvSpPr/>
          <p:nvPr/>
        </p:nvSpPr>
        <p:spPr>
          <a:xfrm>
            <a:off x="4974480" y="3383280"/>
            <a:ext cx="1681560" cy="12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Deciding how to respond when Poly1305 verification fails: drop, log, or alert?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2" name="Shape 18"/>
          <p:cNvSpPr/>
          <p:nvPr/>
        </p:nvSpPr>
        <p:spPr>
          <a:xfrm>
            <a:off x="6958440" y="1417320"/>
            <a:ext cx="2047320" cy="32450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43" name="Shape 19"/>
          <p:cNvSpPr/>
          <p:nvPr/>
        </p:nvSpPr>
        <p:spPr>
          <a:xfrm>
            <a:off x="7594200" y="1691640"/>
            <a:ext cx="776160" cy="776160"/>
          </a:xfrm>
          <a:prstGeom prst="ellipse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44" name="Text 20"/>
          <p:cNvSpPr/>
          <p:nvPr/>
        </p:nvSpPr>
        <p:spPr>
          <a:xfrm>
            <a:off x="7594200" y="1691640"/>
            <a:ext cx="77616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Georgia"/>
                <a:ea typeface="Georgia"/>
              </a:rPr>
              <a:t>4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5" name="Text 21"/>
          <p:cNvSpPr/>
          <p:nvPr/>
        </p:nvSpPr>
        <p:spPr>
          <a:xfrm>
            <a:off x="7095600" y="2606040"/>
            <a:ext cx="177300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Debugging ciphertext over sockets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6" name="Text 22"/>
          <p:cNvSpPr/>
          <p:nvPr/>
        </p:nvSpPr>
        <p:spPr>
          <a:xfrm>
            <a:off x="7141320" y="3383280"/>
            <a:ext cx="1681560" cy="12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Unreadable bytes make ordinary print-debugging useless — needed careful tracing.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7" name="Shape 23"/>
          <p:cNvSpPr/>
          <p:nvPr/>
        </p:nvSpPr>
        <p:spPr>
          <a:xfrm>
            <a:off x="8275320" y="4851000"/>
            <a:ext cx="163440" cy="4464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48" name="Shape 24"/>
          <p:cNvSpPr/>
          <p:nvPr/>
        </p:nvSpPr>
        <p:spPr>
          <a:xfrm>
            <a:off x="8503920" y="4851000"/>
            <a:ext cx="364680" cy="4464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49" name="Text 25"/>
          <p:cNvSpPr/>
          <p:nvPr/>
        </p:nvSpPr>
        <p:spPr>
          <a:xfrm>
            <a:off x="6400800" y="4759560"/>
            <a:ext cx="17820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0" name="Text 26"/>
          <p:cNvSpPr/>
          <p:nvPr/>
        </p:nvSpPr>
        <p:spPr>
          <a:xfrm>
            <a:off x="365760" y="4759560"/>
            <a:ext cx="9133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26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Shape 0"/>
          <p:cNvSpPr/>
          <p:nvPr/>
        </p:nvSpPr>
        <p:spPr>
          <a:xfrm>
            <a:off x="457200" y="502920"/>
            <a:ext cx="163440" cy="1634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52" name="Text 1"/>
          <p:cNvSpPr/>
          <p:nvPr/>
        </p:nvSpPr>
        <p:spPr>
          <a:xfrm>
            <a:off x="713160" y="365760"/>
            <a:ext cx="79542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Results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3" name="Text 2"/>
          <p:cNvSpPr/>
          <p:nvPr/>
        </p:nvSpPr>
        <p:spPr>
          <a:xfrm>
            <a:off x="713160" y="868680"/>
            <a:ext cx="79542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What we built and verified.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4" name="Shape 3"/>
          <p:cNvSpPr/>
          <p:nvPr/>
        </p:nvSpPr>
        <p:spPr>
          <a:xfrm>
            <a:off x="457200" y="1417320"/>
            <a:ext cx="8228520" cy="59328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55" name="Shape 4"/>
          <p:cNvSpPr/>
          <p:nvPr/>
        </p:nvSpPr>
        <p:spPr>
          <a:xfrm>
            <a:off x="457200" y="1417320"/>
            <a:ext cx="72000" cy="59328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856" name="Image 0" descr="preencoded.png"/>
          <p:cNvPicPr/>
          <p:nvPr/>
        </p:nvPicPr>
        <p:blipFill>
          <a:blip r:embed="rId1"/>
          <a:stretch/>
        </p:blipFill>
        <p:spPr>
          <a:xfrm>
            <a:off x="685800" y="1536120"/>
            <a:ext cx="364680" cy="364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7" name="Text 5"/>
          <p:cNvSpPr/>
          <p:nvPr/>
        </p:nvSpPr>
        <p:spPr>
          <a:xfrm>
            <a:off x="1188720" y="1417320"/>
            <a:ext cx="740556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Built a functional encrypted client-server chat system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8" name="Shape 6"/>
          <p:cNvSpPr/>
          <p:nvPr/>
        </p:nvSpPr>
        <p:spPr>
          <a:xfrm>
            <a:off x="457200" y="2103120"/>
            <a:ext cx="8228520" cy="59328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59" name="Shape 7"/>
          <p:cNvSpPr/>
          <p:nvPr/>
        </p:nvSpPr>
        <p:spPr>
          <a:xfrm>
            <a:off x="457200" y="2103120"/>
            <a:ext cx="72000" cy="59328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860" name="Image 1" descr="preencoded.png"/>
          <p:cNvPicPr/>
          <p:nvPr/>
        </p:nvPicPr>
        <p:blipFill>
          <a:blip r:embed="rId2"/>
          <a:stretch/>
        </p:blipFill>
        <p:spPr>
          <a:xfrm>
            <a:off x="685800" y="2221920"/>
            <a:ext cx="364680" cy="364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1" name="Text 8"/>
          <p:cNvSpPr/>
          <p:nvPr/>
        </p:nvSpPr>
        <p:spPr>
          <a:xfrm>
            <a:off x="1188720" y="2103120"/>
            <a:ext cx="740556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Verified that the server only ever sees ciphertext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2" name="Shape 9"/>
          <p:cNvSpPr/>
          <p:nvPr/>
        </p:nvSpPr>
        <p:spPr>
          <a:xfrm>
            <a:off x="457200" y="2788920"/>
            <a:ext cx="8228520" cy="59328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63" name="Shape 10"/>
          <p:cNvSpPr/>
          <p:nvPr/>
        </p:nvSpPr>
        <p:spPr>
          <a:xfrm>
            <a:off x="457200" y="2788920"/>
            <a:ext cx="72000" cy="59328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864" name="Image 2" descr="preencoded.png"/>
          <p:cNvPicPr/>
          <p:nvPr/>
        </p:nvPicPr>
        <p:blipFill>
          <a:blip r:embed="rId3"/>
          <a:stretch/>
        </p:blipFill>
        <p:spPr>
          <a:xfrm>
            <a:off x="685800" y="2907720"/>
            <a:ext cx="364680" cy="364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5" name="Text 11"/>
          <p:cNvSpPr/>
          <p:nvPr/>
        </p:nvSpPr>
        <p:spPr>
          <a:xfrm>
            <a:off x="1188720" y="2788920"/>
            <a:ext cx="740556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Successfully decrypted messages only on the intended recipient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6" name="Shape 12"/>
          <p:cNvSpPr/>
          <p:nvPr/>
        </p:nvSpPr>
        <p:spPr>
          <a:xfrm>
            <a:off x="457200" y="3474720"/>
            <a:ext cx="8228520" cy="59328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67" name="Shape 13"/>
          <p:cNvSpPr/>
          <p:nvPr/>
        </p:nvSpPr>
        <p:spPr>
          <a:xfrm>
            <a:off x="457200" y="3474720"/>
            <a:ext cx="72000" cy="593280"/>
          </a:xfrm>
          <a:prstGeom prst="rect">
            <a:avLst/>
          </a:prstGeom>
          <a:solidFill>
            <a:srgbClr val="f970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868" name="Image 3" descr="preencoded.png"/>
          <p:cNvPicPr/>
          <p:nvPr/>
        </p:nvPicPr>
        <p:blipFill>
          <a:blip r:embed="rId4"/>
          <a:stretch/>
        </p:blipFill>
        <p:spPr>
          <a:xfrm>
            <a:off x="685800" y="3593520"/>
            <a:ext cx="364680" cy="364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9" name="Text 14"/>
          <p:cNvSpPr/>
          <p:nvPr/>
        </p:nvSpPr>
        <p:spPr>
          <a:xfrm>
            <a:off x="1188720" y="3474720"/>
            <a:ext cx="740556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Demonstrated authentication failure when ciphertext is tampered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0" name="Shape 15"/>
          <p:cNvSpPr/>
          <p:nvPr/>
        </p:nvSpPr>
        <p:spPr>
          <a:xfrm>
            <a:off x="457200" y="4160520"/>
            <a:ext cx="8228520" cy="59328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  <a:effectLst>
            <a:outerShdw blurRad="50760" dir="5400000" dist="12600" rotWithShape="0">
              <a:srgbClr val="000000">
                <a:alpha val="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71" name="Shape 16"/>
          <p:cNvSpPr/>
          <p:nvPr/>
        </p:nvSpPr>
        <p:spPr>
          <a:xfrm>
            <a:off x="457200" y="4160520"/>
            <a:ext cx="72000" cy="59328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872" name="Image 4" descr="preencoded.png"/>
          <p:cNvPicPr/>
          <p:nvPr/>
        </p:nvPicPr>
        <p:blipFill>
          <a:blip r:embed="rId5"/>
          <a:stretch/>
        </p:blipFill>
        <p:spPr>
          <a:xfrm>
            <a:off x="685800" y="4279320"/>
            <a:ext cx="364680" cy="364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3" name="Text 17"/>
          <p:cNvSpPr/>
          <p:nvPr/>
        </p:nvSpPr>
        <p:spPr>
          <a:xfrm>
            <a:off x="1188720" y="4160520"/>
            <a:ext cx="7405560" cy="5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300" b="0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Combined RSA key exchange with ChaCha20-Poly1305 messaging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4" name="Shape 18"/>
          <p:cNvSpPr/>
          <p:nvPr/>
        </p:nvSpPr>
        <p:spPr>
          <a:xfrm>
            <a:off x="8275320" y="4851000"/>
            <a:ext cx="163440" cy="4464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75" name="Shape 19"/>
          <p:cNvSpPr/>
          <p:nvPr/>
        </p:nvSpPr>
        <p:spPr>
          <a:xfrm>
            <a:off x="8503920" y="4851000"/>
            <a:ext cx="364680" cy="4464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76" name="Text 20"/>
          <p:cNvSpPr/>
          <p:nvPr/>
        </p:nvSpPr>
        <p:spPr>
          <a:xfrm>
            <a:off x="6400800" y="4759560"/>
            <a:ext cx="17820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7" name="Text 21"/>
          <p:cNvSpPr/>
          <p:nvPr/>
        </p:nvSpPr>
        <p:spPr>
          <a:xfrm>
            <a:off x="365760" y="4759560"/>
            <a:ext cx="9133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27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Shape 0"/>
          <p:cNvSpPr/>
          <p:nvPr/>
        </p:nvSpPr>
        <p:spPr>
          <a:xfrm>
            <a:off x="457200" y="502920"/>
            <a:ext cx="163440" cy="1634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79" name="Text 1"/>
          <p:cNvSpPr/>
          <p:nvPr/>
        </p:nvSpPr>
        <p:spPr>
          <a:xfrm>
            <a:off x="713160" y="365760"/>
            <a:ext cx="777132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Conclusion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0" name="Text 2"/>
          <p:cNvSpPr/>
          <p:nvPr/>
        </p:nvSpPr>
        <p:spPr>
          <a:xfrm>
            <a:off x="640080" y="1280160"/>
            <a:ext cx="786276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0" i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We built a real, working end-to-end encrypted chat — and </a:t>
            </a:r>
            <a:r>
              <a:rPr lang="en-US" sz="2200" b="1" i="1" u="none" strike="noStrike">
                <a:solidFill>
                  <a:srgbClr val="14b8a6"/>
                </a:solidFill>
                <a:effectLst/>
                <a:uFillTx/>
                <a:latin typeface="Georgia"/>
                <a:ea typeface="Georgia"/>
              </a:rPr>
              <a:t>saw the math behind it actually work</a:t>
            </a:r>
            <a:r>
              <a:rPr lang="en-US" sz="2200" b="0" i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.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1" name="Shape 3"/>
          <p:cNvSpPr/>
          <p:nvPr/>
        </p:nvSpPr>
        <p:spPr>
          <a:xfrm>
            <a:off x="457200" y="2377440"/>
            <a:ext cx="8228520" cy="712080"/>
          </a:xfrm>
          <a:prstGeom prst="rect">
            <a:avLst/>
          </a:prstGeom>
          <a:solidFill>
            <a:srgbClr val="13243f"/>
          </a:solidFill>
          <a:ln w="64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82" name="Shape 4"/>
          <p:cNvSpPr/>
          <p:nvPr/>
        </p:nvSpPr>
        <p:spPr>
          <a:xfrm>
            <a:off x="457200" y="2377440"/>
            <a:ext cx="53640" cy="71208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883" name="Image 0" descr="preencoded.png"/>
          <p:cNvPicPr/>
          <p:nvPr/>
        </p:nvPicPr>
        <p:blipFill>
          <a:blip r:embed="rId1"/>
          <a:stretch/>
        </p:blipFill>
        <p:spPr>
          <a:xfrm>
            <a:off x="685800" y="2541960"/>
            <a:ext cx="383040" cy="38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84" name="Text 5"/>
          <p:cNvSpPr/>
          <p:nvPr/>
        </p:nvSpPr>
        <p:spPr>
          <a:xfrm>
            <a:off x="1234440" y="2450520"/>
            <a:ext cx="383940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ChaCha20-Poly1305 in practice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5" name="Text 6"/>
          <p:cNvSpPr/>
          <p:nvPr/>
        </p:nvSpPr>
        <p:spPr>
          <a:xfrm>
            <a:off x="1234440" y="2743200"/>
            <a:ext cx="72684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Implemented a modern AEAD cipher in real client-server code.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6" name="Shape 7"/>
          <p:cNvSpPr/>
          <p:nvPr/>
        </p:nvSpPr>
        <p:spPr>
          <a:xfrm>
            <a:off x="457200" y="3182040"/>
            <a:ext cx="8228520" cy="712080"/>
          </a:xfrm>
          <a:prstGeom prst="rect">
            <a:avLst/>
          </a:prstGeom>
          <a:solidFill>
            <a:srgbClr val="13243f"/>
          </a:solidFill>
          <a:ln w="64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87" name="Shape 8"/>
          <p:cNvSpPr/>
          <p:nvPr/>
        </p:nvSpPr>
        <p:spPr>
          <a:xfrm>
            <a:off x="457200" y="3182040"/>
            <a:ext cx="53640" cy="71208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888" name="Image 1" descr="preencoded.png"/>
          <p:cNvPicPr/>
          <p:nvPr/>
        </p:nvPicPr>
        <p:blipFill>
          <a:blip r:embed="rId2"/>
          <a:stretch/>
        </p:blipFill>
        <p:spPr>
          <a:xfrm>
            <a:off x="685800" y="3346560"/>
            <a:ext cx="383040" cy="38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89" name="Text 9"/>
          <p:cNvSpPr/>
          <p:nvPr/>
        </p:nvSpPr>
        <p:spPr>
          <a:xfrm>
            <a:off x="1234440" y="3255120"/>
            <a:ext cx="383940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Theory met implementation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0" name="Text 10"/>
          <p:cNvSpPr/>
          <p:nvPr/>
        </p:nvSpPr>
        <p:spPr>
          <a:xfrm>
            <a:off x="1234440" y="3547800"/>
            <a:ext cx="72684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Connected lecture concepts (XOR, polynomials, modular arithmetic) to running software.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1" name="Shape 11"/>
          <p:cNvSpPr/>
          <p:nvPr/>
        </p:nvSpPr>
        <p:spPr>
          <a:xfrm>
            <a:off x="457200" y="3986640"/>
            <a:ext cx="8228520" cy="712080"/>
          </a:xfrm>
          <a:prstGeom prst="rect">
            <a:avLst/>
          </a:prstGeom>
          <a:solidFill>
            <a:srgbClr val="13243f"/>
          </a:solidFill>
          <a:ln w="64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92" name="Shape 12"/>
          <p:cNvSpPr/>
          <p:nvPr/>
        </p:nvSpPr>
        <p:spPr>
          <a:xfrm>
            <a:off x="457200" y="3986640"/>
            <a:ext cx="53640" cy="71208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893" name="Image 2" descr="preencoded.png"/>
          <p:cNvPicPr/>
          <p:nvPr/>
        </p:nvPicPr>
        <p:blipFill>
          <a:blip r:embed="rId3"/>
          <a:stretch/>
        </p:blipFill>
        <p:spPr>
          <a:xfrm>
            <a:off x="685800" y="4151520"/>
            <a:ext cx="383040" cy="383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4" name="Text 13"/>
          <p:cNvSpPr/>
          <p:nvPr/>
        </p:nvSpPr>
        <p:spPr>
          <a:xfrm>
            <a:off x="1234440" y="4060080"/>
            <a:ext cx="383940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4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Full security model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5" name="Text 14"/>
          <p:cNvSpPr/>
          <p:nvPr/>
        </p:nvSpPr>
        <p:spPr>
          <a:xfrm>
            <a:off x="1234440" y="4352400"/>
            <a:ext cx="72684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Confidentiality, integrity, and authentication — all three, end-to-end.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6" name="Shape 15"/>
          <p:cNvSpPr/>
          <p:nvPr/>
        </p:nvSpPr>
        <p:spPr>
          <a:xfrm>
            <a:off x="8275320" y="4851000"/>
            <a:ext cx="163440" cy="446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97" name="Shape 16"/>
          <p:cNvSpPr/>
          <p:nvPr/>
        </p:nvSpPr>
        <p:spPr>
          <a:xfrm>
            <a:off x="8503920" y="4851000"/>
            <a:ext cx="364680" cy="44640"/>
          </a:xfrm>
          <a:prstGeom prst="rect">
            <a:avLst/>
          </a:prstGeom>
          <a:solidFill>
            <a:srgbClr val="14b8a6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898" name="Text 17"/>
          <p:cNvSpPr/>
          <p:nvPr/>
        </p:nvSpPr>
        <p:spPr>
          <a:xfrm>
            <a:off x="6400800" y="4759560"/>
            <a:ext cx="17820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9" name="Text 18"/>
          <p:cNvSpPr/>
          <p:nvPr/>
        </p:nvSpPr>
        <p:spPr>
          <a:xfrm>
            <a:off x="365760" y="4759560"/>
            <a:ext cx="9133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29 / 32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Shape 0"/>
          <p:cNvSpPr/>
          <p:nvPr/>
        </p:nvSpPr>
        <p:spPr>
          <a:xfrm>
            <a:off x="457200" y="502920"/>
            <a:ext cx="163440" cy="1634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01" name="Text 1"/>
          <p:cNvSpPr/>
          <p:nvPr/>
        </p:nvSpPr>
        <p:spPr>
          <a:xfrm>
            <a:off x="713160" y="365760"/>
            <a:ext cx="79542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Live Demo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2" name="Text 2"/>
          <p:cNvSpPr/>
          <p:nvPr/>
        </p:nvSpPr>
        <p:spPr>
          <a:xfrm>
            <a:off x="713160" y="868680"/>
            <a:ext cx="79542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Two scripts. One sees plaintext. The other doesn't.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3" name="Shape 3"/>
          <p:cNvSpPr/>
          <p:nvPr/>
        </p:nvSpPr>
        <p:spPr>
          <a:xfrm>
            <a:off x="457200" y="1417320"/>
            <a:ext cx="4068000" cy="3245040"/>
          </a:xfrm>
          <a:prstGeom prst="rect">
            <a:avLst/>
          </a:prstGeom>
          <a:solidFill>
            <a:srgbClr val="0b1a2e"/>
          </a:solidFill>
          <a:ln w="0">
            <a:noFill/>
          </a:ln>
          <a:effectLst>
            <a:outerShdw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04" name="Shape 4"/>
          <p:cNvSpPr/>
          <p:nvPr/>
        </p:nvSpPr>
        <p:spPr>
          <a:xfrm>
            <a:off x="457200" y="1417320"/>
            <a:ext cx="4068000" cy="410400"/>
          </a:xfrm>
          <a:prstGeom prst="rect">
            <a:avLst/>
          </a:prstGeom>
          <a:solidFill>
            <a:srgbClr val="f9706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905" name="Image 0" descr="preencoded.png"/>
          <p:cNvPicPr/>
          <p:nvPr/>
        </p:nvPicPr>
        <p:blipFill>
          <a:blip r:embed="rId1"/>
          <a:stretch/>
        </p:blipFill>
        <p:spPr>
          <a:xfrm>
            <a:off x="640080" y="1486080"/>
            <a:ext cx="273240" cy="27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6" name="Text 5"/>
          <p:cNvSpPr/>
          <p:nvPr/>
        </p:nvSpPr>
        <p:spPr>
          <a:xfrm>
            <a:off x="1005840" y="1417320"/>
            <a:ext cx="33822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WITHOUT ENCRYPTION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7" name="Text 6"/>
          <p:cNvSpPr/>
          <p:nvPr/>
        </p:nvSpPr>
        <p:spPr>
          <a:xfrm>
            <a:off x="685800" y="2286000"/>
            <a:ext cx="2732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14b8a6"/>
                </a:solidFill>
                <a:effectLst/>
                <a:uFillTx/>
                <a:latin typeface="Consolas"/>
                <a:ea typeface="Consolas"/>
              </a:rPr>
              <a:t>$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8" name="Text 7"/>
          <p:cNvSpPr/>
          <p:nvPr/>
        </p:nvSpPr>
        <p:spPr>
          <a:xfrm>
            <a:off x="960120" y="2286000"/>
            <a:ext cx="34736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e8eef7"/>
                </a:solidFill>
                <a:effectLst/>
                <a:uFillTx/>
                <a:latin typeface="Consolas"/>
                <a:ea typeface="Consolas"/>
              </a:rPr>
              <a:t>./runDecrypted.sh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9" name="Shape 8"/>
          <p:cNvSpPr/>
          <p:nvPr/>
        </p:nvSpPr>
        <p:spPr>
          <a:xfrm>
            <a:off x="685800" y="3108960"/>
            <a:ext cx="3611880" cy="360"/>
          </a:xfrm>
          <a:prstGeom prst="line">
            <a:avLst/>
          </a:prstGeom>
          <a:ln w="93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10" name="Text 9"/>
          <p:cNvSpPr/>
          <p:nvPr/>
        </p:nvSpPr>
        <p:spPr>
          <a:xfrm>
            <a:off x="685800" y="3246120"/>
            <a:ext cx="36108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pc="400" strike="noStrike">
                <a:solidFill>
                  <a:srgbClr val="f97066"/>
                </a:solidFill>
                <a:effectLst/>
                <a:uFillTx/>
                <a:latin typeface="Calibri"/>
                <a:ea typeface="Calibri"/>
              </a:rPr>
              <a:t>WATCH FOR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1" name="Text 10"/>
          <p:cNvSpPr/>
          <p:nvPr/>
        </p:nvSpPr>
        <p:spPr>
          <a:xfrm>
            <a:off x="685800" y="3520440"/>
            <a:ext cx="361080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Watch: server logs show every keystroke as plaintext.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2" name="Shape 11"/>
          <p:cNvSpPr/>
          <p:nvPr/>
        </p:nvSpPr>
        <p:spPr>
          <a:xfrm>
            <a:off x="4617720" y="1417320"/>
            <a:ext cx="4068000" cy="3245040"/>
          </a:xfrm>
          <a:prstGeom prst="rect">
            <a:avLst/>
          </a:prstGeom>
          <a:solidFill>
            <a:srgbClr val="0b1a2e"/>
          </a:solidFill>
          <a:ln w="0">
            <a:noFill/>
          </a:ln>
          <a:effectLst>
            <a:outerShdw blurRad="101520" dir="5400000" dist="25560" rotWithShape="0">
              <a:srgbClr val="000000">
                <a:alpha val="12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13" name="Shape 12"/>
          <p:cNvSpPr/>
          <p:nvPr/>
        </p:nvSpPr>
        <p:spPr>
          <a:xfrm>
            <a:off x="4617720" y="1417320"/>
            <a:ext cx="4068000" cy="41040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pic>
        <p:nvPicPr>
          <p:cNvPr id="914" name="Image 1" descr="preencoded.png"/>
          <p:cNvPicPr/>
          <p:nvPr/>
        </p:nvPicPr>
        <p:blipFill>
          <a:blip r:embed="rId2"/>
          <a:stretch/>
        </p:blipFill>
        <p:spPr>
          <a:xfrm>
            <a:off x="4800600" y="1486080"/>
            <a:ext cx="273240" cy="27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5" name="Text 13"/>
          <p:cNvSpPr/>
          <p:nvPr/>
        </p:nvSpPr>
        <p:spPr>
          <a:xfrm>
            <a:off x="5166360" y="1417320"/>
            <a:ext cx="338220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100" b="1" u="none" spc="300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WITH ENCRYPTION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6" name="Text 14"/>
          <p:cNvSpPr/>
          <p:nvPr/>
        </p:nvSpPr>
        <p:spPr>
          <a:xfrm>
            <a:off x="4846320" y="2286000"/>
            <a:ext cx="2732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200" b="1" u="none" strike="noStrike">
                <a:solidFill>
                  <a:srgbClr val="14b8a6"/>
                </a:solidFill>
                <a:effectLst/>
                <a:uFillTx/>
                <a:latin typeface="Consolas"/>
                <a:ea typeface="Consolas"/>
              </a:rPr>
              <a:t>$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7" name="Text 15"/>
          <p:cNvSpPr/>
          <p:nvPr/>
        </p:nvSpPr>
        <p:spPr>
          <a:xfrm>
            <a:off x="5120640" y="2286000"/>
            <a:ext cx="34736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800" b="1" u="none" strike="noStrike">
                <a:solidFill>
                  <a:srgbClr val="e8eef7"/>
                </a:solidFill>
                <a:effectLst/>
                <a:uFillTx/>
                <a:latin typeface="Consolas"/>
                <a:ea typeface="Consolas"/>
              </a:rPr>
              <a:t>./runEncrypted.sh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8" name="Shape 16"/>
          <p:cNvSpPr/>
          <p:nvPr/>
        </p:nvSpPr>
        <p:spPr>
          <a:xfrm>
            <a:off x="4846320" y="3108960"/>
            <a:ext cx="3611880" cy="360"/>
          </a:xfrm>
          <a:prstGeom prst="line">
            <a:avLst/>
          </a:prstGeom>
          <a:ln w="93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19" name="Text 17"/>
          <p:cNvSpPr/>
          <p:nvPr/>
        </p:nvSpPr>
        <p:spPr>
          <a:xfrm>
            <a:off x="4846320" y="3246120"/>
            <a:ext cx="36108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900" b="1" u="none" spc="400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WATCH FOR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0" name="Text 18"/>
          <p:cNvSpPr/>
          <p:nvPr/>
        </p:nvSpPr>
        <p:spPr>
          <a:xfrm>
            <a:off x="4846320" y="3520440"/>
            <a:ext cx="361080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e8eef7"/>
                </a:solidFill>
                <a:effectLst/>
                <a:uFillTx/>
                <a:latin typeface="Calibri"/>
                <a:ea typeface="Calibri"/>
              </a:rPr>
              <a:t>Watch: server logs show only opaque ciphertext bytes.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1" name="Shape 19"/>
          <p:cNvSpPr/>
          <p:nvPr/>
        </p:nvSpPr>
        <p:spPr>
          <a:xfrm>
            <a:off x="8275320" y="4851000"/>
            <a:ext cx="163440" cy="4464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22" name="Shape 20"/>
          <p:cNvSpPr/>
          <p:nvPr/>
        </p:nvSpPr>
        <p:spPr>
          <a:xfrm>
            <a:off x="8503920" y="4851000"/>
            <a:ext cx="364680" cy="4464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23" name="Text 21"/>
          <p:cNvSpPr/>
          <p:nvPr/>
        </p:nvSpPr>
        <p:spPr>
          <a:xfrm>
            <a:off x="6400800" y="4759560"/>
            <a:ext cx="17820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4" name="Text 22"/>
          <p:cNvSpPr/>
          <p:nvPr/>
        </p:nvSpPr>
        <p:spPr>
          <a:xfrm>
            <a:off x="365760" y="4759560"/>
            <a:ext cx="9133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30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Shape 0"/>
          <p:cNvSpPr/>
          <p:nvPr/>
        </p:nvSpPr>
        <p:spPr>
          <a:xfrm>
            <a:off x="457200" y="502920"/>
            <a:ext cx="163440" cy="1634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26" name="Text 1"/>
          <p:cNvSpPr/>
          <p:nvPr/>
        </p:nvSpPr>
        <p:spPr>
          <a:xfrm>
            <a:off x="713160" y="365760"/>
            <a:ext cx="79542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2600" b="1" u="none" strike="noStrike">
                <a:solidFill>
                  <a:srgbClr val="0b1a2e"/>
                </a:solidFill>
                <a:effectLst/>
                <a:uFillTx/>
                <a:latin typeface="Georgia"/>
                <a:ea typeface="Georgia"/>
              </a:rPr>
              <a:t>Sources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7" name="Text 2"/>
          <p:cNvSpPr/>
          <p:nvPr/>
        </p:nvSpPr>
        <p:spPr>
          <a:xfrm>
            <a:off x="713160" y="868680"/>
            <a:ext cx="79542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200" b="0" i="1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Standards, papers, and references used in this project.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8" name="Shape 3"/>
          <p:cNvSpPr/>
          <p:nvPr/>
        </p:nvSpPr>
        <p:spPr>
          <a:xfrm>
            <a:off x="457200" y="1417320"/>
            <a:ext cx="8228520" cy="5018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29" name="Shape 4"/>
          <p:cNvSpPr/>
          <p:nvPr/>
        </p:nvSpPr>
        <p:spPr>
          <a:xfrm>
            <a:off x="457200" y="1417320"/>
            <a:ext cx="53640" cy="5018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30" name="Text 5"/>
          <p:cNvSpPr/>
          <p:nvPr/>
        </p:nvSpPr>
        <p:spPr>
          <a:xfrm>
            <a:off x="640080" y="1417320"/>
            <a:ext cx="79542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1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Bernstein, D. J.</a:t>
            </a: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1050" b="0" i="1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ChaCha, a variant of Salsa20</a:t>
            </a: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.  2008</a:t>
            </a:r>
            <a:r>
              <a:rPr lang="en-US" sz="1050" b="0" u="none" strike="noStrike">
                <a:solidFill>
                  <a:srgbClr val="0d9488"/>
                </a:solidFill>
                <a:effectLst/>
                <a:uFillTx/>
                <a:latin typeface="Calibri"/>
                <a:ea typeface="Calibri"/>
              </a:rPr>
              <a:t>  •  cr.yp.to/chacha.html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1" name="Shape 6"/>
          <p:cNvSpPr/>
          <p:nvPr/>
        </p:nvSpPr>
        <p:spPr>
          <a:xfrm>
            <a:off x="457200" y="1984320"/>
            <a:ext cx="8228520" cy="5018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32" name="Shape 7"/>
          <p:cNvSpPr/>
          <p:nvPr/>
        </p:nvSpPr>
        <p:spPr>
          <a:xfrm>
            <a:off x="457200" y="1984320"/>
            <a:ext cx="53640" cy="5018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33" name="Text 8"/>
          <p:cNvSpPr/>
          <p:nvPr/>
        </p:nvSpPr>
        <p:spPr>
          <a:xfrm>
            <a:off x="640080" y="1984320"/>
            <a:ext cx="79542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1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Bernstein, D. J.</a:t>
            </a: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1050" b="0" i="1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The Poly1305-AES message-authentication code</a:t>
            </a: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.  FSE 2005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4" name="Shape 9"/>
          <p:cNvSpPr/>
          <p:nvPr/>
        </p:nvSpPr>
        <p:spPr>
          <a:xfrm>
            <a:off x="457200" y="2551320"/>
            <a:ext cx="8228520" cy="5018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35" name="Shape 10"/>
          <p:cNvSpPr/>
          <p:nvPr/>
        </p:nvSpPr>
        <p:spPr>
          <a:xfrm>
            <a:off x="457200" y="2551320"/>
            <a:ext cx="53640" cy="5018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36" name="Text 11"/>
          <p:cNvSpPr/>
          <p:nvPr/>
        </p:nvSpPr>
        <p:spPr>
          <a:xfrm>
            <a:off x="640080" y="2551320"/>
            <a:ext cx="79542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1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Nir, Y., &amp; Langley, A.</a:t>
            </a: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1050" b="0" i="1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ChaCha20 and Poly1305 for IETF Protocols</a:t>
            </a: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.  RFC 8439, 2018</a:t>
            </a:r>
            <a:r>
              <a:rPr lang="en-US" sz="1050" b="0" u="none" strike="noStrike">
                <a:solidFill>
                  <a:srgbClr val="0d9488"/>
                </a:solidFill>
                <a:effectLst/>
                <a:uFillTx/>
                <a:latin typeface="Calibri"/>
                <a:ea typeface="Calibri"/>
              </a:rPr>
              <a:t>  •  rfc-editor.org/rfc/rfc8439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7" name="Shape 12"/>
          <p:cNvSpPr/>
          <p:nvPr/>
        </p:nvSpPr>
        <p:spPr>
          <a:xfrm>
            <a:off x="457200" y="3117960"/>
            <a:ext cx="8228520" cy="5018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38" name="Shape 13"/>
          <p:cNvSpPr/>
          <p:nvPr/>
        </p:nvSpPr>
        <p:spPr>
          <a:xfrm>
            <a:off x="457200" y="3117960"/>
            <a:ext cx="53640" cy="5018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39" name="Text 14"/>
          <p:cNvSpPr/>
          <p:nvPr/>
        </p:nvSpPr>
        <p:spPr>
          <a:xfrm>
            <a:off x="640080" y="3117960"/>
            <a:ext cx="79542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1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Langley, A., et al.</a:t>
            </a: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1050" b="0" i="1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ChaCha20-Poly1305 Cipher Suites for TLS</a:t>
            </a: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.  RFC 7905, 2016</a:t>
            </a:r>
            <a:r>
              <a:rPr lang="en-US" sz="1050" b="0" u="none" strike="noStrike">
                <a:solidFill>
                  <a:srgbClr val="0d9488"/>
                </a:solidFill>
                <a:effectLst/>
                <a:uFillTx/>
                <a:latin typeface="Calibri"/>
                <a:ea typeface="Calibri"/>
              </a:rPr>
              <a:t>  •  rfc-editor.org/rfc/rfc7905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0" name="Shape 15"/>
          <p:cNvSpPr/>
          <p:nvPr/>
        </p:nvSpPr>
        <p:spPr>
          <a:xfrm>
            <a:off x="457200" y="3684960"/>
            <a:ext cx="8228520" cy="5018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41" name="Shape 16"/>
          <p:cNvSpPr/>
          <p:nvPr/>
        </p:nvSpPr>
        <p:spPr>
          <a:xfrm>
            <a:off x="457200" y="3684960"/>
            <a:ext cx="53640" cy="5018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42" name="Text 17"/>
          <p:cNvSpPr/>
          <p:nvPr/>
        </p:nvSpPr>
        <p:spPr>
          <a:xfrm>
            <a:off x="640080" y="3684960"/>
            <a:ext cx="79542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1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Procter, G.</a:t>
            </a: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1050" b="0" i="1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A Security Analysis of the Composition of ChaCha20 and Poly1305</a:t>
            </a: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.  Cryptology ePrint, 2014</a:t>
            </a:r>
            <a:r>
              <a:rPr lang="en-US" sz="1050" b="0" u="none" strike="noStrike">
                <a:solidFill>
                  <a:srgbClr val="0d9488"/>
                </a:solidFill>
                <a:effectLst/>
                <a:uFillTx/>
                <a:latin typeface="Calibri"/>
                <a:ea typeface="Calibri"/>
              </a:rPr>
              <a:t>  •  eprint.iacr.org/2014/613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3" name="Shape 18"/>
          <p:cNvSpPr/>
          <p:nvPr/>
        </p:nvSpPr>
        <p:spPr>
          <a:xfrm>
            <a:off x="457200" y="4251960"/>
            <a:ext cx="8228520" cy="501840"/>
          </a:xfrm>
          <a:prstGeom prst="rect">
            <a:avLst/>
          </a:prstGeom>
          <a:solidFill>
            <a:srgbClr val="ffffff"/>
          </a:solidFill>
          <a:ln w="648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44" name="Shape 19"/>
          <p:cNvSpPr/>
          <p:nvPr/>
        </p:nvSpPr>
        <p:spPr>
          <a:xfrm>
            <a:off x="457200" y="4251960"/>
            <a:ext cx="53640" cy="5018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45" name="Text 20"/>
          <p:cNvSpPr/>
          <p:nvPr/>
        </p:nvSpPr>
        <p:spPr>
          <a:xfrm>
            <a:off x="640080" y="4251960"/>
            <a:ext cx="795420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050" b="1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Vaillant, L.</a:t>
            </a:r>
            <a:r>
              <a:rPr lang="en-US" sz="1050" b="0" u="none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  </a:t>
            </a:r>
            <a:r>
              <a:rPr lang="en-US" sz="1050" b="0" i="1" u="none" strike="noStrike">
                <a:solidFill>
                  <a:srgbClr val="0b1a2e"/>
                </a:solidFill>
                <a:effectLst/>
                <a:uFillTx/>
                <a:latin typeface="Calibri"/>
                <a:ea typeface="Calibri"/>
              </a:rPr>
              <a:t>The design of ChaCha20</a:t>
            </a:r>
            <a:r>
              <a:rPr lang="en-US" sz="1050" b="0" u="none" strike="noStrike">
                <a:solidFill>
                  <a:srgbClr val="0d9488"/>
                </a:solidFill>
                <a:effectLst/>
                <a:uFillTx/>
                <a:latin typeface="Calibri"/>
                <a:ea typeface="Calibri"/>
              </a:rPr>
              <a:t>  •  loup-vaillant.fr/tutorials/chacha20-design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6" name="Shape 21"/>
          <p:cNvSpPr/>
          <p:nvPr/>
        </p:nvSpPr>
        <p:spPr>
          <a:xfrm>
            <a:off x="8275320" y="4851000"/>
            <a:ext cx="163440" cy="4464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47" name="Shape 22"/>
          <p:cNvSpPr/>
          <p:nvPr/>
        </p:nvSpPr>
        <p:spPr>
          <a:xfrm>
            <a:off x="8503920" y="4851000"/>
            <a:ext cx="364680" cy="44640"/>
          </a:xfrm>
          <a:prstGeom prst="rect">
            <a:avLst/>
          </a:prstGeom>
          <a:solidFill>
            <a:srgbClr val="0d9488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48" name="Text 23"/>
          <p:cNvSpPr/>
          <p:nvPr/>
        </p:nvSpPr>
        <p:spPr>
          <a:xfrm>
            <a:off x="6400800" y="4759560"/>
            <a:ext cx="17820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9" name="Text 24"/>
          <p:cNvSpPr/>
          <p:nvPr/>
        </p:nvSpPr>
        <p:spPr>
          <a:xfrm>
            <a:off x="365760" y="4759560"/>
            <a:ext cx="9133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" b="1" u="none" spc="99" strike="noStrike">
                <a:solidFill>
                  <a:srgbClr val="475569"/>
                </a:solidFill>
                <a:effectLst/>
                <a:uFillTx/>
                <a:latin typeface="Calibri"/>
                <a:ea typeface="Calibri"/>
              </a:rPr>
              <a:t>32 / 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Shape 0"/>
          <p:cNvSpPr/>
          <p:nvPr/>
        </p:nvSpPr>
        <p:spPr>
          <a:xfrm>
            <a:off x="-1828800" y="-1828800"/>
            <a:ext cx="5485320" cy="5485320"/>
          </a:xfrm>
          <a:prstGeom prst="ellipse">
            <a:avLst/>
          </a:prstGeom>
          <a:solidFill>
            <a:srgbClr val="14b8a6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51" name="Shape 1"/>
          <p:cNvSpPr/>
          <p:nvPr/>
        </p:nvSpPr>
        <p:spPr>
          <a:xfrm>
            <a:off x="6400800" y="3200400"/>
            <a:ext cx="4570920" cy="4570920"/>
          </a:xfrm>
          <a:prstGeom prst="ellipse">
            <a:avLst/>
          </a:prstGeom>
          <a:solidFill>
            <a:srgbClr val="8b5cf6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52" name="Text 2"/>
          <p:cNvSpPr/>
          <p:nvPr/>
        </p:nvSpPr>
        <p:spPr>
          <a:xfrm>
            <a:off x="0" y="1828800"/>
            <a:ext cx="9142920" cy="12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8000" b="1" u="none" strike="noStrike">
                <a:solidFill>
                  <a:srgbClr val="e8eef7"/>
                </a:solidFill>
                <a:effectLst/>
                <a:uFillTx/>
                <a:latin typeface="Georgia"/>
                <a:ea typeface="Georgia"/>
              </a:rPr>
              <a:t>Questions?</a:t>
            </a:r>
            <a:endParaRPr lang="en-US" sz="8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3" name="Shape 3"/>
          <p:cNvSpPr/>
          <p:nvPr/>
        </p:nvSpPr>
        <p:spPr>
          <a:xfrm>
            <a:off x="4297680" y="3200400"/>
            <a:ext cx="547560" cy="446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54" name="Text 4"/>
          <p:cNvSpPr/>
          <p:nvPr/>
        </p:nvSpPr>
        <p:spPr>
          <a:xfrm>
            <a:off x="0" y="3383280"/>
            <a:ext cx="91429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1600" b="0" u="none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Maddie  •  Lei  •  Aidan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5" name="Text 5"/>
          <p:cNvSpPr/>
          <p:nvPr/>
        </p:nvSpPr>
        <p:spPr>
          <a:xfrm>
            <a:off x="0" y="3840480"/>
            <a:ext cx="91429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56" name="Shape 6"/>
          <p:cNvSpPr/>
          <p:nvPr/>
        </p:nvSpPr>
        <p:spPr>
          <a:xfrm>
            <a:off x="8275320" y="4851000"/>
            <a:ext cx="163440" cy="446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57" name="Shape 7"/>
          <p:cNvSpPr/>
          <p:nvPr/>
        </p:nvSpPr>
        <p:spPr>
          <a:xfrm>
            <a:off x="8503920" y="4851000"/>
            <a:ext cx="364680" cy="44640"/>
          </a:xfrm>
          <a:prstGeom prst="rect">
            <a:avLst/>
          </a:prstGeom>
          <a:solidFill>
            <a:srgbClr val="14b8a6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58" name="Text 8"/>
          <p:cNvSpPr/>
          <p:nvPr/>
        </p:nvSpPr>
        <p:spPr>
          <a:xfrm>
            <a:off x="6400800" y="4759560"/>
            <a:ext cx="17820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700" b="0" u="none" spc="201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CHACHA20-POLY1305</a:t>
            </a:r>
            <a:endParaRPr lang="en-US" sz="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</TotalTime>
  <Application>LibreOffice/25.8.4.2$Linux_X86_64 LibreOffice_project/580$Build-2</Application>
  <AppVersion>15.0000</AppVersion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2026-05-04T21:56:48Z</dcterms:created>
  <dc:creator>Maddie, Lei, &amp; Aidan</dc:creator>
  <dc:description/>
  <dc:language>en-US</dc:language>
  <cp:lastModifiedBy/>
  <dcterms:modified xsi:type="dcterms:W3CDTF">2026-05-11T20:02:43Z</dcterms:modified>
  <cp:revision>9</cp:revision>
  <dc:subject>PptxGenJS Presentation</dc:subject>
  <dc:title>ChaCha20-Poly1305 Encrypted Chat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32</vt:r8>
  </property>
  <property fmtid="{D5CDD505-2E9C-101B-9397-08002B2CF9AE}" pid="3" name="PresentationFormat">
    <vt:lpwstr>On-screen Show (16:9)</vt:lpwstr>
  </property>
  <property fmtid="{D5CDD505-2E9C-101B-9397-08002B2CF9AE}" pid="4" name="Slides">
    <vt:r8>32</vt:r8>
  </property>
</Properties>
</file>