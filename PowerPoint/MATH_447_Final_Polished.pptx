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FBAE4F-EE83-44ED-BE41-C2D9E52FB7B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E2976B-92CA-4632-8290-1AC86B8566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3C4BB1-C1C6-4E0C-A9A7-C33029C691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0306D7-5818-4B78-A6BC-27F035FAA7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27705B-EB38-4AA6-9638-B05FD11192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7CB440-EE7F-4B06-ACEE-172AC3790F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0F2700-F4FC-4579-A126-8601022DCD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4FD985-4C57-4621-864F-0C533244F3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C57275-A0D7-41C6-917D-96DB68108F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7F147A-4B60-4BB7-8549-AEBA538277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4272DB-A5E8-4C09-A612-5317990CAF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8D60DB-3F49-4FE6-9108-63BAD73A7F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C6021F-8811-423B-814B-39A98F4843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24B564-7EA4-4880-8DEA-35CA751347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63C8D-3A0B-437E-8F80-3165212E98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BA2669-A14D-49BF-9BDD-FD5008A06A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B8FD67-1DA6-43D6-A718-63240E93B3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4E8520-553F-419D-88C4-F9C3A2AD23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CD0825-714B-45CF-90B0-78AF02015F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93FAC4-2D4A-44F2-9B32-5277423814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E47614-EECB-47F1-914B-E7D853B8FB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3B817D-59F4-45FA-8620-1BE79A8535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E6DA4A-AB5E-4A20-A981-73DE322296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929D63-C462-4495-B668-3FFE5A37E6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F44567-5323-4824-9702-B647DEE180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822B7-E5BB-4084-BE17-4C51390C8F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B17BC2-4FCF-4DFF-858A-DF225494A5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ACE7BA-1E72-4713-AF94-9BA06DD32B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48FBF4-49B4-448A-81E6-1AE9EB8B38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2DF03B-4000-4E2E-B5CE-96D33143A5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2C8D06-C16E-4DDE-90D0-BDBE2A8AD5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B8241-D51C-451C-91A9-0339377305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F3D108-51C7-4F33-BC1E-7ADFD1F8CD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-2286000" y="-1828800"/>
            <a:ext cx="5486040" cy="5486040"/>
          </a:xfrm>
          <a:prstGeom prst="ellipse">
            <a:avLst/>
          </a:prstGeom>
          <a:solidFill>
            <a:srgbClr val="14b8a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-914400" y="-914400"/>
            <a:ext cx="3657240" cy="3657240"/>
          </a:xfrm>
          <a:prstGeom prst="ellipse">
            <a:avLst/>
          </a:prstGeom>
          <a:solidFill>
            <a:srgbClr val="14b8a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6858000" y="3200400"/>
            <a:ext cx="3657240" cy="36572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3"/>
          <p:cNvSpPr/>
          <p:nvPr/>
        </p:nvSpPr>
        <p:spPr>
          <a:xfrm>
            <a:off x="7772400" y="4114800"/>
            <a:ext cx="2285640" cy="2285640"/>
          </a:xfrm>
          <a:prstGeom prst="ellipse">
            <a:avLst/>
          </a:prstGeom>
          <a:solidFill>
            <a:srgbClr val="8b5cf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1188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601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MATH 447  •  FINAL PRESENTATION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55448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40080" y="242316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0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Encrypted Chat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58440" y="3383280"/>
            <a:ext cx="456840" cy="36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40080" y="35204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0" descr="preencoded.png"/>
          <p:cNvPicPr/>
          <p:nvPr/>
        </p:nvPicPr>
        <p:blipFill>
          <a:blip r:embed="rId1"/>
          <a:stretch/>
        </p:blipFill>
        <p:spPr>
          <a:xfrm>
            <a:off x="658440" y="411480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9"/>
          <p:cNvSpPr/>
          <p:nvPr/>
        </p:nvSpPr>
        <p:spPr>
          <a:xfrm>
            <a:off x="1051560" y="4114800"/>
            <a:ext cx="6400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Authenticated encryption for real-time messaging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0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2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end-to-end encryption?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the sender and the receiver can read the message — nobody in between.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457200" y="1417320"/>
            <a:ext cx="4023000" cy="3200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457200" y="1417320"/>
            <a:ext cx="54360" cy="32000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0" descr="preencoded.png"/>
          <p:cNvPicPr/>
          <p:nvPr/>
        </p:nvPicPr>
        <p:blipFill>
          <a:blip r:embed="rId1"/>
          <a:stretch/>
        </p:blipFill>
        <p:spPr>
          <a:xfrm>
            <a:off x="713160" y="162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5"/>
          <p:cNvSpPr/>
          <p:nvPr/>
        </p:nvSpPr>
        <p:spPr>
          <a:xfrm>
            <a:off x="1280160" y="162756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core idea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713160" y="2240280"/>
            <a:ext cx="3657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are encrypted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sender's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and decrypted only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The server only relays ciphertext — it cannot read the plaintext.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4754880" y="1417320"/>
            <a:ext cx="3931560" cy="685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4892040" y="1563480"/>
            <a:ext cx="383760" cy="3837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892040" y="1563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5440680" y="141732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User types a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4754880" y="2258640"/>
            <a:ext cx="3931560" cy="685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4892040" y="2404800"/>
            <a:ext cx="383760" cy="3837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892040" y="2404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5440680" y="22586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Encrypted on the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4754880" y="3099960"/>
            <a:ext cx="3931560" cy="685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4892040" y="3246120"/>
            <a:ext cx="383760" cy="3837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4892040" y="324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40680" y="309996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Ciphertext relayed by 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"/>
          <p:cNvSpPr/>
          <p:nvPr/>
        </p:nvSpPr>
        <p:spPr>
          <a:xfrm>
            <a:off x="4754880" y="3940920"/>
            <a:ext cx="3931560" cy="685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4892040" y="4087440"/>
            <a:ext cx="383760" cy="3837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4892040" y="4087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5440680" y="394092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 decrypts on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 TCP is easy. Securing it against real adversaries is not.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457200" y="1417320"/>
            <a:ext cx="3657240" cy="320004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preencoded.png"/>
          <p:cNvPicPr/>
          <p:nvPr/>
        </p:nvPicPr>
        <p:blipFill>
          <a:blip r:embed="rId1"/>
          <a:stretch/>
        </p:blipFill>
        <p:spPr>
          <a:xfrm>
            <a:off x="1554480" y="1691640"/>
            <a:ext cx="1462680" cy="146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4"/>
          <p:cNvSpPr/>
          <p:nvPr/>
        </p:nvSpPr>
        <p:spPr>
          <a:xfrm>
            <a:off x="640080" y="324612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640080" y="361188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anyone in the middle can read everything.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4434840" y="1417320"/>
            <a:ext cx="4251600" cy="712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4434840" y="1417320"/>
            <a:ext cx="54360" cy="7128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4572000" y="147204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Interception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4572000" y="172836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can be captured by ISPs, network operators, or attackers on shared Wi-Fi.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4434840" y="2240280"/>
            <a:ext cx="4251600" cy="712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4434840" y="2240280"/>
            <a:ext cx="54360" cy="7128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4572000" y="22950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Trust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4572000" y="255132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E2E, the server sees plaintext — one compromise leaks every conversation.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4434840" y="3063240"/>
            <a:ext cx="4251600" cy="712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4434840" y="3063240"/>
            <a:ext cx="54360" cy="712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4572000" y="311796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Tampering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4572000" y="337428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authentication, ciphertext can be modified and the receiver wouldn't know.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4434840" y="3886200"/>
            <a:ext cx="4251600" cy="7128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4434840" y="3886200"/>
            <a:ext cx="54360" cy="712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4572000" y="394092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 Identity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4572000" y="4197240"/>
            <a:ext cx="4023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verification, anyone could impersonate the sender.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13160" y="3657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Project Goal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713160" y="868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Build a working chat application where the server can never read user messages.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457200" y="1417320"/>
            <a:ext cx="2048040" cy="33829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1046880" y="1691640"/>
            <a:ext cx="868320" cy="86832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Image 0" descr="preencoded.png"/>
          <p:cNvPicPr/>
          <p:nvPr/>
        </p:nvPicPr>
        <p:blipFill>
          <a:blip r:embed="rId1"/>
          <a:stretch/>
        </p:blipFill>
        <p:spPr>
          <a:xfrm>
            <a:off x="1252800" y="189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5"/>
          <p:cNvSpPr/>
          <p:nvPr/>
        </p:nvSpPr>
        <p:spPr>
          <a:xfrm>
            <a:off x="594360" y="2697480"/>
            <a:ext cx="177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Build a secure chat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298520" y="3291840"/>
            <a:ext cx="365400" cy="22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40080" y="342900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Functional Python client/server with real socket communication.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2624400" y="1417320"/>
            <a:ext cx="2048040" cy="33829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3214080" y="1691640"/>
            <a:ext cx="868320" cy="86832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1" descr="preencoded.png"/>
          <p:cNvPicPr/>
          <p:nvPr/>
        </p:nvPicPr>
        <p:blipFill>
          <a:blip r:embed="rId2"/>
          <a:stretch/>
        </p:blipFill>
        <p:spPr>
          <a:xfrm>
            <a:off x="3420000" y="189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 10"/>
          <p:cNvSpPr/>
          <p:nvPr/>
        </p:nvSpPr>
        <p:spPr>
          <a:xfrm>
            <a:off x="2761560" y="2697480"/>
            <a:ext cx="177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End-to-end encrypted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3465720" y="3291840"/>
            <a:ext cx="365400" cy="22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2807280" y="342900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never leaves the client; only ciphertext crosses the wire.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3"/>
          <p:cNvSpPr/>
          <p:nvPr/>
        </p:nvSpPr>
        <p:spPr>
          <a:xfrm>
            <a:off x="4791600" y="1417320"/>
            <a:ext cx="2048040" cy="33829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5381280" y="1691640"/>
            <a:ext cx="868320" cy="86832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5586840" y="189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15"/>
          <p:cNvSpPr/>
          <p:nvPr/>
        </p:nvSpPr>
        <p:spPr>
          <a:xfrm>
            <a:off x="4928760" y="2697480"/>
            <a:ext cx="177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Server is blind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5632560" y="3291840"/>
            <a:ext cx="365400" cy="22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4974480" y="342900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Relay forwards opaque ciphertext — no key, no read access.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6958440" y="1417320"/>
            <a:ext cx="2048040" cy="33829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7548480" y="1691640"/>
            <a:ext cx="868320" cy="86832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3" descr="preencoded.png"/>
          <p:cNvPicPr/>
          <p:nvPr/>
        </p:nvPicPr>
        <p:blipFill>
          <a:blip r:embed="rId4"/>
          <a:stretch/>
        </p:blipFill>
        <p:spPr>
          <a:xfrm>
            <a:off x="7754040" y="189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20"/>
          <p:cNvSpPr/>
          <p:nvPr/>
        </p:nvSpPr>
        <p:spPr>
          <a:xfrm>
            <a:off x="7095600" y="2697480"/>
            <a:ext cx="177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core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1"/>
          <p:cNvSpPr/>
          <p:nvPr/>
        </p:nvSpPr>
        <p:spPr>
          <a:xfrm>
            <a:off x="7799760" y="3291840"/>
            <a:ext cx="365400" cy="22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2"/>
          <p:cNvSpPr/>
          <p:nvPr/>
        </p:nvSpPr>
        <p:spPr>
          <a:xfrm>
            <a:off x="7141320" y="342900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Use a modern AEAD cipher with built-in authentication.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04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System 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relay-only server forwards ciphertext between authenticated clients.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48640" y="2011680"/>
            <a:ext cx="1737000" cy="137124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0" descr="preencoded.png"/>
          <p:cNvPicPr/>
          <p:nvPr/>
        </p:nvPicPr>
        <p:blipFill>
          <a:blip r:embed="rId1"/>
          <a:stretch/>
        </p:blipFill>
        <p:spPr>
          <a:xfrm>
            <a:off x="1166040" y="219456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4"/>
          <p:cNvSpPr/>
          <p:nvPr/>
        </p:nvSpPr>
        <p:spPr>
          <a:xfrm>
            <a:off x="548640" y="274320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48640" y="303588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3703320" y="2011680"/>
            <a:ext cx="1737000" cy="1371240"/>
          </a:xfrm>
          <a:prstGeom prst="rect">
            <a:avLst/>
          </a:prstGeom>
          <a:solidFill>
            <a:srgbClr val="ffffff"/>
          </a:solidFill>
          <a:ln w="19080">
            <a:solidFill>
              <a:srgbClr val="475569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Image 1" descr="preencoded.png"/>
          <p:cNvPicPr/>
          <p:nvPr/>
        </p:nvPicPr>
        <p:blipFill>
          <a:blip r:embed="rId2"/>
          <a:stretch/>
        </p:blipFill>
        <p:spPr>
          <a:xfrm>
            <a:off x="4320720" y="219456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7"/>
          <p:cNvSpPr/>
          <p:nvPr/>
        </p:nvSpPr>
        <p:spPr>
          <a:xfrm>
            <a:off x="3703320" y="274320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3703320" y="303588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Relays only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6858000" y="2011680"/>
            <a:ext cx="1737000" cy="137124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Image 2" descr="preencoded.png"/>
          <p:cNvPicPr/>
          <p:nvPr/>
        </p:nvPicPr>
        <p:blipFill>
          <a:blip r:embed="rId3"/>
          <a:stretch/>
        </p:blipFill>
        <p:spPr>
          <a:xfrm>
            <a:off x="7475400" y="219456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10"/>
          <p:cNvSpPr/>
          <p:nvPr/>
        </p:nvSpPr>
        <p:spPr>
          <a:xfrm>
            <a:off x="6858000" y="274320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6858000" y="3035880"/>
            <a:ext cx="1737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Decrypts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2286000" y="2331720"/>
            <a:ext cx="1416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228600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5440680" y="2331720"/>
            <a:ext cx="1416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5"/>
          <p:cNvSpPr/>
          <p:nvPr/>
        </p:nvSpPr>
        <p:spPr>
          <a:xfrm>
            <a:off x="544068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3703320" y="3657600"/>
            <a:ext cx="1737000" cy="868320"/>
          </a:xfrm>
          <a:prstGeom prst="rect">
            <a:avLst/>
          </a:prstGeom>
          <a:solidFill>
            <a:srgbClr val="f4f7fb"/>
          </a:solidFill>
          <a:ln w="12600">
            <a:solidFill>
              <a:srgbClr val="f970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3749040" y="3703320"/>
            <a:ext cx="164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3749040" y="3977640"/>
            <a:ext cx="1645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Consolas"/>
                <a:ea typeface="Consolas"/>
              </a:rPr>
              <a:t>0xA3F2…91BC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0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Communication Phases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phases: a one-time handshake, then fast symmetric messaging.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457200" y="1417320"/>
            <a:ext cx="397728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640080" y="1417320"/>
            <a:ext cx="12798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fce49a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3566160" y="1600200"/>
            <a:ext cx="731160" cy="73116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0" descr="preencoded.png"/>
          <p:cNvPicPr/>
          <p:nvPr/>
        </p:nvPicPr>
        <p:blipFill>
          <a:blip r:embed="rId1"/>
          <a:stretch/>
        </p:blipFill>
        <p:spPr>
          <a:xfrm>
            <a:off x="374904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6"/>
          <p:cNvSpPr/>
          <p:nvPr/>
        </p:nvSpPr>
        <p:spPr>
          <a:xfrm>
            <a:off x="731520" y="269748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PHASE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731520" y="29260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Exchange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731520" y="33832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5b400"/>
                </a:solidFill>
                <a:effectLst/>
                <a:uFillTx/>
                <a:latin typeface="Consolas"/>
                <a:ea typeface="Consolas"/>
              </a:rPr>
              <a:t>RSA-2048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731520" y="3749040"/>
            <a:ext cx="3657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Public-key cryptography establishes a shared symmetric key. RSA is slow but only runs once per session.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4709160" y="1417320"/>
            <a:ext cx="397728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1"/>
          <p:cNvSpPr/>
          <p:nvPr/>
        </p:nvSpPr>
        <p:spPr>
          <a:xfrm>
            <a:off x="4892040" y="1417320"/>
            <a:ext cx="12798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9decdd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2"/>
          <p:cNvSpPr/>
          <p:nvPr/>
        </p:nvSpPr>
        <p:spPr>
          <a:xfrm>
            <a:off x="7818120" y="1600200"/>
            <a:ext cx="731160" cy="73116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preencoded.png"/>
          <p:cNvPicPr/>
          <p:nvPr/>
        </p:nvPicPr>
        <p:blipFill>
          <a:blip r:embed="rId2"/>
          <a:stretch/>
        </p:blipFill>
        <p:spPr>
          <a:xfrm>
            <a:off x="800100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13"/>
          <p:cNvSpPr/>
          <p:nvPr/>
        </p:nvSpPr>
        <p:spPr>
          <a:xfrm>
            <a:off x="4983480" y="269748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4983480" y="29260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Secure Messaging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5"/>
          <p:cNvSpPr/>
          <p:nvPr/>
        </p:nvSpPr>
        <p:spPr>
          <a:xfrm>
            <a:off x="4983480" y="33832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ChaCha20-Poly1305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4983480" y="3749040"/>
            <a:ext cx="3657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All subsequent messages are encrypted with the shared symmetric key. Fast, authenticated, repeatable.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7"/>
          <p:cNvSpPr/>
          <p:nvPr/>
        </p:nvSpPr>
        <p:spPr>
          <a:xfrm>
            <a:off x="4434840" y="3017520"/>
            <a:ext cx="274320" cy="360"/>
          </a:xfrm>
          <a:prstGeom prst="line">
            <a:avLst/>
          </a:prstGeom>
          <a:ln w="2556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8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0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1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 Authenticated Encryption with Associated Data (AEAD)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"/>
          <p:cNvSpPr/>
          <p:nvPr/>
        </p:nvSpPr>
        <p:spPr>
          <a:xfrm>
            <a:off x="457200" y="1417320"/>
            <a:ext cx="8229240" cy="12798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822960" y="1691640"/>
            <a:ext cx="2377080" cy="731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822960" y="169164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22960" y="20757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stream cipher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3246120" y="1691640"/>
            <a:ext cx="456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+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8"/>
          <p:cNvSpPr/>
          <p:nvPr/>
        </p:nvSpPr>
        <p:spPr>
          <a:xfrm>
            <a:off x="3749040" y="1691640"/>
            <a:ext cx="2377080" cy="731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749040" y="169164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Poly1305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49040" y="207576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1"/>
          <p:cNvSpPr/>
          <p:nvPr/>
        </p:nvSpPr>
        <p:spPr>
          <a:xfrm>
            <a:off x="6172200" y="1691640"/>
            <a:ext cx="456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=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2"/>
          <p:cNvSpPr/>
          <p:nvPr/>
        </p:nvSpPr>
        <p:spPr>
          <a:xfrm>
            <a:off x="6675120" y="1691640"/>
            <a:ext cx="1645560" cy="7311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6675120" y="169164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4"/>
          <p:cNvSpPr/>
          <p:nvPr/>
        </p:nvSpPr>
        <p:spPr>
          <a:xfrm>
            <a:off x="6675120" y="207576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authenticated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457200" y="2971800"/>
            <a:ext cx="265140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Image 0" descr="preencoded.png"/>
          <p:cNvPicPr/>
          <p:nvPr/>
        </p:nvPicPr>
        <p:blipFill>
          <a:blip r:embed="rId1"/>
          <a:stretch/>
        </p:blipFill>
        <p:spPr>
          <a:xfrm>
            <a:off x="685800" y="31546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16"/>
          <p:cNvSpPr/>
          <p:nvPr/>
        </p:nvSpPr>
        <p:spPr>
          <a:xfrm>
            <a:off x="1143000" y="31089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685800" y="361188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hides the plaintext from eavesdroppers.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8"/>
          <p:cNvSpPr/>
          <p:nvPr/>
        </p:nvSpPr>
        <p:spPr>
          <a:xfrm>
            <a:off x="3246120" y="2971800"/>
            <a:ext cx="265140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1" descr="preencoded.png"/>
          <p:cNvPicPr/>
          <p:nvPr/>
        </p:nvPicPr>
        <p:blipFill>
          <a:blip r:embed="rId2"/>
          <a:stretch/>
        </p:blipFill>
        <p:spPr>
          <a:xfrm>
            <a:off x="3474720" y="31546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19"/>
          <p:cNvSpPr/>
          <p:nvPr/>
        </p:nvSpPr>
        <p:spPr>
          <a:xfrm>
            <a:off x="3931920" y="31089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"/>
          <p:cNvSpPr/>
          <p:nvPr/>
        </p:nvSpPr>
        <p:spPr>
          <a:xfrm>
            <a:off x="3474720" y="361188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Poly1305 detects any modification of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6035040" y="2971800"/>
            <a:ext cx="265140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6263640" y="31546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22"/>
          <p:cNvSpPr/>
          <p:nvPr/>
        </p:nvSpPr>
        <p:spPr>
          <a:xfrm>
            <a:off x="6720840" y="310896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Single primitive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6263640" y="361188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One operation provides both — no separate MAC step.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457200" y="470916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in WireGuard, TLS 1.3, and Signal.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8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Why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Three reasons it has displaced AES-GCM in many modern protocols.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457200" y="1417320"/>
            <a:ext cx="8229240" cy="959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457200" y="1417320"/>
            <a:ext cx="72720" cy="9597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777240" y="1645920"/>
            <a:ext cx="502560" cy="502560"/>
          </a:xfrm>
          <a:prstGeom prst="ellipse">
            <a:avLst/>
          </a:prstGeom>
          <a:solidFill>
            <a:srgbClr val="f5b40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0" descr="preencoded.png"/>
          <p:cNvPicPr/>
          <p:nvPr/>
        </p:nvPicPr>
        <p:blipFill>
          <a:blip r:embed="rId1"/>
          <a:stretch/>
        </p:blipFill>
        <p:spPr>
          <a:xfrm>
            <a:off x="877680" y="174636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6"/>
          <p:cNvSpPr/>
          <p:nvPr/>
        </p:nvSpPr>
        <p:spPr>
          <a:xfrm>
            <a:off x="1463040" y="1527120"/>
            <a:ext cx="7040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Fast in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7"/>
          <p:cNvSpPr/>
          <p:nvPr/>
        </p:nvSpPr>
        <p:spPr>
          <a:xfrm>
            <a:off x="1463040" y="1856160"/>
            <a:ext cx="7040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Uses only addition, XOR, and bit rotation. Performs well even without dedicated AES hardware acceleration.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8"/>
          <p:cNvSpPr/>
          <p:nvPr/>
        </p:nvSpPr>
        <p:spPr>
          <a:xfrm>
            <a:off x="457200" y="2514600"/>
            <a:ext cx="8229240" cy="959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9"/>
          <p:cNvSpPr/>
          <p:nvPr/>
        </p:nvSpPr>
        <p:spPr>
          <a:xfrm>
            <a:off x="457200" y="2514600"/>
            <a:ext cx="72720" cy="9597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0"/>
          <p:cNvSpPr/>
          <p:nvPr/>
        </p:nvSpPr>
        <p:spPr>
          <a:xfrm>
            <a:off x="777240" y="2743200"/>
            <a:ext cx="502560" cy="502560"/>
          </a:xfrm>
          <a:prstGeom prst="ellipse">
            <a:avLst/>
          </a:prstGeom>
          <a:solidFill>
            <a:srgbClr val="14b8a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Image 1" descr="preencoded.png"/>
          <p:cNvPicPr/>
          <p:nvPr/>
        </p:nvPicPr>
        <p:blipFill>
          <a:blip r:embed="rId2"/>
          <a:stretch/>
        </p:blipFill>
        <p:spPr>
          <a:xfrm>
            <a:off x="877680" y="28436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 11"/>
          <p:cNvSpPr/>
          <p:nvPr/>
        </p:nvSpPr>
        <p:spPr>
          <a:xfrm>
            <a:off x="1463040" y="2624400"/>
            <a:ext cx="7040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Side-channel resistant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1463040" y="2953440"/>
            <a:ext cx="7040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Avoids lookup tables used by some block ciphers. More uniform execution reduces timing and cache leaks.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457200" y="3611880"/>
            <a:ext cx="8229240" cy="959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4"/>
          <p:cNvSpPr/>
          <p:nvPr/>
        </p:nvSpPr>
        <p:spPr>
          <a:xfrm>
            <a:off x="457200" y="3611880"/>
            <a:ext cx="72720" cy="95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777240" y="3840480"/>
            <a:ext cx="502560" cy="50256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2" descr="preencoded.png"/>
          <p:cNvPicPr/>
          <p:nvPr/>
        </p:nvPicPr>
        <p:blipFill>
          <a:blip r:embed="rId3"/>
          <a:stretch/>
        </p:blipFill>
        <p:spPr>
          <a:xfrm>
            <a:off x="877680" y="394092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16"/>
          <p:cNvSpPr/>
          <p:nvPr/>
        </p:nvSpPr>
        <p:spPr>
          <a:xfrm>
            <a:off x="1463040" y="3721680"/>
            <a:ext cx="7040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Battle-tested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7"/>
          <p:cNvSpPr/>
          <p:nvPr/>
        </p:nvSpPr>
        <p:spPr>
          <a:xfrm>
            <a:off x="1463040" y="4050720"/>
            <a:ext cx="7040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Adopted in TLS 1.3, QUIC, OpenSSH, WireGuard VPN, and Signal. RFC 8439 is the IETF standard.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8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0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1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A Stream Cipher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Generates a pseudorandom keystream — never encrypts plaintext directly.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"/>
          <p:cNvSpPr/>
          <p:nvPr/>
        </p:nvSpPr>
        <p:spPr>
          <a:xfrm>
            <a:off x="457200" y="1417320"/>
            <a:ext cx="4845960" cy="7311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457200" y="1417320"/>
            <a:ext cx="54360" cy="731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0080" y="1508760"/>
            <a:ext cx="118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874520" y="150876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256-bit key + 96-bit nonce + counter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457200" y="2258640"/>
            <a:ext cx="4845960" cy="7311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8"/>
          <p:cNvSpPr/>
          <p:nvPr/>
        </p:nvSpPr>
        <p:spPr>
          <a:xfrm>
            <a:off x="457200" y="2258640"/>
            <a:ext cx="54360" cy="7311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640080" y="2350080"/>
            <a:ext cx="118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Output</a:t>
            </a:r>
            <a:endParaRPr lang="en-US" sz="1300" b="0" u="none" strike="noStrike">
              <a:solidFill>
                <a:srgbClr val="f97066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0"/>
          <p:cNvSpPr/>
          <p:nvPr/>
        </p:nvSpPr>
        <p:spPr>
          <a:xfrm>
            <a:off x="1874520" y="235008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A pseudorandom keystream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0" name="Shape 11"/>
          <p:cNvSpPr/>
          <p:nvPr/>
        </p:nvSpPr>
        <p:spPr>
          <a:xfrm>
            <a:off x="457200" y="3099960"/>
            <a:ext cx="4845960" cy="7311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2"/>
          <p:cNvSpPr/>
          <p:nvPr/>
        </p:nvSpPr>
        <p:spPr>
          <a:xfrm>
            <a:off x="457200" y="3099960"/>
            <a:ext cx="54360" cy="731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640080" y="3191400"/>
            <a:ext cx="118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Encrypt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1874520" y="319140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ciphertext = plaintext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4" name="Shape 15"/>
          <p:cNvSpPr/>
          <p:nvPr/>
        </p:nvSpPr>
        <p:spPr>
          <a:xfrm>
            <a:off x="457200" y="3940920"/>
            <a:ext cx="4845960" cy="7311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457200" y="3940920"/>
            <a:ext cx="54360" cy="731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640080" y="4032360"/>
            <a:ext cx="118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Decrypt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1874520" y="403236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plaintext = ciphertext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5486400" y="1417320"/>
            <a:ext cx="3200040" cy="301716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5486400" y="1554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5623560" y="201168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6583680" y="2057400"/>
            <a:ext cx="1965600" cy="3654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3"/>
          <p:cNvSpPr/>
          <p:nvPr/>
        </p:nvSpPr>
        <p:spPr>
          <a:xfrm>
            <a:off x="6583680" y="2057400"/>
            <a:ext cx="196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Hel l o!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4"/>
          <p:cNvSpPr/>
          <p:nvPr/>
        </p:nvSpPr>
        <p:spPr>
          <a:xfrm>
            <a:off x="5486400" y="25146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5"/>
          <p:cNvSpPr/>
          <p:nvPr/>
        </p:nvSpPr>
        <p:spPr>
          <a:xfrm>
            <a:off x="5623560" y="292608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6"/>
          <p:cNvSpPr/>
          <p:nvPr/>
        </p:nvSpPr>
        <p:spPr>
          <a:xfrm>
            <a:off x="6583680" y="2971800"/>
            <a:ext cx="1965600" cy="365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7"/>
          <p:cNvSpPr/>
          <p:nvPr/>
        </p:nvSpPr>
        <p:spPr>
          <a:xfrm>
            <a:off x="6583680" y="2971800"/>
            <a:ext cx="196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0x9F2A…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5623560" y="3474720"/>
            <a:ext cx="2926080" cy="360"/>
          </a:xfrm>
          <a:prstGeom prst="line">
            <a:avLst/>
          </a:prstGeom>
          <a:ln w="126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9"/>
          <p:cNvSpPr/>
          <p:nvPr/>
        </p:nvSpPr>
        <p:spPr>
          <a:xfrm>
            <a:off x="5623560" y="356616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ciphertext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0"/>
          <p:cNvSpPr/>
          <p:nvPr/>
        </p:nvSpPr>
        <p:spPr>
          <a:xfrm>
            <a:off x="6583680" y="3611880"/>
            <a:ext cx="1965600" cy="3654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1"/>
          <p:cNvSpPr/>
          <p:nvPr/>
        </p:nvSpPr>
        <p:spPr>
          <a:xfrm>
            <a:off x="6583680" y="3611880"/>
            <a:ext cx="1965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0xC10B…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2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33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4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5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Internal State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4×4 matrix of 32-bit words — 16 words × 32 bits = 512 bits.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640080" y="1554480"/>
            <a:ext cx="712800" cy="71280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640080" y="155448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1408320" y="1554480"/>
            <a:ext cx="712800" cy="71280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408320" y="155448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2176200" y="1554480"/>
            <a:ext cx="712800" cy="71280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2176200" y="155448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2944440" y="1554480"/>
            <a:ext cx="712800" cy="71280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2944440" y="155448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640080" y="232272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640080" y="2322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3"/>
          <p:cNvSpPr/>
          <p:nvPr/>
        </p:nvSpPr>
        <p:spPr>
          <a:xfrm>
            <a:off x="1408320" y="232272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1408320" y="2322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2176200" y="232272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2176200" y="2322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2944440" y="232272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2944440" y="2322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640080" y="309060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640080" y="309060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1408320" y="309060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1408320" y="309060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3"/>
          <p:cNvSpPr/>
          <p:nvPr/>
        </p:nvSpPr>
        <p:spPr>
          <a:xfrm>
            <a:off x="2176200" y="309060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176200" y="309060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5"/>
          <p:cNvSpPr/>
          <p:nvPr/>
        </p:nvSpPr>
        <p:spPr>
          <a:xfrm>
            <a:off x="2944440" y="3090600"/>
            <a:ext cx="712800" cy="71280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6"/>
          <p:cNvSpPr/>
          <p:nvPr/>
        </p:nvSpPr>
        <p:spPr>
          <a:xfrm>
            <a:off x="2944440" y="309060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7"/>
          <p:cNvSpPr/>
          <p:nvPr/>
        </p:nvSpPr>
        <p:spPr>
          <a:xfrm>
            <a:off x="640080" y="3858840"/>
            <a:ext cx="712800" cy="71280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8"/>
          <p:cNvSpPr/>
          <p:nvPr/>
        </p:nvSpPr>
        <p:spPr>
          <a:xfrm>
            <a:off x="640080" y="385884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9"/>
          <p:cNvSpPr/>
          <p:nvPr/>
        </p:nvSpPr>
        <p:spPr>
          <a:xfrm>
            <a:off x="1408320" y="3858840"/>
            <a:ext cx="712800" cy="71280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0"/>
          <p:cNvSpPr/>
          <p:nvPr/>
        </p:nvSpPr>
        <p:spPr>
          <a:xfrm>
            <a:off x="1408320" y="385884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1"/>
          <p:cNvSpPr/>
          <p:nvPr/>
        </p:nvSpPr>
        <p:spPr>
          <a:xfrm>
            <a:off x="2176200" y="3858840"/>
            <a:ext cx="712800" cy="71280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2176200" y="385884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3"/>
          <p:cNvSpPr/>
          <p:nvPr/>
        </p:nvSpPr>
        <p:spPr>
          <a:xfrm>
            <a:off x="2944440" y="3858840"/>
            <a:ext cx="712800" cy="71280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34"/>
          <p:cNvSpPr/>
          <p:nvPr/>
        </p:nvSpPr>
        <p:spPr>
          <a:xfrm>
            <a:off x="2944440" y="385884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5"/>
          <p:cNvSpPr/>
          <p:nvPr/>
        </p:nvSpPr>
        <p:spPr>
          <a:xfrm>
            <a:off x="640080" y="45720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words × 32 bits = 512 bits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6"/>
          <p:cNvSpPr/>
          <p:nvPr/>
        </p:nvSpPr>
        <p:spPr>
          <a:xfrm>
            <a:off x="4297680" y="1600200"/>
            <a:ext cx="319680" cy="319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7"/>
          <p:cNvSpPr/>
          <p:nvPr/>
        </p:nvSpPr>
        <p:spPr>
          <a:xfrm>
            <a:off x="4754880" y="155448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Constants (4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8"/>
          <p:cNvSpPr/>
          <p:nvPr/>
        </p:nvSpPr>
        <p:spPr>
          <a:xfrm>
            <a:off x="4754880" y="1810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Fixed: "expand 32-byte k"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9"/>
          <p:cNvSpPr/>
          <p:nvPr/>
        </p:nvSpPr>
        <p:spPr>
          <a:xfrm>
            <a:off x="4297680" y="2194560"/>
            <a:ext cx="319680" cy="3196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40"/>
          <p:cNvSpPr/>
          <p:nvPr/>
        </p:nvSpPr>
        <p:spPr>
          <a:xfrm>
            <a:off x="4754880" y="21488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(8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1"/>
          <p:cNvSpPr/>
          <p:nvPr/>
        </p:nvSpPr>
        <p:spPr>
          <a:xfrm>
            <a:off x="4754880" y="240480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256-bit shared secret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2"/>
          <p:cNvSpPr/>
          <p:nvPr/>
        </p:nvSpPr>
        <p:spPr>
          <a:xfrm>
            <a:off x="4297680" y="2788920"/>
            <a:ext cx="319680" cy="3196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43"/>
          <p:cNvSpPr/>
          <p:nvPr/>
        </p:nvSpPr>
        <p:spPr>
          <a:xfrm>
            <a:off x="4754880" y="274320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Counter (1 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4"/>
          <p:cNvSpPr/>
          <p:nvPr/>
        </p:nvSpPr>
        <p:spPr>
          <a:xfrm>
            <a:off x="4754880" y="299916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Tracks each 512 bit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5"/>
          <p:cNvSpPr/>
          <p:nvPr/>
        </p:nvSpPr>
        <p:spPr>
          <a:xfrm>
            <a:off x="4297680" y="3383280"/>
            <a:ext cx="319680" cy="319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46"/>
          <p:cNvSpPr/>
          <p:nvPr/>
        </p:nvSpPr>
        <p:spPr>
          <a:xfrm>
            <a:off x="4754880" y="333756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Nonce (3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7"/>
          <p:cNvSpPr/>
          <p:nvPr/>
        </p:nvSpPr>
        <p:spPr>
          <a:xfrm>
            <a:off x="4754880" y="359352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96-bit unique-per-message value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8"/>
          <p:cNvSpPr/>
          <p:nvPr/>
        </p:nvSpPr>
        <p:spPr>
          <a:xfrm>
            <a:off x="4297680" y="4069080"/>
            <a:ext cx="4297320" cy="63972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49"/>
          <p:cNvSpPr/>
          <p:nvPr/>
        </p:nvSpPr>
        <p:spPr>
          <a:xfrm>
            <a:off x="4434840" y="41148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20 rounds = 10 double-rounds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0"/>
          <p:cNvSpPr/>
          <p:nvPr/>
        </p:nvSpPr>
        <p:spPr>
          <a:xfrm>
            <a:off x="4434840" y="438912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That's where the "20" in ChaCha20 comes from.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51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52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3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4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Quarter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atomic mixing operation. Scrambles four 32-bit words using only ARX.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"/>
          <p:cNvSpPr/>
          <p:nvPr/>
        </p:nvSpPr>
        <p:spPr>
          <a:xfrm>
            <a:off x="457200" y="1417320"/>
            <a:ext cx="3657240" cy="3200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640080" y="155448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ARX operations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5"/>
          <p:cNvSpPr/>
          <p:nvPr/>
        </p:nvSpPr>
        <p:spPr>
          <a:xfrm>
            <a:off x="640080" y="2011680"/>
            <a:ext cx="548280" cy="5482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640080" y="20116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7"/>
          <p:cNvSpPr/>
          <p:nvPr/>
        </p:nvSpPr>
        <p:spPr>
          <a:xfrm>
            <a:off x="1325880" y="205740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Addition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8"/>
          <p:cNvSpPr/>
          <p:nvPr/>
        </p:nvSpPr>
        <p:spPr>
          <a:xfrm>
            <a:off x="1325880" y="230436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(mod 2³²)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9"/>
          <p:cNvSpPr/>
          <p:nvPr/>
        </p:nvSpPr>
        <p:spPr>
          <a:xfrm>
            <a:off x="640080" y="2788920"/>
            <a:ext cx="548280" cy="54828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0"/>
          <p:cNvSpPr/>
          <p:nvPr/>
        </p:nvSpPr>
        <p:spPr>
          <a:xfrm>
            <a:off x="640080" y="2788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1"/>
          <p:cNvSpPr/>
          <p:nvPr/>
        </p:nvSpPr>
        <p:spPr>
          <a:xfrm>
            <a:off x="1325880" y="283464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Rotation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2"/>
          <p:cNvSpPr/>
          <p:nvPr/>
        </p:nvSpPr>
        <p:spPr>
          <a:xfrm>
            <a:off x="1325880" y="308160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(left bit-rotate)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3"/>
          <p:cNvSpPr/>
          <p:nvPr/>
        </p:nvSpPr>
        <p:spPr>
          <a:xfrm>
            <a:off x="640080" y="3566160"/>
            <a:ext cx="548280" cy="5482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4"/>
          <p:cNvSpPr/>
          <p:nvPr/>
        </p:nvSpPr>
        <p:spPr>
          <a:xfrm>
            <a:off x="640080" y="35661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X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5"/>
          <p:cNvSpPr/>
          <p:nvPr/>
        </p:nvSpPr>
        <p:spPr>
          <a:xfrm>
            <a:off x="1325880" y="361188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XOR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6"/>
          <p:cNvSpPr/>
          <p:nvPr/>
        </p:nvSpPr>
        <p:spPr>
          <a:xfrm>
            <a:off x="1325880" y="385884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(exclusive or)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7"/>
          <p:cNvSpPr/>
          <p:nvPr/>
        </p:nvSpPr>
        <p:spPr>
          <a:xfrm>
            <a:off x="640080" y="4251960"/>
            <a:ext cx="3291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CPU accelerated operations, fast in that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8"/>
          <p:cNvSpPr/>
          <p:nvPr/>
        </p:nvSpPr>
        <p:spPr>
          <a:xfrm>
            <a:off x="4389120" y="1417320"/>
            <a:ext cx="4297320" cy="32000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9"/>
          <p:cNvSpPr/>
          <p:nvPr/>
        </p:nvSpPr>
        <p:spPr>
          <a:xfrm>
            <a:off x="4526280" y="155448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99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QUARTERROUND(a, b, c, 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0"/>
          <p:cNvSpPr/>
          <p:nvPr/>
        </p:nvSpPr>
        <p:spPr>
          <a:xfrm>
            <a:off x="4526280" y="1965960"/>
            <a:ext cx="4023000" cy="45684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1"/>
          <p:cNvSpPr/>
          <p:nvPr/>
        </p:nvSpPr>
        <p:spPr>
          <a:xfrm>
            <a:off x="4572000" y="196596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2"/>
          <p:cNvSpPr/>
          <p:nvPr/>
        </p:nvSpPr>
        <p:spPr>
          <a:xfrm>
            <a:off x="4892040" y="196596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16;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3"/>
          <p:cNvSpPr/>
          <p:nvPr/>
        </p:nvSpPr>
        <p:spPr>
          <a:xfrm>
            <a:off x="4526280" y="2514600"/>
            <a:ext cx="4023000" cy="45684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4"/>
          <p:cNvSpPr/>
          <p:nvPr/>
        </p:nvSpPr>
        <p:spPr>
          <a:xfrm>
            <a:off x="4572000" y="251460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5"/>
          <p:cNvSpPr/>
          <p:nvPr/>
        </p:nvSpPr>
        <p:spPr>
          <a:xfrm>
            <a:off x="4892040" y="251460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12;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6"/>
          <p:cNvSpPr/>
          <p:nvPr/>
        </p:nvSpPr>
        <p:spPr>
          <a:xfrm>
            <a:off x="4526280" y="3063240"/>
            <a:ext cx="4023000" cy="45684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7"/>
          <p:cNvSpPr/>
          <p:nvPr/>
        </p:nvSpPr>
        <p:spPr>
          <a:xfrm>
            <a:off x="4572000" y="306324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3.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28"/>
          <p:cNvSpPr/>
          <p:nvPr/>
        </p:nvSpPr>
        <p:spPr>
          <a:xfrm>
            <a:off x="4892040" y="306324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8;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9"/>
          <p:cNvSpPr/>
          <p:nvPr/>
        </p:nvSpPr>
        <p:spPr>
          <a:xfrm>
            <a:off x="4526280" y="3611880"/>
            <a:ext cx="4023000" cy="45684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4572000" y="361188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1"/>
          <p:cNvSpPr/>
          <p:nvPr/>
        </p:nvSpPr>
        <p:spPr>
          <a:xfrm>
            <a:off x="4892040" y="36118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7;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2"/>
          <p:cNvSpPr/>
          <p:nvPr/>
        </p:nvSpPr>
        <p:spPr>
          <a:xfrm>
            <a:off x="4526280" y="429768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Apply 80 quarter rounds total — 4 columns × 4 diagonals × 10 double-rounds.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3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and Diagonal Rounds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double-round mixes the matrix two ways: by column, then by diagonal.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640080" y="1463040"/>
            <a:ext cx="212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Index 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"/>
          <p:cNvSpPr/>
          <p:nvPr/>
        </p:nvSpPr>
        <p:spPr>
          <a:xfrm>
            <a:off x="64008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64008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6"/>
          <p:cNvSpPr/>
          <p:nvPr/>
        </p:nvSpPr>
        <p:spPr>
          <a:xfrm>
            <a:off x="117972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117972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8"/>
          <p:cNvSpPr/>
          <p:nvPr/>
        </p:nvSpPr>
        <p:spPr>
          <a:xfrm>
            <a:off x="171900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9"/>
          <p:cNvSpPr/>
          <p:nvPr/>
        </p:nvSpPr>
        <p:spPr>
          <a:xfrm>
            <a:off x="171900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225864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225864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2"/>
          <p:cNvSpPr/>
          <p:nvPr/>
        </p:nvSpPr>
        <p:spPr>
          <a:xfrm>
            <a:off x="64008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64008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117972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117972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6"/>
          <p:cNvSpPr/>
          <p:nvPr/>
        </p:nvSpPr>
        <p:spPr>
          <a:xfrm>
            <a:off x="171900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171900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225864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225864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0"/>
          <p:cNvSpPr/>
          <p:nvPr/>
        </p:nvSpPr>
        <p:spPr>
          <a:xfrm>
            <a:off x="64008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64008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117972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117972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4"/>
          <p:cNvSpPr/>
          <p:nvPr/>
        </p:nvSpPr>
        <p:spPr>
          <a:xfrm>
            <a:off x="171900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171900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26"/>
          <p:cNvSpPr/>
          <p:nvPr/>
        </p:nvSpPr>
        <p:spPr>
          <a:xfrm>
            <a:off x="225864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7"/>
          <p:cNvSpPr/>
          <p:nvPr/>
        </p:nvSpPr>
        <p:spPr>
          <a:xfrm>
            <a:off x="225864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8"/>
          <p:cNvSpPr/>
          <p:nvPr/>
        </p:nvSpPr>
        <p:spPr>
          <a:xfrm>
            <a:off x="64008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9"/>
          <p:cNvSpPr/>
          <p:nvPr/>
        </p:nvSpPr>
        <p:spPr>
          <a:xfrm>
            <a:off x="64008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30"/>
          <p:cNvSpPr/>
          <p:nvPr/>
        </p:nvSpPr>
        <p:spPr>
          <a:xfrm>
            <a:off x="117972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1"/>
          <p:cNvSpPr/>
          <p:nvPr/>
        </p:nvSpPr>
        <p:spPr>
          <a:xfrm>
            <a:off x="117972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32"/>
          <p:cNvSpPr/>
          <p:nvPr/>
        </p:nvSpPr>
        <p:spPr>
          <a:xfrm>
            <a:off x="171900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33"/>
          <p:cNvSpPr/>
          <p:nvPr/>
        </p:nvSpPr>
        <p:spPr>
          <a:xfrm>
            <a:off x="171900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4"/>
          <p:cNvSpPr/>
          <p:nvPr/>
        </p:nvSpPr>
        <p:spPr>
          <a:xfrm>
            <a:off x="225864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35"/>
          <p:cNvSpPr/>
          <p:nvPr/>
        </p:nvSpPr>
        <p:spPr>
          <a:xfrm>
            <a:off x="225864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6"/>
          <p:cNvSpPr/>
          <p:nvPr/>
        </p:nvSpPr>
        <p:spPr>
          <a:xfrm>
            <a:off x="3703320" y="1463040"/>
            <a:ext cx="212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7"/>
          <p:cNvSpPr/>
          <p:nvPr/>
        </p:nvSpPr>
        <p:spPr>
          <a:xfrm>
            <a:off x="3703320" y="1874520"/>
            <a:ext cx="502560" cy="50256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38"/>
          <p:cNvSpPr/>
          <p:nvPr/>
        </p:nvSpPr>
        <p:spPr>
          <a:xfrm>
            <a:off x="370332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9"/>
          <p:cNvSpPr/>
          <p:nvPr/>
        </p:nvSpPr>
        <p:spPr>
          <a:xfrm>
            <a:off x="424296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40"/>
          <p:cNvSpPr/>
          <p:nvPr/>
        </p:nvSpPr>
        <p:spPr>
          <a:xfrm>
            <a:off x="424296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1"/>
          <p:cNvSpPr/>
          <p:nvPr/>
        </p:nvSpPr>
        <p:spPr>
          <a:xfrm>
            <a:off x="478224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42"/>
          <p:cNvSpPr/>
          <p:nvPr/>
        </p:nvSpPr>
        <p:spPr>
          <a:xfrm>
            <a:off x="478224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3"/>
          <p:cNvSpPr/>
          <p:nvPr/>
        </p:nvSpPr>
        <p:spPr>
          <a:xfrm>
            <a:off x="532188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44"/>
          <p:cNvSpPr/>
          <p:nvPr/>
        </p:nvSpPr>
        <p:spPr>
          <a:xfrm>
            <a:off x="532188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45"/>
          <p:cNvSpPr/>
          <p:nvPr/>
        </p:nvSpPr>
        <p:spPr>
          <a:xfrm>
            <a:off x="3703320" y="2414160"/>
            <a:ext cx="502560" cy="50256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46"/>
          <p:cNvSpPr/>
          <p:nvPr/>
        </p:nvSpPr>
        <p:spPr>
          <a:xfrm>
            <a:off x="370332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7"/>
          <p:cNvSpPr/>
          <p:nvPr/>
        </p:nvSpPr>
        <p:spPr>
          <a:xfrm>
            <a:off x="424296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48"/>
          <p:cNvSpPr/>
          <p:nvPr/>
        </p:nvSpPr>
        <p:spPr>
          <a:xfrm>
            <a:off x="424296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9"/>
          <p:cNvSpPr/>
          <p:nvPr/>
        </p:nvSpPr>
        <p:spPr>
          <a:xfrm>
            <a:off x="478224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50"/>
          <p:cNvSpPr/>
          <p:nvPr/>
        </p:nvSpPr>
        <p:spPr>
          <a:xfrm>
            <a:off x="478224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51"/>
          <p:cNvSpPr/>
          <p:nvPr/>
        </p:nvSpPr>
        <p:spPr>
          <a:xfrm>
            <a:off x="532188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52"/>
          <p:cNvSpPr/>
          <p:nvPr/>
        </p:nvSpPr>
        <p:spPr>
          <a:xfrm>
            <a:off x="532188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3"/>
          <p:cNvSpPr/>
          <p:nvPr/>
        </p:nvSpPr>
        <p:spPr>
          <a:xfrm>
            <a:off x="3703320" y="2953440"/>
            <a:ext cx="502560" cy="50256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54"/>
          <p:cNvSpPr/>
          <p:nvPr/>
        </p:nvSpPr>
        <p:spPr>
          <a:xfrm>
            <a:off x="370332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55"/>
          <p:cNvSpPr/>
          <p:nvPr/>
        </p:nvSpPr>
        <p:spPr>
          <a:xfrm>
            <a:off x="424296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56"/>
          <p:cNvSpPr/>
          <p:nvPr/>
        </p:nvSpPr>
        <p:spPr>
          <a:xfrm>
            <a:off x="424296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57"/>
          <p:cNvSpPr/>
          <p:nvPr/>
        </p:nvSpPr>
        <p:spPr>
          <a:xfrm>
            <a:off x="478224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58"/>
          <p:cNvSpPr/>
          <p:nvPr/>
        </p:nvSpPr>
        <p:spPr>
          <a:xfrm>
            <a:off x="478224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59"/>
          <p:cNvSpPr/>
          <p:nvPr/>
        </p:nvSpPr>
        <p:spPr>
          <a:xfrm>
            <a:off x="532188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0"/>
          <p:cNvSpPr/>
          <p:nvPr/>
        </p:nvSpPr>
        <p:spPr>
          <a:xfrm>
            <a:off x="532188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61"/>
          <p:cNvSpPr/>
          <p:nvPr/>
        </p:nvSpPr>
        <p:spPr>
          <a:xfrm>
            <a:off x="3703320" y="3493080"/>
            <a:ext cx="502560" cy="50256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62"/>
          <p:cNvSpPr/>
          <p:nvPr/>
        </p:nvSpPr>
        <p:spPr>
          <a:xfrm>
            <a:off x="370332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63"/>
          <p:cNvSpPr/>
          <p:nvPr/>
        </p:nvSpPr>
        <p:spPr>
          <a:xfrm>
            <a:off x="424296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64"/>
          <p:cNvSpPr/>
          <p:nvPr/>
        </p:nvSpPr>
        <p:spPr>
          <a:xfrm>
            <a:off x="424296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65"/>
          <p:cNvSpPr/>
          <p:nvPr/>
        </p:nvSpPr>
        <p:spPr>
          <a:xfrm>
            <a:off x="478224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66"/>
          <p:cNvSpPr/>
          <p:nvPr/>
        </p:nvSpPr>
        <p:spPr>
          <a:xfrm>
            <a:off x="478224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67"/>
          <p:cNvSpPr/>
          <p:nvPr/>
        </p:nvSpPr>
        <p:spPr>
          <a:xfrm>
            <a:off x="532188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8"/>
          <p:cNvSpPr/>
          <p:nvPr/>
        </p:nvSpPr>
        <p:spPr>
          <a:xfrm>
            <a:off x="532188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69"/>
          <p:cNvSpPr/>
          <p:nvPr/>
        </p:nvSpPr>
        <p:spPr>
          <a:xfrm>
            <a:off x="6766560" y="1463040"/>
            <a:ext cx="212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Diagonal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70"/>
          <p:cNvSpPr/>
          <p:nvPr/>
        </p:nvSpPr>
        <p:spPr>
          <a:xfrm>
            <a:off x="6766560" y="1874520"/>
            <a:ext cx="502560" cy="50256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71"/>
          <p:cNvSpPr/>
          <p:nvPr/>
        </p:nvSpPr>
        <p:spPr>
          <a:xfrm>
            <a:off x="676656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72"/>
          <p:cNvSpPr/>
          <p:nvPr/>
        </p:nvSpPr>
        <p:spPr>
          <a:xfrm>
            <a:off x="730620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73"/>
          <p:cNvSpPr/>
          <p:nvPr/>
        </p:nvSpPr>
        <p:spPr>
          <a:xfrm>
            <a:off x="730620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74"/>
          <p:cNvSpPr/>
          <p:nvPr/>
        </p:nvSpPr>
        <p:spPr>
          <a:xfrm>
            <a:off x="784548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75"/>
          <p:cNvSpPr/>
          <p:nvPr/>
        </p:nvSpPr>
        <p:spPr>
          <a:xfrm>
            <a:off x="784548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76"/>
          <p:cNvSpPr/>
          <p:nvPr/>
        </p:nvSpPr>
        <p:spPr>
          <a:xfrm>
            <a:off x="8385120" y="187452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77"/>
          <p:cNvSpPr/>
          <p:nvPr/>
        </p:nvSpPr>
        <p:spPr>
          <a:xfrm>
            <a:off x="8385120" y="18745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78"/>
          <p:cNvSpPr/>
          <p:nvPr/>
        </p:nvSpPr>
        <p:spPr>
          <a:xfrm>
            <a:off x="676656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79"/>
          <p:cNvSpPr/>
          <p:nvPr/>
        </p:nvSpPr>
        <p:spPr>
          <a:xfrm>
            <a:off x="676656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80"/>
          <p:cNvSpPr/>
          <p:nvPr/>
        </p:nvSpPr>
        <p:spPr>
          <a:xfrm>
            <a:off x="7306200" y="2414160"/>
            <a:ext cx="502560" cy="50256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81"/>
          <p:cNvSpPr/>
          <p:nvPr/>
        </p:nvSpPr>
        <p:spPr>
          <a:xfrm>
            <a:off x="730620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82"/>
          <p:cNvSpPr/>
          <p:nvPr/>
        </p:nvSpPr>
        <p:spPr>
          <a:xfrm>
            <a:off x="784548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83"/>
          <p:cNvSpPr/>
          <p:nvPr/>
        </p:nvSpPr>
        <p:spPr>
          <a:xfrm>
            <a:off x="784548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84"/>
          <p:cNvSpPr/>
          <p:nvPr/>
        </p:nvSpPr>
        <p:spPr>
          <a:xfrm>
            <a:off x="8385120" y="241416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85"/>
          <p:cNvSpPr/>
          <p:nvPr/>
        </p:nvSpPr>
        <p:spPr>
          <a:xfrm>
            <a:off x="8385120" y="2414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86"/>
          <p:cNvSpPr/>
          <p:nvPr/>
        </p:nvSpPr>
        <p:spPr>
          <a:xfrm>
            <a:off x="676656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87"/>
          <p:cNvSpPr/>
          <p:nvPr/>
        </p:nvSpPr>
        <p:spPr>
          <a:xfrm>
            <a:off x="676656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8"/>
          <p:cNvSpPr/>
          <p:nvPr/>
        </p:nvSpPr>
        <p:spPr>
          <a:xfrm>
            <a:off x="730620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89"/>
          <p:cNvSpPr/>
          <p:nvPr/>
        </p:nvSpPr>
        <p:spPr>
          <a:xfrm>
            <a:off x="730620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90"/>
          <p:cNvSpPr/>
          <p:nvPr/>
        </p:nvSpPr>
        <p:spPr>
          <a:xfrm>
            <a:off x="7845480" y="2953440"/>
            <a:ext cx="502560" cy="50256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91"/>
          <p:cNvSpPr/>
          <p:nvPr/>
        </p:nvSpPr>
        <p:spPr>
          <a:xfrm>
            <a:off x="784548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92"/>
          <p:cNvSpPr/>
          <p:nvPr/>
        </p:nvSpPr>
        <p:spPr>
          <a:xfrm>
            <a:off x="8385120" y="295344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93"/>
          <p:cNvSpPr/>
          <p:nvPr/>
        </p:nvSpPr>
        <p:spPr>
          <a:xfrm>
            <a:off x="8385120" y="295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94"/>
          <p:cNvSpPr/>
          <p:nvPr/>
        </p:nvSpPr>
        <p:spPr>
          <a:xfrm>
            <a:off x="676656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95"/>
          <p:cNvSpPr/>
          <p:nvPr/>
        </p:nvSpPr>
        <p:spPr>
          <a:xfrm>
            <a:off x="676656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96"/>
          <p:cNvSpPr/>
          <p:nvPr/>
        </p:nvSpPr>
        <p:spPr>
          <a:xfrm>
            <a:off x="730620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97"/>
          <p:cNvSpPr/>
          <p:nvPr/>
        </p:nvSpPr>
        <p:spPr>
          <a:xfrm>
            <a:off x="730620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98"/>
          <p:cNvSpPr/>
          <p:nvPr/>
        </p:nvSpPr>
        <p:spPr>
          <a:xfrm>
            <a:off x="7845480" y="3493080"/>
            <a:ext cx="50256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99"/>
          <p:cNvSpPr/>
          <p:nvPr/>
        </p:nvSpPr>
        <p:spPr>
          <a:xfrm>
            <a:off x="784548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00"/>
          <p:cNvSpPr/>
          <p:nvPr/>
        </p:nvSpPr>
        <p:spPr>
          <a:xfrm>
            <a:off x="8385120" y="3493080"/>
            <a:ext cx="502560" cy="50256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01"/>
          <p:cNvSpPr/>
          <p:nvPr/>
        </p:nvSpPr>
        <p:spPr>
          <a:xfrm>
            <a:off x="8385120" y="3493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02"/>
          <p:cNvSpPr/>
          <p:nvPr/>
        </p:nvSpPr>
        <p:spPr>
          <a:xfrm>
            <a:off x="457200" y="41605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03"/>
          <p:cNvSpPr/>
          <p:nvPr/>
        </p:nvSpPr>
        <p:spPr>
          <a:xfrm>
            <a:off x="640080" y="4160520"/>
            <a:ext cx="7863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One double-round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= 4 quarter rounds on columns + 4 quarter rounds on diagonals. </a:t>
            </a: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runs 10 double-rounds → 20 total mixing rounds.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104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05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106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07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713160" y="3657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From State to Ciphertext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"/>
          <p:cNvSpPr/>
          <p:nvPr/>
        </p:nvSpPr>
        <p:spPr>
          <a:xfrm>
            <a:off x="713160" y="868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The full pipeline from inputs to encrypted output.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"/>
          <p:cNvSpPr/>
          <p:nvPr/>
        </p:nvSpPr>
        <p:spPr>
          <a:xfrm>
            <a:off x="411480" y="1691640"/>
            <a:ext cx="1371240" cy="1371240"/>
          </a:xfrm>
          <a:prstGeom prst="rect">
            <a:avLst/>
          </a:prstGeom>
          <a:solidFill>
            <a:srgbClr val="13243f"/>
          </a:solidFill>
          <a:ln w="19080">
            <a:solidFill>
              <a:srgbClr val="f5b400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411480" y="1691640"/>
            <a:ext cx="1371240" cy="1094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411480" y="187452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457200" y="2286000"/>
            <a:ext cx="1279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 + Nonce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+ Counter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7"/>
          <p:cNvSpPr/>
          <p:nvPr/>
        </p:nvSpPr>
        <p:spPr>
          <a:xfrm>
            <a:off x="182880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8"/>
          <p:cNvSpPr/>
          <p:nvPr/>
        </p:nvSpPr>
        <p:spPr>
          <a:xfrm>
            <a:off x="2148840" y="1691640"/>
            <a:ext cx="1371240" cy="137124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9"/>
          <p:cNvSpPr/>
          <p:nvPr/>
        </p:nvSpPr>
        <p:spPr>
          <a:xfrm>
            <a:off x="2148840" y="1691640"/>
            <a:ext cx="1371240" cy="109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0"/>
          <p:cNvSpPr/>
          <p:nvPr/>
        </p:nvSpPr>
        <p:spPr>
          <a:xfrm>
            <a:off x="2148840" y="187452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 State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1"/>
          <p:cNvSpPr/>
          <p:nvPr/>
        </p:nvSpPr>
        <p:spPr>
          <a:xfrm>
            <a:off x="2194560" y="2286000"/>
            <a:ext cx="1279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4×4 matrix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(512 bits)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2"/>
          <p:cNvSpPr/>
          <p:nvPr/>
        </p:nvSpPr>
        <p:spPr>
          <a:xfrm>
            <a:off x="356616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3"/>
          <p:cNvSpPr/>
          <p:nvPr/>
        </p:nvSpPr>
        <p:spPr>
          <a:xfrm>
            <a:off x="3886200" y="1691640"/>
            <a:ext cx="1371240" cy="1371240"/>
          </a:xfrm>
          <a:prstGeom prst="rect">
            <a:avLst/>
          </a:prstGeom>
          <a:solidFill>
            <a:srgbClr val="13243f"/>
          </a:solidFill>
          <a:ln w="19080">
            <a:solidFill>
              <a:srgbClr val="8b5cf6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14"/>
          <p:cNvSpPr/>
          <p:nvPr/>
        </p:nvSpPr>
        <p:spPr>
          <a:xfrm>
            <a:off x="3886200" y="1691640"/>
            <a:ext cx="1371240" cy="109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15"/>
          <p:cNvSpPr/>
          <p:nvPr/>
        </p:nvSpPr>
        <p:spPr>
          <a:xfrm>
            <a:off x="3886200" y="187452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Mix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6"/>
          <p:cNvSpPr/>
          <p:nvPr/>
        </p:nvSpPr>
        <p:spPr>
          <a:xfrm>
            <a:off x="3931920" y="2286000"/>
            <a:ext cx="1279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 rounds of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quarter rounds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7"/>
          <p:cNvSpPr/>
          <p:nvPr/>
        </p:nvSpPr>
        <p:spPr>
          <a:xfrm>
            <a:off x="530352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18"/>
          <p:cNvSpPr/>
          <p:nvPr/>
        </p:nvSpPr>
        <p:spPr>
          <a:xfrm>
            <a:off x="5623560" y="1691640"/>
            <a:ext cx="1371240" cy="137124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9"/>
          <p:cNvSpPr/>
          <p:nvPr/>
        </p:nvSpPr>
        <p:spPr>
          <a:xfrm>
            <a:off x="5623560" y="1691640"/>
            <a:ext cx="1371240" cy="109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20"/>
          <p:cNvSpPr/>
          <p:nvPr/>
        </p:nvSpPr>
        <p:spPr>
          <a:xfrm>
            <a:off x="5623560" y="187452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Keystream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21"/>
          <p:cNvSpPr/>
          <p:nvPr/>
        </p:nvSpPr>
        <p:spPr>
          <a:xfrm>
            <a:off x="5669280" y="2286000"/>
            <a:ext cx="1279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512-bit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pseudorandom block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22"/>
          <p:cNvSpPr/>
          <p:nvPr/>
        </p:nvSpPr>
        <p:spPr>
          <a:xfrm>
            <a:off x="704088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23"/>
          <p:cNvSpPr/>
          <p:nvPr/>
        </p:nvSpPr>
        <p:spPr>
          <a:xfrm>
            <a:off x="7360920" y="1691640"/>
            <a:ext cx="1371240" cy="1371240"/>
          </a:xfrm>
          <a:prstGeom prst="rect">
            <a:avLst/>
          </a:prstGeom>
          <a:solidFill>
            <a:srgbClr val="13243f"/>
          </a:solidFill>
          <a:ln w="19080">
            <a:solidFill>
              <a:srgbClr val="f97066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24"/>
          <p:cNvSpPr/>
          <p:nvPr/>
        </p:nvSpPr>
        <p:spPr>
          <a:xfrm>
            <a:off x="7360920" y="1691640"/>
            <a:ext cx="1371240" cy="1094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5"/>
          <p:cNvSpPr/>
          <p:nvPr/>
        </p:nvSpPr>
        <p:spPr>
          <a:xfrm>
            <a:off x="7360920" y="187452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Ciphertext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6"/>
          <p:cNvSpPr/>
          <p:nvPr/>
        </p:nvSpPr>
        <p:spPr>
          <a:xfrm>
            <a:off x="7406640" y="2286000"/>
            <a:ext cx="1279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XOR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7"/>
          <p:cNvSpPr/>
          <p:nvPr/>
        </p:nvSpPr>
        <p:spPr>
          <a:xfrm>
            <a:off x="640080" y="3520440"/>
            <a:ext cx="7863480" cy="118836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28"/>
          <p:cNvSpPr/>
          <p:nvPr/>
        </p:nvSpPr>
        <p:spPr>
          <a:xfrm>
            <a:off x="777240" y="3611880"/>
            <a:ext cx="7589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Symmetry: encryption and decryption use the same operation.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29"/>
          <p:cNvSpPr/>
          <p:nvPr/>
        </p:nvSpPr>
        <p:spPr>
          <a:xfrm>
            <a:off x="777240" y="3886200"/>
            <a:ext cx="75891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Calibri"/>
                <a:ea typeface="Consolas"/>
              </a:rPr>
              <a:t>Plaintext  XOR  Keystream  =  Ciphertext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Ciphertext XOR  Keystream  =  Plaintext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30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1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32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3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13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Nonce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"number used once" — public, but must be unique per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457200" y="1417320"/>
            <a:ext cx="3840120" cy="3200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3" name="Image 0" descr="preencoded.png"/>
          <p:cNvPicPr/>
          <p:nvPr/>
        </p:nvPicPr>
        <p:blipFill>
          <a:blip r:embed="rId1"/>
          <a:stretch/>
        </p:blipFill>
        <p:spPr>
          <a:xfrm>
            <a:off x="640080" y="162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 4"/>
          <p:cNvSpPr/>
          <p:nvPr/>
        </p:nvSpPr>
        <p:spPr>
          <a:xfrm>
            <a:off x="1234440" y="162756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it is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640080" y="2240280"/>
            <a:ext cx="35200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96-bit value used alongside the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— does not need to be secret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Must be unique for each message under the same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ciphertext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4526280" y="1417320"/>
            <a:ext cx="4160160" cy="32000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4526280" y="1554480"/>
            <a:ext cx="4160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IT MATTERS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8"/>
          <p:cNvSpPr/>
          <p:nvPr/>
        </p:nvSpPr>
        <p:spPr>
          <a:xfrm>
            <a:off x="4663440" y="1965960"/>
            <a:ext cx="1234080" cy="5482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9"/>
          <p:cNvSpPr/>
          <p:nvPr/>
        </p:nvSpPr>
        <p:spPr>
          <a:xfrm>
            <a:off x="4663440" y="201168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4663440" y="2258640"/>
            <a:ext cx="1234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(secret)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1"/>
          <p:cNvSpPr/>
          <p:nvPr/>
        </p:nvSpPr>
        <p:spPr>
          <a:xfrm>
            <a:off x="5943600" y="1965960"/>
            <a:ext cx="1234080" cy="5482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2"/>
          <p:cNvSpPr/>
          <p:nvPr/>
        </p:nvSpPr>
        <p:spPr>
          <a:xfrm>
            <a:off x="5943600" y="201168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5943600" y="2258640"/>
            <a:ext cx="1234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(unique)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14"/>
          <p:cNvSpPr/>
          <p:nvPr/>
        </p:nvSpPr>
        <p:spPr>
          <a:xfrm>
            <a:off x="7223760" y="1965960"/>
            <a:ext cx="1234080" cy="548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5"/>
          <p:cNvSpPr/>
          <p:nvPr/>
        </p:nvSpPr>
        <p:spPr>
          <a:xfrm>
            <a:off x="7223760" y="201168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Counter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7223760" y="2258640"/>
            <a:ext cx="1234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(per block)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17"/>
          <p:cNvSpPr/>
          <p:nvPr/>
        </p:nvSpPr>
        <p:spPr>
          <a:xfrm>
            <a:off x="6606360" y="2606040"/>
            <a:ext cx="360" cy="45720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4983480" y="3154680"/>
            <a:ext cx="32457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4983480" y="3154680"/>
            <a:ext cx="324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0"/>
          <p:cNvSpPr/>
          <p:nvPr/>
        </p:nvSpPr>
        <p:spPr>
          <a:xfrm>
            <a:off x="6606360" y="3703320"/>
            <a:ext cx="360" cy="36576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21"/>
          <p:cNvSpPr/>
          <p:nvPr/>
        </p:nvSpPr>
        <p:spPr>
          <a:xfrm>
            <a:off x="4572000" y="4160520"/>
            <a:ext cx="4068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Different nonce produces a different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2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23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14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Can we re-use a nonce?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No. Reusing a nonce with the same key is catastrophic.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3"/>
          <p:cNvSpPr/>
          <p:nvPr/>
        </p:nvSpPr>
        <p:spPr>
          <a:xfrm>
            <a:off x="640080" y="1554480"/>
            <a:ext cx="1462680" cy="1462680"/>
          </a:xfrm>
          <a:prstGeom prst="ellipse">
            <a:avLst/>
          </a:prstGeom>
          <a:solidFill>
            <a:srgbClr val="f97066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4"/>
          <p:cNvSpPr/>
          <p:nvPr/>
        </p:nvSpPr>
        <p:spPr>
          <a:xfrm>
            <a:off x="640080" y="1554480"/>
            <a:ext cx="14626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5"/>
          <p:cNvSpPr/>
          <p:nvPr/>
        </p:nvSpPr>
        <p:spPr>
          <a:xfrm>
            <a:off x="457200" y="310896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dc2626"/>
                </a:solidFill>
                <a:effectLst/>
                <a:uFillTx/>
                <a:latin typeface="Calibri"/>
                <a:ea typeface="Calibri"/>
              </a:rPr>
              <a:t>Never reuse with same 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6"/>
          <p:cNvSpPr/>
          <p:nvPr/>
        </p:nvSpPr>
        <p:spPr>
          <a:xfrm>
            <a:off x="2468880" y="1417320"/>
            <a:ext cx="6217560" cy="324576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7"/>
          <p:cNvSpPr/>
          <p:nvPr/>
        </p:nvSpPr>
        <p:spPr>
          <a:xfrm>
            <a:off x="2606040" y="1554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Suppose two messages reuse the same nonce + key: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8"/>
          <p:cNvSpPr/>
          <p:nvPr/>
        </p:nvSpPr>
        <p:spPr>
          <a:xfrm>
            <a:off x="2606040" y="1965960"/>
            <a:ext cx="5943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C₁ = P₁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C₂ = P₂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5" name="Shape 9"/>
          <p:cNvSpPr/>
          <p:nvPr/>
        </p:nvSpPr>
        <p:spPr>
          <a:xfrm>
            <a:off x="3200400" y="2834640"/>
            <a:ext cx="457200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0"/>
          <p:cNvSpPr/>
          <p:nvPr/>
        </p:nvSpPr>
        <p:spPr>
          <a:xfrm>
            <a:off x="2606040" y="2926080"/>
            <a:ext cx="5943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XOR them together: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2606040" y="3246120"/>
            <a:ext cx="5943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C₁ ⊕ C₂ = P₁ ⊕ P₂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2606040" y="384048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keystream cancels, plaintext patterns leak, confidentiality broken.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457200" y="4754880"/>
            <a:ext cx="8229240" cy="453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14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5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7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Message Authentication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Detects tampering. Does not encrypt — that's still ChaCha20's job.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3"/>
          <p:cNvSpPr/>
          <p:nvPr/>
        </p:nvSpPr>
        <p:spPr>
          <a:xfrm>
            <a:off x="457200" y="1417320"/>
            <a:ext cx="8229240" cy="7768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4"/>
          <p:cNvSpPr/>
          <p:nvPr/>
        </p:nvSpPr>
        <p:spPr>
          <a:xfrm>
            <a:off x="457200" y="1417320"/>
            <a:ext cx="4114440" cy="7768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preencoded.png"/>
          <p:cNvPicPr/>
          <p:nvPr/>
        </p:nvPicPr>
        <p:blipFill>
          <a:blip r:embed="rId1"/>
          <a:stretch/>
        </p:blipFill>
        <p:spPr>
          <a:xfrm>
            <a:off x="685800" y="162756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5"/>
          <p:cNvSpPr/>
          <p:nvPr/>
        </p:nvSpPr>
        <p:spPr>
          <a:xfrm>
            <a:off x="1143000" y="141732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 → encrypts the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Image 1" descr="preencoded.png"/>
          <p:cNvPicPr/>
          <p:nvPr/>
        </p:nvPicPr>
        <p:blipFill>
          <a:blip r:embed="rId2"/>
          <a:stretch/>
        </p:blipFill>
        <p:spPr>
          <a:xfrm>
            <a:off x="4800600" y="162756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 6"/>
          <p:cNvSpPr/>
          <p:nvPr/>
        </p:nvSpPr>
        <p:spPr>
          <a:xfrm>
            <a:off x="5257800" y="141732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Poly1305 → protects it from modification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"/>
          <p:cNvSpPr/>
          <p:nvPr/>
        </p:nvSpPr>
        <p:spPr>
          <a:xfrm>
            <a:off x="457200" y="2377440"/>
            <a:ext cx="3977280" cy="2285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8"/>
          <p:cNvSpPr/>
          <p:nvPr/>
        </p:nvSpPr>
        <p:spPr>
          <a:xfrm>
            <a:off x="457200" y="2377440"/>
            <a:ext cx="54360" cy="22856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9"/>
          <p:cNvSpPr/>
          <p:nvPr/>
        </p:nvSpPr>
        <p:spPr>
          <a:xfrm>
            <a:off x="685800" y="2541960"/>
            <a:ext cx="502560" cy="50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6" name="Image 2" descr="preencoded.png"/>
          <p:cNvPicPr/>
          <p:nvPr/>
        </p:nvPicPr>
        <p:blipFill>
          <a:blip r:embed="rId3"/>
          <a:stretch/>
        </p:blipFill>
        <p:spPr>
          <a:xfrm>
            <a:off x="786240" y="2642760"/>
            <a:ext cx="301320" cy="30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Text 10"/>
          <p:cNvSpPr/>
          <p:nvPr/>
        </p:nvSpPr>
        <p:spPr>
          <a:xfrm>
            <a:off x="1325880" y="246888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Produces a 16-byte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1"/>
          <p:cNvSpPr/>
          <p:nvPr/>
        </p:nvSpPr>
        <p:spPr>
          <a:xfrm>
            <a:off x="685800" y="3154680"/>
            <a:ext cx="36572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Computed from key + ciphertext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message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Acts like a cryptographic fingerprint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2"/>
          <p:cNvSpPr/>
          <p:nvPr/>
        </p:nvSpPr>
        <p:spPr>
          <a:xfrm>
            <a:off x="4709160" y="2377440"/>
            <a:ext cx="3977280" cy="2285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3"/>
          <p:cNvSpPr/>
          <p:nvPr/>
        </p:nvSpPr>
        <p:spPr>
          <a:xfrm>
            <a:off x="4709160" y="2377440"/>
            <a:ext cx="54360" cy="22856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4"/>
          <p:cNvSpPr/>
          <p:nvPr/>
        </p:nvSpPr>
        <p:spPr>
          <a:xfrm>
            <a:off x="4937760" y="2541960"/>
            <a:ext cx="502560" cy="50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preencoded.png"/>
          <p:cNvPicPr/>
          <p:nvPr/>
        </p:nvPicPr>
        <p:blipFill>
          <a:blip r:embed="rId4"/>
          <a:stretch/>
        </p:blipFill>
        <p:spPr>
          <a:xfrm>
            <a:off x="5038200" y="2642760"/>
            <a:ext cx="301320" cy="30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5"/>
          <p:cNvSpPr/>
          <p:nvPr/>
        </p:nvSpPr>
        <p:spPr>
          <a:xfrm>
            <a:off x="5577840" y="246888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verifies the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6"/>
          <p:cNvSpPr/>
          <p:nvPr/>
        </p:nvSpPr>
        <p:spPr>
          <a:xfrm>
            <a:off x="4937760" y="3154680"/>
            <a:ext cx="36572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Recomputes the tag during decryption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tags differ → message rejected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Tampering becomes detectable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9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20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How the Tag is Created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Polynomial evaluation modulo a 130-bit prime.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457200" y="1463040"/>
            <a:ext cx="1992960" cy="2377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4"/>
          <p:cNvSpPr/>
          <p:nvPr/>
        </p:nvSpPr>
        <p:spPr>
          <a:xfrm>
            <a:off x="1225440" y="1627560"/>
            <a:ext cx="456840" cy="456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5"/>
          <p:cNvSpPr/>
          <p:nvPr/>
        </p:nvSpPr>
        <p:spPr>
          <a:xfrm>
            <a:off x="1225440" y="1627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Image 0" descr="preencoded.png"/>
          <p:cNvPicPr/>
          <p:nvPr/>
        </p:nvPicPr>
        <p:blipFill>
          <a:blip r:embed="rId1"/>
          <a:stretch/>
        </p:blipFill>
        <p:spPr>
          <a:xfrm>
            <a:off x="1248120" y="219456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Text 6"/>
          <p:cNvSpPr/>
          <p:nvPr/>
        </p:nvSpPr>
        <p:spPr>
          <a:xfrm>
            <a:off x="548640" y="2697480"/>
            <a:ext cx="181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One-time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7"/>
          <p:cNvSpPr/>
          <p:nvPr/>
        </p:nvSpPr>
        <p:spPr>
          <a:xfrm>
            <a:off x="594360" y="3063240"/>
            <a:ext cx="1718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Derived from ChaCha20 with counter = 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8"/>
          <p:cNvSpPr/>
          <p:nvPr/>
        </p:nvSpPr>
        <p:spPr>
          <a:xfrm>
            <a:off x="2569320" y="1463040"/>
            <a:ext cx="1992960" cy="2377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9"/>
          <p:cNvSpPr/>
          <p:nvPr/>
        </p:nvSpPr>
        <p:spPr>
          <a:xfrm>
            <a:off x="3337560" y="1627560"/>
            <a:ext cx="456840" cy="456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10"/>
          <p:cNvSpPr/>
          <p:nvPr/>
        </p:nvSpPr>
        <p:spPr>
          <a:xfrm>
            <a:off x="3337560" y="1627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Image 1" descr="preencoded.png"/>
          <p:cNvPicPr/>
          <p:nvPr/>
        </p:nvPicPr>
        <p:blipFill>
          <a:blip r:embed="rId2"/>
          <a:stretch/>
        </p:blipFill>
        <p:spPr>
          <a:xfrm>
            <a:off x="3360600" y="219456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Text 11"/>
          <p:cNvSpPr/>
          <p:nvPr/>
        </p:nvSpPr>
        <p:spPr>
          <a:xfrm>
            <a:off x="2660760" y="2697480"/>
            <a:ext cx="181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Split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2706480" y="3063240"/>
            <a:ext cx="1718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divided into 16-byte blocks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13"/>
          <p:cNvSpPr/>
          <p:nvPr/>
        </p:nvSpPr>
        <p:spPr>
          <a:xfrm>
            <a:off x="4681800" y="1463040"/>
            <a:ext cx="1992960" cy="2377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14"/>
          <p:cNvSpPr/>
          <p:nvPr/>
        </p:nvSpPr>
        <p:spPr>
          <a:xfrm>
            <a:off x="5449680" y="1627560"/>
            <a:ext cx="456840" cy="456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15"/>
          <p:cNvSpPr/>
          <p:nvPr/>
        </p:nvSpPr>
        <p:spPr>
          <a:xfrm>
            <a:off x="5449680" y="1627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Image 2" descr="preencoded.png"/>
          <p:cNvPicPr/>
          <p:nvPr/>
        </p:nvPicPr>
        <p:blipFill>
          <a:blip r:embed="rId3"/>
          <a:stretch/>
        </p:blipFill>
        <p:spPr>
          <a:xfrm>
            <a:off x="5472720" y="219456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 16"/>
          <p:cNvSpPr/>
          <p:nvPr/>
        </p:nvSpPr>
        <p:spPr>
          <a:xfrm>
            <a:off x="4773240" y="2697480"/>
            <a:ext cx="181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Polynomial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7"/>
          <p:cNvSpPr/>
          <p:nvPr/>
        </p:nvSpPr>
        <p:spPr>
          <a:xfrm>
            <a:off x="4818960" y="3063240"/>
            <a:ext cx="1718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Evaluate mod 2¹³⁰ − 5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(a 130-bit prime)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8"/>
          <p:cNvSpPr/>
          <p:nvPr/>
        </p:nvSpPr>
        <p:spPr>
          <a:xfrm>
            <a:off x="6793920" y="1463040"/>
            <a:ext cx="1992960" cy="2377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9"/>
          <p:cNvSpPr/>
          <p:nvPr/>
        </p:nvSpPr>
        <p:spPr>
          <a:xfrm>
            <a:off x="7562160" y="1627560"/>
            <a:ext cx="456840" cy="456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20"/>
          <p:cNvSpPr/>
          <p:nvPr/>
        </p:nvSpPr>
        <p:spPr>
          <a:xfrm>
            <a:off x="7562160" y="1627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Image 3" descr="preencoded.png"/>
          <p:cNvPicPr/>
          <p:nvPr/>
        </p:nvPicPr>
        <p:blipFill>
          <a:blip r:embed="rId4"/>
          <a:stretch/>
        </p:blipFill>
        <p:spPr>
          <a:xfrm>
            <a:off x="7584840" y="219456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Text 21"/>
          <p:cNvSpPr/>
          <p:nvPr/>
        </p:nvSpPr>
        <p:spPr>
          <a:xfrm>
            <a:off x="6885360" y="2697480"/>
            <a:ext cx="181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16-byte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22"/>
          <p:cNvSpPr/>
          <p:nvPr/>
        </p:nvSpPr>
        <p:spPr>
          <a:xfrm>
            <a:off x="6931080" y="3063240"/>
            <a:ext cx="1718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Output: highly sensitive to any change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3"/>
          <p:cNvSpPr/>
          <p:nvPr/>
        </p:nvSpPr>
        <p:spPr>
          <a:xfrm>
            <a:off x="457200" y="4114800"/>
            <a:ext cx="8229240" cy="59400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24"/>
          <p:cNvSpPr/>
          <p:nvPr/>
        </p:nvSpPr>
        <p:spPr>
          <a:xfrm>
            <a:off x="640080" y="4114800"/>
            <a:ext cx="7863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polynomial math? </a:t>
            </a:r>
            <a:r>
              <a:rPr lang="en-US" sz="115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Even a single flipped bit in the ciphertext changes the tag completely — making forgery essentially impossible.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25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26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28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 Construction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Authenticated Encryption with Associated Data — three guarantees in one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457200" y="1417320"/>
            <a:ext cx="274284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457200" y="1417320"/>
            <a:ext cx="2742840" cy="72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0" descr="preencoded.png"/>
          <p:cNvPicPr/>
          <p:nvPr/>
        </p:nvPicPr>
        <p:blipFill>
          <a:blip r:embed="rId1"/>
          <a:stretch/>
        </p:blipFill>
        <p:spPr>
          <a:xfrm>
            <a:off x="685800" y="164592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5"/>
          <p:cNvSpPr/>
          <p:nvPr/>
        </p:nvSpPr>
        <p:spPr>
          <a:xfrm>
            <a:off x="1234440" y="16275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685800" y="2194560"/>
            <a:ext cx="2331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is hidden from anyone who doesn't have the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7"/>
          <p:cNvSpPr/>
          <p:nvPr/>
        </p:nvSpPr>
        <p:spPr>
          <a:xfrm>
            <a:off x="3319200" y="1417320"/>
            <a:ext cx="274284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8"/>
          <p:cNvSpPr/>
          <p:nvPr/>
        </p:nvSpPr>
        <p:spPr>
          <a:xfrm>
            <a:off x="3319200" y="1417320"/>
            <a:ext cx="2742840" cy="727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1" descr="preencoded.png"/>
          <p:cNvPicPr/>
          <p:nvPr/>
        </p:nvPicPr>
        <p:blipFill>
          <a:blip r:embed="rId2"/>
          <a:stretch/>
        </p:blipFill>
        <p:spPr>
          <a:xfrm>
            <a:off x="3547800" y="164592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9"/>
          <p:cNvSpPr/>
          <p:nvPr/>
        </p:nvSpPr>
        <p:spPr>
          <a:xfrm>
            <a:off x="4096440" y="16275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0"/>
          <p:cNvSpPr/>
          <p:nvPr/>
        </p:nvSpPr>
        <p:spPr>
          <a:xfrm>
            <a:off x="3547800" y="2194560"/>
            <a:ext cx="2331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Any modification of the ciphertext is detected.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1"/>
          <p:cNvSpPr/>
          <p:nvPr/>
        </p:nvSpPr>
        <p:spPr>
          <a:xfrm>
            <a:off x="6181200" y="1417320"/>
            <a:ext cx="2742840" cy="1691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12"/>
          <p:cNvSpPr/>
          <p:nvPr/>
        </p:nvSpPr>
        <p:spPr>
          <a:xfrm>
            <a:off x="6181200" y="1417320"/>
            <a:ext cx="2742840" cy="727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Image 2" descr="preencoded.png"/>
          <p:cNvPicPr/>
          <p:nvPr/>
        </p:nvPicPr>
        <p:blipFill>
          <a:blip r:embed="rId3"/>
          <a:stretch/>
        </p:blipFill>
        <p:spPr>
          <a:xfrm>
            <a:off x="6409800" y="164592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Text 13"/>
          <p:cNvSpPr/>
          <p:nvPr/>
        </p:nvSpPr>
        <p:spPr>
          <a:xfrm>
            <a:off x="6958440" y="16275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4"/>
          <p:cNvSpPr/>
          <p:nvPr/>
        </p:nvSpPr>
        <p:spPr>
          <a:xfrm>
            <a:off x="6409800" y="2194560"/>
            <a:ext cx="2331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someone with the key could have produced the tag.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15"/>
          <p:cNvSpPr/>
          <p:nvPr/>
        </p:nvSpPr>
        <p:spPr>
          <a:xfrm>
            <a:off x="457200" y="3337560"/>
            <a:ext cx="8229240" cy="132552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16"/>
          <p:cNvSpPr/>
          <p:nvPr/>
        </p:nvSpPr>
        <p:spPr>
          <a:xfrm>
            <a:off x="640080" y="3474720"/>
            <a:ext cx="7863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ASSOCIATED DATA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7"/>
          <p:cNvSpPr/>
          <p:nvPr/>
        </p:nvSpPr>
        <p:spPr>
          <a:xfrm>
            <a:off x="640080" y="3749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Data that is authenticated but NOT encrypted.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8"/>
          <p:cNvSpPr/>
          <p:nvPr/>
        </p:nvSpPr>
        <p:spPr>
          <a:xfrm>
            <a:off x="640080" y="4114800"/>
            <a:ext cx="7863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Examples: message headers, usernames, timestamps, message type. The AD travels in the clear but is bound to the ciphertext via the tag, so an attacker can't swap it out without detection.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19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20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21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2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Five steps from plaintext to authenticated ciphertext.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3"/>
          <p:cNvSpPr/>
          <p:nvPr/>
        </p:nvSpPr>
        <p:spPr>
          <a:xfrm>
            <a:off x="457200" y="137160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4"/>
          <p:cNvSpPr/>
          <p:nvPr/>
        </p:nvSpPr>
        <p:spPr>
          <a:xfrm>
            <a:off x="594360" y="1463040"/>
            <a:ext cx="365400" cy="36540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5"/>
          <p:cNvSpPr/>
          <p:nvPr/>
        </p:nvSpPr>
        <p:spPr>
          <a:xfrm>
            <a:off x="594360" y="1463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6"/>
          <p:cNvSpPr/>
          <p:nvPr/>
        </p:nvSpPr>
        <p:spPr>
          <a:xfrm>
            <a:off x="1097280" y="14173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Load 256-bit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3931920" y="141732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shared secret. Same key used by sender and receiver.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8"/>
          <p:cNvSpPr/>
          <p:nvPr/>
        </p:nvSpPr>
        <p:spPr>
          <a:xfrm>
            <a:off x="457200" y="201168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594360" y="2103120"/>
            <a:ext cx="365400" cy="3654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0"/>
          <p:cNvSpPr/>
          <p:nvPr/>
        </p:nvSpPr>
        <p:spPr>
          <a:xfrm>
            <a:off x="594360" y="21031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1"/>
          <p:cNvSpPr/>
          <p:nvPr/>
        </p:nvSpPr>
        <p:spPr>
          <a:xfrm>
            <a:off x="1097280" y="20574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Generate 96-bit nonce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2"/>
          <p:cNvSpPr/>
          <p:nvPr/>
        </p:nvSpPr>
        <p:spPr>
          <a:xfrm>
            <a:off x="3931920" y="205740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Random or counter-based. Public, but must be unique per message.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3"/>
          <p:cNvSpPr/>
          <p:nvPr/>
        </p:nvSpPr>
        <p:spPr>
          <a:xfrm>
            <a:off x="457200" y="265176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4"/>
          <p:cNvSpPr/>
          <p:nvPr/>
        </p:nvSpPr>
        <p:spPr>
          <a:xfrm>
            <a:off x="594360" y="2743200"/>
            <a:ext cx="365400" cy="365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5"/>
          <p:cNvSpPr/>
          <p:nvPr/>
        </p:nvSpPr>
        <p:spPr>
          <a:xfrm>
            <a:off x="594360" y="274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16"/>
          <p:cNvSpPr/>
          <p:nvPr/>
        </p:nvSpPr>
        <p:spPr>
          <a:xfrm>
            <a:off x="1097280" y="26974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Derive Poly1305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7"/>
          <p:cNvSpPr/>
          <p:nvPr/>
        </p:nvSpPr>
        <p:spPr>
          <a:xfrm>
            <a:off x="3931920" y="269748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with counter = 0 produces the one-time MAC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18"/>
          <p:cNvSpPr/>
          <p:nvPr/>
        </p:nvSpPr>
        <p:spPr>
          <a:xfrm>
            <a:off x="457200" y="329184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19"/>
          <p:cNvSpPr/>
          <p:nvPr/>
        </p:nvSpPr>
        <p:spPr>
          <a:xfrm>
            <a:off x="594360" y="3383280"/>
            <a:ext cx="365400" cy="365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20"/>
          <p:cNvSpPr/>
          <p:nvPr/>
        </p:nvSpPr>
        <p:spPr>
          <a:xfrm>
            <a:off x="594360" y="3383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1"/>
          <p:cNvSpPr/>
          <p:nvPr/>
        </p:nvSpPr>
        <p:spPr>
          <a:xfrm>
            <a:off x="1097280" y="33375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with 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22"/>
          <p:cNvSpPr/>
          <p:nvPr/>
        </p:nvSpPr>
        <p:spPr>
          <a:xfrm>
            <a:off x="3931920" y="333756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Counter starts at 1. Plaintext XOR keystream =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23"/>
          <p:cNvSpPr/>
          <p:nvPr/>
        </p:nvSpPr>
        <p:spPr>
          <a:xfrm>
            <a:off x="457200" y="393192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24"/>
          <p:cNvSpPr/>
          <p:nvPr/>
        </p:nvSpPr>
        <p:spPr>
          <a:xfrm>
            <a:off x="594360" y="4023360"/>
            <a:ext cx="365400" cy="3654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25"/>
          <p:cNvSpPr/>
          <p:nvPr/>
        </p:nvSpPr>
        <p:spPr>
          <a:xfrm>
            <a:off x="594360" y="40233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26"/>
          <p:cNvSpPr/>
          <p:nvPr/>
        </p:nvSpPr>
        <p:spPr>
          <a:xfrm>
            <a:off x="1097280" y="3977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Compute Poly1305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7"/>
          <p:cNvSpPr/>
          <p:nvPr/>
        </p:nvSpPr>
        <p:spPr>
          <a:xfrm>
            <a:off x="3931920" y="397764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Tag covers associated data, ciphertext, and length fields.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28"/>
          <p:cNvSpPr/>
          <p:nvPr/>
        </p:nvSpPr>
        <p:spPr>
          <a:xfrm>
            <a:off x="1371600" y="4617720"/>
            <a:ext cx="6400440" cy="36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29"/>
          <p:cNvSpPr/>
          <p:nvPr/>
        </p:nvSpPr>
        <p:spPr>
          <a:xfrm>
            <a:off x="1371600" y="4681800"/>
            <a:ext cx="6400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Output: Nonce + Ciphertext + Authentication Tag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30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31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32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33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Verify before you decrypt — reject any tampered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457200" y="137160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4"/>
          <p:cNvSpPr/>
          <p:nvPr/>
        </p:nvSpPr>
        <p:spPr>
          <a:xfrm>
            <a:off x="594360" y="1463040"/>
            <a:ext cx="365400" cy="36540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5"/>
          <p:cNvSpPr/>
          <p:nvPr/>
        </p:nvSpPr>
        <p:spPr>
          <a:xfrm>
            <a:off x="594360" y="1463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6"/>
          <p:cNvSpPr/>
          <p:nvPr/>
        </p:nvSpPr>
        <p:spPr>
          <a:xfrm>
            <a:off x="1097280" y="14173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 package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7"/>
          <p:cNvSpPr/>
          <p:nvPr/>
        </p:nvSpPr>
        <p:spPr>
          <a:xfrm>
            <a:off x="3931920" y="141732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Nonce + ciphertext + authentication tag arrive together.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8"/>
          <p:cNvSpPr/>
          <p:nvPr/>
        </p:nvSpPr>
        <p:spPr>
          <a:xfrm>
            <a:off x="457200" y="201168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9"/>
          <p:cNvSpPr/>
          <p:nvPr/>
        </p:nvSpPr>
        <p:spPr>
          <a:xfrm>
            <a:off x="594360" y="2103120"/>
            <a:ext cx="365400" cy="3654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594360" y="21031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097280" y="20574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Recompute the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2"/>
          <p:cNvSpPr/>
          <p:nvPr/>
        </p:nvSpPr>
        <p:spPr>
          <a:xfrm>
            <a:off x="3931920" y="205740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 the same key and nonce to recompute Poly1305 over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3"/>
          <p:cNvSpPr/>
          <p:nvPr/>
        </p:nvSpPr>
        <p:spPr>
          <a:xfrm>
            <a:off x="457200" y="265176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14"/>
          <p:cNvSpPr/>
          <p:nvPr/>
        </p:nvSpPr>
        <p:spPr>
          <a:xfrm>
            <a:off x="594360" y="2743200"/>
            <a:ext cx="365400" cy="36540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5"/>
          <p:cNvSpPr/>
          <p:nvPr/>
        </p:nvSpPr>
        <p:spPr>
          <a:xfrm>
            <a:off x="594360" y="274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6"/>
          <p:cNvSpPr/>
          <p:nvPr/>
        </p:nvSpPr>
        <p:spPr>
          <a:xfrm>
            <a:off x="1097280" y="26974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Compare tags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7"/>
          <p:cNvSpPr/>
          <p:nvPr/>
        </p:nvSpPr>
        <p:spPr>
          <a:xfrm>
            <a:off x="3931920" y="269748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they don't match, REJECT — message was modified, drop 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18"/>
          <p:cNvSpPr/>
          <p:nvPr/>
        </p:nvSpPr>
        <p:spPr>
          <a:xfrm>
            <a:off x="457200" y="329184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19"/>
          <p:cNvSpPr/>
          <p:nvPr/>
        </p:nvSpPr>
        <p:spPr>
          <a:xfrm>
            <a:off x="594360" y="3383280"/>
            <a:ext cx="365400" cy="365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20"/>
          <p:cNvSpPr/>
          <p:nvPr/>
        </p:nvSpPr>
        <p:spPr>
          <a:xfrm>
            <a:off x="594360" y="3383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1"/>
          <p:cNvSpPr/>
          <p:nvPr/>
        </p:nvSpPr>
        <p:spPr>
          <a:xfrm>
            <a:off x="1097280" y="333756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Regenerate keystream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2"/>
          <p:cNvSpPr/>
          <p:nvPr/>
        </p:nvSpPr>
        <p:spPr>
          <a:xfrm>
            <a:off x="3931920" y="333756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Same key + same nonce + same counter produces the same keystream.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3"/>
          <p:cNvSpPr/>
          <p:nvPr/>
        </p:nvSpPr>
        <p:spPr>
          <a:xfrm>
            <a:off x="457200" y="3931920"/>
            <a:ext cx="8229240" cy="548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24"/>
          <p:cNvSpPr/>
          <p:nvPr/>
        </p:nvSpPr>
        <p:spPr>
          <a:xfrm>
            <a:off x="594360" y="4023360"/>
            <a:ext cx="365400" cy="3654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25"/>
          <p:cNvSpPr/>
          <p:nvPr/>
        </p:nvSpPr>
        <p:spPr>
          <a:xfrm>
            <a:off x="594360" y="40233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6"/>
          <p:cNvSpPr/>
          <p:nvPr/>
        </p:nvSpPr>
        <p:spPr>
          <a:xfrm>
            <a:off x="1097280" y="3977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Recover plaintext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7"/>
          <p:cNvSpPr/>
          <p:nvPr/>
        </p:nvSpPr>
        <p:spPr>
          <a:xfrm>
            <a:off x="3931920" y="3977640"/>
            <a:ext cx="4617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XOR keystream = original plaintext. Done.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28"/>
          <p:cNvSpPr/>
          <p:nvPr/>
        </p:nvSpPr>
        <p:spPr>
          <a:xfrm>
            <a:off x="1371600" y="4617720"/>
            <a:ext cx="6400440" cy="36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9"/>
          <p:cNvSpPr/>
          <p:nvPr/>
        </p:nvSpPr>
        <p:spPr>
          <a:xfrm>
            <a:off x="1371600" y="4681800"/>
            <a:ext cx="6400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Verify, then decrypt — only authenticated messages reach the app.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30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31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32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3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Hybrid Encryption Design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RSA solves key distribution. ChaCha20-Poly1305 handles the messages.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3"/>
          <p:cNvSpPr/>
          <p:nvPr/>
        </p:nvSpPr>
        <p:spPr>
          <a:xfrm>
            <a:off x="457200" y="1417320"/>
            <a:ext cx="40687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457200" y="1417320"/>
            <a:ext cx="4068720" cy="4568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5"/>
          <p:cNvSpPr/>
          <p:nvPr/>
        </p:nvSpPr>
        <p:spPr>
          <a:xfrm>
            <a:off x="640080" y="1417320"/>
            <a:ext cx="3702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 PROTECTION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6"/>
          <p:cNvSpPr/>
          <p:nvPr/>
        </p:nvSpPr>
        <p:spPr>
          <a:xfrm>
            <a:off x="685800" y="201168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RSA-2048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7"/>
          <p:cNvSpPr/>
          <p:nvPr/>
        </p:nvSpPr>
        <p:spPr>
          <a:xfrm>
            <a:off x="685800" y="2606040"/>
            <a:ext cx="365724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key encrypts the symmetric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Private key decrypts on the receiver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Slow, but only runs once per session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Solves the key-distribution problem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8"/>
          <p:cNvSpPr/>
          <p:nvPr/>
        </p:nvSpPr>
        <p:spPr>
          <a:xfrm>
            <a:off x="4617720" y="1417320"/>
            <a:ext cx="40687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Shape 9"/>
          <p:cNvSpPr/>
          <p:nvPr/>
        </p:nvSpPr>
        <p:spPr>
          <a:xfrm>
            <a:off x="4617720" y="1417320"/>
            <a:ext cx="4068720" cy="456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0"/>
          <p:cNvSpPr/>
          <p:nvPr/>
        </p:nvSpPr>
        <p:spPr>
          <a:xfrm>
            <a:off x="4800600" y="1417320"/>
            <a:ext cx="3702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 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1"/>
          <p:cNvSpPr/>
          <p:nvPr/>
        </p:nvSpPr>
        <p:spPr>
          <a:xfrm>
            <a:off x="4846320" y="201168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12"/>
          <p:cNvSpPr/>
          <p:nvPr/>
        </p:nvSpPr>
        <p:spPr>
          <a:xfrm>
            <a:off x="4846320" y="2606040"/>
            <a:ext cx="365724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Encrypts plaintext with the shared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Produces ciphertext + authentication tag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Fast — built for high message volume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for every message after handshake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1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1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1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1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Message Flow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happens between typing a message and the recipient reading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3"/>
          <p:cNvSpPr/>
          <p:nvPr/>
        </p:nvSpPr>
        <p:spPr>
          <a:xfrm>
            <a:off x="4572000" y="1463040"/>
            <a:ext cx="360" cy="3246120"/>
          </a:xfrm>
          <a:prstGeom prst="line">
            <a:avLst/>
          </a:prstGeom>
          <a:ln w="2556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4"/>
          <p:cNvSpPr/>
          <p:nvPr/>
        </p:nvSpPr>
        <p:spPr>
          <a:xfrm>
            <a:off x="4325040" y="1554480"/>
            <a:ext cx="493560" cy="49356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5"/>
          <p:cNvSpPr/>
          <p:nvPr/>
        </p:nvSpPr>
        <p:spPr>
          <a:xfrm>
            <a:off x="4325040" y="155448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6"/>
          <p:cNvSpPr/>
          <p:nvPr/>
        </p:nvSpPr>
        <p:spPr>
          <a:xfrm>
            <a:off x="457200" y="1508760"/>
            <a:ext cx="3748680" cy="566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7"/>
          <p:cNvSpPr/>
          <p:nvPr/>
        </p:nvSpPr>
        <p:spPr>
          <a:xfrm>
            <a:off x="4151520" y="1508760"/>
            <a:ext cx="54360" cy="566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8"/>
          <p:cNvSpPr/>
          <p:nvPr/>
        </p:nvSpPr>
        <p:spPr>
          <a:xfrm>
            <a:off x="594360" y="150876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User types a message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9"/>
          <p:cNvSpPr/>
          <p:nvPr/>
        </p:nvSpPr>
        <p:spPr>
          <a:xfrm>
            <a:off x="594360" y="177408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exists only in the sender's app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10"/>
          <p:cNvSpPr/>
          <p:nvPr/>
        </p:nvSpPr>
        <p:spPr>
          <a:xfrm>
            <a:off x="4325040" y="2212920"/>
            <a:ext cx="493560" cy="493560"/>
          </a:xfrm>
          <a:prstGeom prst="ellipse">
            <a:avLst/>
          </a:prstGeom>
          <a:solidFill>
            <a:srgbClr val="8b5cf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11"/>
          <p:cNvSpPr/>
          <p:nvPr/>
        </p:nvSpPr>
        <p:spPr>
          <a:xfrm>
            <a:off x="4325040" y="221292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12"/>
          <p:cNvSpPr/>
          <p:nvPr/>
        </p:nvSpPr>
        <p:spPr>
          <a:xfrm>
            <a:off x="4937760" y="2167200"/>
            <a:ext cx="3748680" cy="566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13"/>
          <p:cNvSpPr/>
          <p:nvPr/>
        </p:nvSpPr>
        <p:spPr>
          <a:xfrm>
            <a:off x="4937760" y="2167200"/>
            <a:ext cx="54360" cy="5666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4"/>
          <p:cNvSpPr/>
          <p:nvPr/>
        </p:nvSpPr>
        <p:spPr>
          <a:xfrm>
            <a:off x="5074920" y="216720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on the client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5"/>
          <p:cNvSpPr/>
          <p:nvPr/>
        </p:nvSpPr>
        <p:spPr>
          <a:xfrm>
            <a:off x="5074920" y="243216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produces ciphertext + tag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16"/>
          <p:cNvSpPr/>
          <p:nvPr/>
        </p:nvSpPr>
        <p:spPr>
          <a:xfrm>
            <a:off x="4325040" y="2871360"/>
            <a:ext cx="493560" cy="49356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17"/>
          <p:cNvSpPr/>
          <p:nvPr/>
        </p:nvSpPr>
        <p:spPr>
          <a:xfrm>
            <a:off x="4325040" y="287136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8"/>
          <p:cNvSpPr/>
          <p:nvPr/>
        </p:nvSpPr>
        <p:spPr>
          <a:xfrm>
            <a:off x="457200" y="2825640"/>
            <a:ext cx="3748680" cy="566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19"/>
          <p:cNvSpPr/>
          <p:nvPr/>
        </p:nvSpPr>
        <p:spPr>
          <a:xfrm>
            <a:off x="4151520" y="2825640"/>
            <a:ext cx="54360" cy="5666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20"/>
          <p:cNvSpPr/>
          <p:nvPr/>
        </p:nvSpPr>
        <p:spPr>
          <a:xfrm>
            <a:off x="594360" y="282564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Send to server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1"/>
          <p:cNvSpPr/>
          <p:nvPr/>
        </p:nvSpPr>
        <p:spPr>
          <a:xfrm>
            <a:off x="594360" y="309060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ciphertext crosses the network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22"/>
          <p:cNvSpPr/>
          <p:nvPr/>
        </p:nvSpPr>
        <p:spPr>
          <a:xfrm>
            <a:off x="4325040" y="3529440"/>
            <a:ext cx="493560" cy="49356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23"/>
          <p:cNvSpPr/>
          <p:nvPr/>
        </p:nvSpPr>
        <p:spPr>
          <a:xfrm>
            <a:off x="4325040" y="352944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24"/>
          <p:cNvSpPr/>
          <p:nvPr/>
        </p:nvSpPr>
        <p:spPr>
          <a:xfrm>
            <a:off x="4937760" y="3483720"/>
            <a:ext cx="3748680" cy="566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25"/>
          <p:cNvSpPr/>
          <p:nvPr/>
        </p:nvSpPr>
        <p:spPr>
          <a:xfrm>
            <a:off x="4937760" y="3483720"/>
            <a:ext cx="54360" cy="5666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6"/>
          <p:cNvSpPr/>
          <p:nvPr/>
        </p:nvSpPr>
        <p:spPr>
          <a:xfrm>
            <a:off x="5074920" y="348372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forwards 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27"/>
          <p:cNvSpPr/>
          <p:nvPr/>
        </p:nvSpPr>
        <p:spPr>
          <a:xfrm>
            <a:off x="5074920" y="374904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cannot read it — relays opaque bytes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8"/>
          <p:cNvSpPr/>
          <p:nvPr/>
        </p:nvSpPr>
        <p:spPr>
          <a:xfrm>
            <a:off x="4325040" y="4187880"/>
            <a:ext cx="493560" cy="49356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9"/>
          <p:cNvSpPr/>
          <p:nvPr/>
        </p:nvSpPr>
        <p:spPr>
          <a:xfrm>
            <a:off x="4325040" y="418788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30"/>
          <p:cNvSpPr/>
          <p:nvPr/>
        </p:nvSpPr>
        <p:spPr>
          <a:xfrm>
            <a:off x="457200" y="4142160"/>
            <a:ext cx="3748680" cy="5666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31"/>
          <p:cNvSpPr/>
          <p:nvPr/>
        </p:nvSpPr>
        <p:spPr>
          <a:xfrm>
            <a:off x="4151520" y="4142160"/>
            <a:ext cx="54360" cy="566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32"/>
          <p:cNvSpPr/>
          <p:nvPr/>
        </p:nvSpPr>
        <p:spPr>
          <a:xfrm>
            <a:off x="594360" y="414216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decrypts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33"/>
          <p:cNvSpPr/>
          <p:nvPr/>
        </p:nvSpPr>
        <p:spPr>
          <a:xfrm>
            <a:off x="594360" y="4407480"/>
            <a:ext cx="3474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recovered on the receiver's device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34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Shape 35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36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7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Encrypted vs. Unencrypted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the server actually sees in each mode of our application.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"/>
          <p:cNvSpPr/>
          <p:nvPr/>
        </p:nvSpPr>
        <p:spPr>
          <a:xfrm>
            <a:off x="457200" y="1417320"/>
            <a:ext cx="40687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Shape 4"/>
          <p:cNvSpPr/>
          <p:nvPr/>
        </p:nvSpPr>
        <p:spPr>
          <a:xfrm>
            <a:off x="457200" y="1417320"/>
            <a:ext cx="4068720" cy="4568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6" name="Image 0" descr="preencoded.png"/>
          <p:cNvPicPr/>
          <p:nvPr/>
        </p:nvPicPr>
        <p:blipFill>
          <a:blip r:embed="rId1"/>
          <a:stretch/>
        </p:blipFill>
        <p:spPr>
          <a:xfrm>
            <a:off x="640080" y="150876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 5"/>
          <p:cNvSpPr/>
          <p:nvPr/>
        </p:nvSpPr>
        <p:spPr>
          <a:xfrm>
            <a:off x="1005840" y="14173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6"/>
          <p:cNvSpPr/>
          <p:nvPr/>
        </p:nvSpPr>
        <p:spPr>
          <a:xfrm>
            <a:off x="640080" y="2011680"/>
            <a:ext cx="3702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plaintext: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7"/>
          <p:cNvSpPr/>
          <p:nvPr/>
        </p:nvSpPr>
        <p:spPr>
          <a:xfrm>
            <a:off x="640080" y="2331720"/>
            <a:ext cx="3702960" cy="219420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8"/>
          <p:cNvSpPr/>
          <p:nvPr/>
        </p:nvSpPr>
        <p:spPr>
          <a:xfrm>
            <a:off x="777240" y="2468880"/>
            <a:ext cx="352008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hey, are we still on?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bob:   yeah, 6pm at the cafe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bring my laptop?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fecaca"/>
                </a:solidFill>
                <a:effectLst/>
                <a:uFillTx/>
                <a:latin typeface="Calibri"/>
                <a:ea typeface="Consolas"/>
              </a:rPr>
              <a:t>&gt; bob:   yes — pwd is hunter2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          ↑ leaked to anyone listening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51" name="Shape 9"/>
          <p:cNvSpPr/>
          <p:nvPr/>
        </p:nvSpPr>
        <p:spPr>
          <a:xfrm>
            <a:off x="4617720" y="1417320"/>
            <a:ext cx="40687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0"/>
          <p:cNvSpPr/>
          <p:nvPr/>
        </p:nvSpPr>
        <p:spPr>
          <a:xfrm>
            <a:off x="4617720" y="1417320"/>
            <a:ext cx="4068720" cy="456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3" name="Image 1" descr="preencoded.png"/>
          <p:cNvPicPr/>
          <p:nvPr/>
        </p:nvPicPr>
        <p:blipFill>
          <a:blip r:embed="rId2"/>
          <a:stretch/>
        </p:blipFill>
        <p:spPr>
          <a:xfrm>
            <a:off x="4800600" y="150876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4" name="Text 11"/>
          <p:cNvSpPr/>
          <p:nvPr/>
        </p:nvSpPr>
        <p:spPr>
          <a:xfrm>
            <a:off x="5166360" y="141732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2"/>
          <p:cNvSpPr/>
          <p:nvPr/>
        </p:nvSpPr>
        <p:spPr>
          <a:xfrm>
            <a:off x="4800600" y="2011680"/>
            <a:ext cx="3702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ciphertext: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13"/>
          <p:cNvSpPr/>
          <p:nvPr/>
        </p:nvSpPr>
        <p:spPr>
          <a:xfrm>
            <a:off x="4800600" y="2331720"/>
            <a:ext cx="3702960" cy="219420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14"/>
          <p:cNvSpPr/>
          <p:nvPr/>
        </p:nvSpPr>
        <p:spPr>
          <a:xfrm>
            <a:off x="4937760" y="2468880"/>
            <a:ext cx="3520080" cy="19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0xA3F2 91BC 4D3E 8801…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0x7E22 0918 BB44 1A0C…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0xC891 33A1 F2E0 7755…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0x190D 4422 BA17 9988…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          ↑ true end-to-end privacy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58" name="Shape 15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16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7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8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1"/>
          <p:cNvSpPr/>
          <p:nvPr/>
        </p:nvSpPr>
        <p:spPr>
          <a:xfrm>
            <a:off x="713160" y="3657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Security Properties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"/>
          <p:cNvSpPr/>
          <p:nvPr/>
        </p:nvSpPr>
        <p:spPr>
          <a:xfrm>
            <a:off x="713160" y="868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What our system actually guarantees.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3"/>
          <p:cNvSpPr/>
          <p:nvPr/>
        </p:nvSpPr>
        <p:spPr>
          <a:xfrm>
            <a:off x="457200" y="1463040"/>
            <a:ext cx="4068720" cy="15541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4"/>
          <p:cNvSpPr/>
          <p:nvPr/>
        </p:nvSpPr>
        <p:spPr>
          <a:xfrm>
            <a:off x="457200" y="1463040"/>
            <a:ext cx="72720" cy="15541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Shape 5"/>
          <p:cNvSpPr/>
          <p:nvPr/>
        </p:nvSpPr>
        <p:spPr>
          <a:xfrm>
            <a:off x="731520" y="1737360"/>
            <a:ext cx="639720" cy="63972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8" name="Image 0" descr="preencoded.png"/>
          <p:cNvPicPr/>
          <p:nvPr/>
        </p:nvPicPr>
        <p:blipFill>
          <a:blip r:embed="rId1"/>
          <a:stretch/>
        </p:blipFill>
        <p:spPr>
          <a:xfrm>
            <a:off x="841320" y="184716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9" name="Text 6"/>
          <p:cNvSpPr/>
          <p:nvPr/>
        </p:nvSpPr>
        <p:spPr>
          <a:xfrm>
            <a:off x="1554480" y="1691640"/>
            <a:ext cx="2834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7"/>
          <p:cNvSpPr/>
          <p:nvPr/>
        </p:nvSpPr>
        <p:spPr>
          <a:xfrm>
            <a:off x="1554480" y="214884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is hidden from everyone except the holders of the key.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Shape 8"/>
          <p:cNvSpPr/>
          <p:nvPr/>
        </p:nvSpPr>
        <p:spPr>
          <a:xfrm>
            <a:off x="4617720" y="1463040"/>
            <a:ext cx="4068720" cy="15541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9"/>
          <p:cNvSpPr/>
          <p:nvPr/>
        </p:nvSpPr>
        <p:spPr>
          <a:xfrm>
            <a:off x="4617720" y="1463040"/>
            <a:ext cx="72720" cy="1554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10"/>
          <p:cNvSpPr/>
          <p:nvPr/>
        </p:nvSpPr>
        <p:spPr>
          <a:xfrm>
            <a:off x="4892040" y="1737360"/>
            <a:ext cx="639720" cy="639720"/>
          </a:xfrm>
          <a:prstGeom prst="ellipse">
            <a:avLst/>
          </a:prstGeom>
          <a:solidFill>
            <a:srgbClr val="8b5cf6">
              <a:alpha val="20000"/>
            </a:srgbClr>
          </a:solidFill>
          <a:ln w="126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4" name="Image 1" descr="preencoded.png"/>
          <p:cNvPicPr/>
          <p:nvPr/>
        </p:nvPicPr>
        <p:blipFill>
          <a:blip r:embed="rId2"/>
          <a:stretch/>
        </p:blipFill>
        <p:spPr>
          <a:xfrm>
            <a:off x="5001840" y="184716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5" name="Text 11"/>
          <p:cNvSpPr/>
          <p:nvPr/>
        </p:nvSpPr>
        <p:spPr>
          <a:xfrm>
            <a:off x="5715000" y="1691640"/>
            <a:ext cx="2834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5715000" y="214884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Any modification of the ciphertext is detected by the Poly1305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457200" y="3108960"/>
            <a:ext cx="4068720" cy="15541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14"/>
          <p:cNvSpPr/>
          <p:nvPr/>
        </p:nvSpPr>
        <p:spPr>
          <a:xfrm>
            <a:off x="457200" y="3108960"/>
            <a:ext cx="72720" cy="15541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Shape 15"/>
          <p:cNvSpPr/>
          <p:nvPr/>
        </p:nvSpPr>
        <p:spPr>
          <a:xfrm>
            <a:off x="731520" y="3383280"/>
            <a:ext cx="639720" cy="63972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0" name="Image 2" descr="preencoded.png"/>
          <p:cNvPicPr/>
          <p:nvPr/>
        </p:nvPicPr>
        <p:blipFill>
          <a:blip r:embed="rId3"/>
          <a:stretch/>
        </p:blipFill>
        <p:spPr>
          <a:xfrm>
            <a:off x="841320" y="349308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16"/>
          <p:cNvSpPr/>
          <p:nvPr/>
        </p:nvSpPr>
        <p:spPr>
          <a:xfrm>
            <a:off x="1554480" y="3337560"/>
            <a:ext cx="2834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17"/>
          <p:cNvSpPr/>
          <p:nvPr/>
        </p:nvSpPr>
        <p:spPr>
          <a:xfrm>
            <a:off x="1554480" y="379476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Only someone with the key could have produced a valid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18"/>
          <p:cNvSpPr/>
          <p:nvPr/>
        </p:nvSpPr>
        <p:spPr>
          <a:xfrm>
            <a:off x="4617720" y="3108960"/>
            <a:ext cx="4068720" cy="155412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19"/>
          <p:cNvSpPr/>
          <p:nvPr/>
        </p:nvSpPr>
        <p:spPr>
          <a:xfrm>
            <a:off x="4617720" y="3108960"/>
            <a:ext cx="72720" cy="15541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20"/>
          <p:cNvSpPr/>
          <p:nvPr/>
        </p:nvSpPr>
        <p:spPr>
          <a:xfrm>
            <a:off x="4892040" y="3383280"/>
            <a:ext cx="639720" cy="639720"/>
          </a:xfrm>
          <a:prstGeom prst="ellipse">
            <a:avLst/>
          </a:prstGeom>
          <a:solidFill>
            <a:srgbClr val="f97066">
              <a:alpha val="20000"/>
            </a:srgbClr>
          </a:solidFill>
          <a:ln w="12600">
            <a:solidFill>
              <a:srgbClr val="f970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6" name="Image 3" descr="preencoded.png"/>
          <p:cNvPicPr/>
          <p:nvPr/>
        </p:nvPicPr>
        <p:blipFill>
          <a:blip r:embed="rId4"/>
          <a:stretch/>
        </p:blipFill>
        <p:spPr>
          <a:xfrm>
            <a:off x="5001840" y="349308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1"/>
          <p:cNvSpPr/>
          <p:nvPr/>
        </p:nvSpPr>
        <p:spPr>
          <a:xfrm>
            <a:off x="5715000" y="3337560"/>
            <a:ext cx="2834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Side-channel resistance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22"/>
          <p:cNvSpPr/>
          <p:nvPr/>
        </p:nvSpPr>
        <p:spPr>
          <a:xfrm>
            <a:off x="5715000" y="379476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Constant-time ARX operations resist timing and cache attacks.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2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2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2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2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Real-World Applications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is the default in many of the protocols you use every day.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3"/>
          <p:cNvSpPr/>
          <p:nvPr/>
        </p:nvSpPr>
        <p:spPr>
          <a:xfrm>
            <a:off x="457200" y="141732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457200" y="1417320"/>
            <a:ext cx="2697120" cy="72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640080" y="158184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WireGuard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6"/>
          <p:cNvSpPr/>
          <p:nvPr/>
        </p:nvSpPr>
        <p:spPr>
          <a:xfrm>
            <a:off x="640080" y="201168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Modern VPN protocol — uses ChaCha20-Poly1305 as its sole cipher.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7"/>
          <p:cNvSpPr/>
          <p:nvPr/>
        </p:nvSpPr>
        <p:spPr>
          <a:xfrm>
            <a:off x="3273480" y="141732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Shape 8"/>
          <p:cNvSpPr/>
          <p:nvPr/>
        </p:nvSpPr>
        <p:spPr>
          <a:xfrm>
            <a:off x="3273480" y="1417320"/>
            <a:ext cx="2697120" cy="727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9"/>
          <p:cNvSpPr/>
          <p:nvPr/>
        </p:nvSpPr>
        <p:spPr>
          <a:xfrm>
            <a:off x="3456360" y="158184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TLS 1.3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10"/>
          <p:cNvSpPr/>
          <p:nvPr/>
        </p:nvSpPr>
        <p:spPr>
          <a:xfrm>
            <a:off x="3456360" y="201168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RFC 7905 cipher suite. Preferred when AES hardware is unavailable.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11"/>
          <p:cNvSpPr/>
          <p:nvPr/>
        </p:nvSpPr>
        <p:spPr>
          <a:xfrm>
            <a:off x="6089760" y="141732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Shape 12"/>
          <p:cNvSpPr/>
          <p:nvPr/>
        </p:nvSpPr>
        <p:spPr>
          <a:xfrm>
            <a:off x="6089760" y="1417320"/>
            <a:ext cx="2697120" cy="727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3"/>
          <p:cNvSpPr/>
          <p:nvPr/>
        </p:nvSpPr>
        <p:spPr>
          <a:xfrm>
            <a:off x="6272640" y="158184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QUIC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14"/>
          <p:cNvSpPr/>
          <p:nvPr/>
        </p:nvSpPr>
        <p:spPr>
          <a:xfrm>
            <a:off x="6272640" y="201168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HTTP/3's transport protocol. Mandates ChaCha20-Poly1305 support.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15"/>
          <p:cNvSpPr/>
          <p:nvPr/>
        </p:nvSpPr>
        <p:spPr>
          <a:xfrm>
            <a:off x="457200" y="299916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16"/>
          <p:cNvSpPr/>
          <p:nvPr/>
        </p:nvSpPr>
        <p:spPr>
          <a:xfrm>
            <a:off x="457200" y="2999160"/>
            <a:ext cx="2697120" cy="727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17"/>
          <p:cNvSpPr/>
          <p:nvPr/>
        </p:nvSpPr>
        <p:spPr>
          <a:xfrm>
            <a:off x="640080" y="316368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OpenSSH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18"/>
          <p:cNvSpPr/>
          <p:nvPr/>
        </p:nvSpPr>
        <p:spPr>
          <a:xfrm>
            <a:off x="640080" y="359352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Default cipher in modern OpenSSH builds (chacha20-poly1305@openssh.com).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9"/>
          <p:cNvSpPr/>
          <p:nvPr/>
        </p:nvSpPr>
        <p:spPr>
          <a:xfrm>
            <a:off x="3273480" y="299916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3273480" y="2999160"/>
            <a:ext cx="2697120" cy="72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21"/>
          <p:cNvSpPr/>
          <p:nvPr/>
        </p:nvSpPr>
        <p:spPr>
          <a:xfrm>
            <a:off x="3456360" y="316368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Signal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22"/>
          <p:cNvSpPr/>
          <p:nvPr/>
        </p:nvSpPr>
        <p:spPr>
          <a:xfrm>
            <a:off x="3456360" y="359352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End-to-end messaging — same family of constructions for confidentiality.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Shape 23"/>
          <p:cNvSpPr/>
          <p:nvPr/>
        </p:nvSpPr>
        <p:spPr>
          <a:xfrm>
            <a:off x="6089760" y="2999160"/>
            <a:ext cx="2697120" cy="14626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Shape 24"/>
          <p:cNvSpPr/>
          <p:nvPr/>
        </p:nvSpPr>
        <p:spPr>
          <a:xfrm>
            <a:off x="6089760" y="2999160"/>
            <a:ext cx="2697120" cy="727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25"/>
          <p:cNvSpPr/>
          <p:nvPr/>
        </p:nvSpPr>
        <p:spPr>
          <a:xfrm>
            <a:off x="6272640" y="316368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WhatsApp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26"/>
          <p:cNvSpPr/>
          <p:nvPr/>
        </p:nvSpPr>
        <p:spPr>
          <a:xfrm>
            <a:off x="6272640" y="3593520"/>
            <a:ext cx="2331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Built on Signal Protocol — encrypts billions of messages per day.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27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Shape 28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29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30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Challenges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Things we wrestled with along the way.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3"/>
          <p:cNvSpPr/>
          <p:nvPr/>
        </p:nvSpPr>
        <p:spPr>
          <a:xfrm>
            <a:off x="457200" y="1417320"/>
            <a:ext cx="204804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Shape 4"/>
          <p:cNvSpPr/>
          <p:nvPr/>
        </p:nvSpPr>
        <p:spPr>
          <a:xfrm>
            <a:off x="1092600" y="1691640"/>
            <a:ext cx="776880" cy="77688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5"/>
          <p:cNvSpPr/>
          <p:nvPr/>
        </p:nvSpPr>
        <p:spPr>
          <a:xfrm>
            <a:off x="1092600" y="16916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6"/>
          <p:cNvSpPr/>
          <p:nvPr/>
        </p:nvSpPr>
        <p:spPr>
          <a:xfrm>
            <a:off x="594360" y="2606040"/>
            <a:ext cx="1773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Coordinating RSA Key Exchange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7"/>
          <p:cNvSpPr/>
          <p:nvPr/>
        </p:nvSpPr>
        <p:spPr>
          <a:xfrm>
            <a:off x="640080" y="338328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Getting both clients to exchange public keys before any encrypted message could flow.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8"/>
          <p:cNvSpPr/>
          <p:nvPr/>
        </p:nvSpPr>
        <p:spPr>
          <a:xfrm>
            <a:off x="2624400" y="1417320"/>
            <a:ext cx="204804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9"/>
          <p:cNvSpPr/>
          <p:nvPr/>
        </p:nvSpPr>
        <p:spPr>
          <a:xfrm>
            <a:off x="3259800" y="1691640"/>
            <a:ext cx="776880" cy="7768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10"/>
          <p:cNvSpPr/>
          <p:nvPr/>
        </p:nvSpPr>
        <p:spPr>
          <a:xfrm>
            <a:off x="3259800" y="16916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1"/>
          <p:cNvSpPr/>
          <p:nvPr/>
        </p:nvSpPr>
        <p:spPr>
          <a:xfrm>
            <a:off x="2761560" y="2606040"/>
            <a:ext cx="1773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Generating a unique nonce per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12"/>
          <p:cNvSpPr/>
          <p:nvPr/>
        </p:nvSpPr>
        <p:spPr>
          <a:xfrm>
            <a:off x="2807280" y="338328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Ensuring no nonce was ever reused under the same key — a single slip would break confidentiality.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13"/>
          <p:cNvSpPr/>
          <p:nvPr/>
        </p:nvSpPr>
        <p:spPr>
          <a:xfrm>
            <a:off x="4791600" y="1417320"/>
            <a:ext cx="204804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Shape 14"/>
          <p:cNvSpPr/>
          <p:nvPr/>
        </p:nvSpPr>
        <p:spPr>
          <a:xfrm>
            <a:off x="5427000" y="1691640"/>
            <a:ext cx="776880" cy="77688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15"/>
          <p:cNvSpPr/>
          <p:nvPr/>
        </p:nvSpPr>
        <p:spPr>
          <a:xfrm>
            <a:off x="5427000" y="16916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16"/>
          <p:cNvSpPr/>
          <p:nvPr/>
        </p:nvSpPr>
        <p:spPr>
          <a:xfrm>
            <a:off x="4928760" y="2606040"/>
            <a:ext cx="1773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Handling authentication failures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7"/>
          <p:cNvSpPr/>
          <p:nvPr/>
        </p:nvSpPr>
        <p:spPr>
          <a:xfrm>
            <a:off x="4974480" y="338328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Deciding how to respond when Poly1305 verification fails: drop, log, or alert?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18"/>
          <p:cNvSpPr/>
          <p:nvPr/>
        </p:nvSpPr>
        <p:spPr>
          <a:xfrm>
            <a:off x="6958440" y="1417320"/>
            <a:ext cx="204804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Shape 19"/>
          <p:cNvSpPr/>
          <p:nvPr/>
        </p:nvSpPr>
        <p:spPr>
          <a:xfrm>
            <a:off x="7594200" y="1691640"/>
            <a:ext cx="776880" cy="7768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20"/>
          <p:cNvSpPr/>
          <p:nvPr/>
        </p:nvSpPr>
        <p:spPr>
          <a:xfrm>
            <a:off x="7594200" y="16916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21"/>
          <p:cNvSpPr/>
          <p:nvPr/>
        </p:nvSpPr>
        <p:spPr>
          <a:xfrm>
            <a:off x="7095600" y="2606040"/>
            <a:ext cx="1773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Debugging ciphertext over sockets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2"/>
          <p:cNvSpPr/>
          <p:nvPr/>
        </p:nvSpPr>
        <p:spPr>
          <a:xfrm>
            <a:off x="7141320" y="3383280"/>
            <a:ext cx="1682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Unreadable bytes make ordinary print-debugging useless — needed careful tracing.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23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24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25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26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Results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we built and verified.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3"/>
          <p:cNvSpPr/>
          <p:nvPr/>
        </p:nvSpPr>
        <p:spPr>
          <a:xfrm>
            <a:off x="457200" y="14173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Shape 4"/>
          <p:cNvSpPr/>
          <p:nvPr/>
        </p:nvSpPr>
        <p:spPr>
          <a:xfrm>
            <a:off x="457200" y="1417320"/>
            <a:ext cx="72720" cy="594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6" name="Image 0" descr="preencoded.png"/>
          <p:cNvPicPr/>
          <p:nvPr/>
        </p:nvPicPr>
        <p:blipFill>
          <a:blip r:embed="rId1"/>
          <a:stretch/>
        </p:blipFill>
        <p:spPr>
          <a:xfrm>
            <a:off x="685800" y="15361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7" name="Text 5"/>
          <p:cNvSpPr/>
          <p:nvPr/>
        </p:nvSpPr>
        <p:spPr>
          <a:xfrm>
            <a:off x="1188720" y="1417320"/>
            <a:ext cx="7406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Built a functional encrypted client-server chat system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6"/>
          <p:cNvSpPr/>
          <p:nvPr/>
        </p:nvSpPr>
        <p:spPr>
          <a:xfrm>
            <a:off x="457200" y="21031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Shape 7"/>
          <p:cNvSpPr/>
          <p:nvPr/>
        </p:nvSpPr>
        <p:spPr>
          <a:xfrm>
            <a:off x="457200" y="2103120"/>
            <a:ext cx="72720" cy="594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preencoded.png"/>
          <p:cNvPicPr/>
          <p:nvPr/>
        </p:nvPicPr>
        <p:blipFill>
          <a:blip r:embed="rId2"/>
          <a:stretch/>
        </p:blipFill>
        <p:spPr>
          <a:xfrm>
            <a:off x="685800" y="22219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8"/>
          <p:cNvSpPr/>
          <p:nvPr/>
        </p:nvSpPr>
        <p:spPr>
          <a:xfrm>
            <a:off x="1188720" y="2103120"/>
            <a:ext cx="7406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Verified that the server only ever sees ciphertext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9"/>
          <p:cNvSpPr/>
          <p:nvPr/>
        </p:nvSpPr>
        <p:spPr>
          <a:xfrm>
            <a:off x="457200" y="27889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Shape 10"/>
          <p:cNvSpPr/>
          <p:nvPr/>
        </p:nvSpPr>
        <p:spPr>
          <a:xfrm>
            <a:off x="457200" y="2788920"/>
            <a:ext cx="72720" cy="594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4" name="Image 2" descr="preencoded.png"/>
          <p:cNvPicPr/>
          <p:nvPr/>
        </p:nvPicPr>
        <p:blipFill>
          <a:blip r:embed="rId3"/>
          <a:stretch/>
        </p:blipFill>
        <p:spPr>
          <a:xfrm>
            <a:off x="685800" y="29077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5" name="Text 11"/>
          <p:cNvSpPr/>
          <p:nvPr/>
        </p:nvSpPr>
        <p:spPr>
          <a:xfrm>
            <a:off x="1188720" y="2788920"/>
            <a:ext cx="7406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Successfully decrypted messages only on the intended recipient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2"/>
          <p:cNvSpPr/>
          <p:nvPr/>
        </p:nvSpPr>
        <p:spPr>
          <a:xfrm>
            <a:off x="457200" y="34747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Shape 13"/>
          <p:cNvSpPr/>
          <p:nvPr/>
        </p:nvSpPr>
        <p:spPr>
          <a:xfrm>
            <a:off x="457200" y="3474720"/>
            <a:ext cx="72720" cy="5940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8" name="Image 3" descr="preencoded.png"/>
          <p:cNvPicPr/>
          <p:nvPr/>
        </p:nvPicPr>
        <p:blipFill>
          <a:blip r:embed="rId4"/>
          <a:stretch/>
        </p:blipFill>
        <p:spPr>
          <a:xfrm>
            <a:off x="685800" y="35935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Text 14"/>
          <p:cNvSpPr/>
          <p:nvPr/>
        </p:nvSpPr>
        <p:spPr>
          <a:xfrm>
            <a:off x="1188720" y="3474720"/>
            <a:ext cx="7406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Demonstrated authentication failure when ciphertext is tampered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Shape 15"/>
          <p:cNvSpPr/>
          <p:nvPr/>
        </p:nvSpPr>
        <p:spPr>
          <a:xfrm>
            <a:off x="457200" y="4160520"/>
            <a:ext cx="8229240" cy="59400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16"/>
          <p:cNvSpPr/>
          <p:nvPr/>
        </p:nvSpPr>
        <p:spPr>
          <a:xfrm>
            <a:off x="457200" y="4160520"/>
            <a:ext cx="72720" cy="594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2" name="Image 4" descr="preencoded.png"/>
          <p:cNvPicPr/>
          <p:nvPr/>
        </p:nvPicPr>
        <p:blipFill>
          <a:blip r:embed="rId5"/>
          <a:stretch/>
        </p:blipFill>
        <p:spPr>
          <a:xfrm>
            <a:off x="685800" y="42793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17"/>
          <p:cNvSpPr/>
          <p:nvPr/>
        </p:nvSpPr>
        <p:spPr>
          <a:xfrm>
            <a:off x="1188720" y="4160520"/>
            <a:ext cx="7406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Combined RSA key exchange with ChaCha20-Poly1305 messaging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18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19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20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Text 21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Future Work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Where we'd take this if we had more time.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3"/>
          <p:cNvSpPr/>
          <p:nvPr/>
        </p:nvSpPr>
        <p:spPr>
          <a:xfrm>
            <a:off x="457200" y="1417320"/>
            <a:ext cx="26971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4"/>
          <p:cNvSpPr/>
          <p:nvPr/>
        </p:nvSpPr>
        <p:spPr>
          <a:xfrm>
            <a:off x="457200" y="1417320"/>
            <a:ext cx="2697120" cy="72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Shape 5"/>
          <p:cNvSpPr/>
          <p:nvPr/>
        </p:nvSpPr>
        <p:spPr>
          <a:xfrm>
            <a:off x="1348920" y="1783080"/>
            <a:ext cx="914040" cy="914040"/>
          </a:xfrm>
          <a:prstGeom prst="ellipse">
            <a:avLst/>
          </a:prstGeom>
          <a:solidFill>
            <a:srgbClr val="14b8a6">
              <a:alpha val="15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4" name="Image 0" descr="preencoded.png"/>
          <p:cNvPicPr/>
          <p:nvPr/>
        </p:nvPicPr>
        <p:blipFill>
          <a:blip r:embed="rId1"/>
          <a:stretch/>
        </p:blipFill>
        <p:spPr>
          <a:xfrm>
            <a:off x="1554480" y="198900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5" name="Text 6"/>
          <p:cNvSpPr/>
          <p:nvPr/>
        </p:nvSpPr>
        <p:spPr>
          <a:xfrm>
            <a:off x="594360" y="2834640"/>
            <a:ext cx="2422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Diffie-Hellman key exchange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7"/>
          <p:cNvSpPr/>
          <p:nvPr/>
        </p:nvSpPr>
        <p:spPr>
          <a:xfrm>
            <a:off x="1623240" y="3520440"/>
            <a:ext cx="365400" cy="22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8"/>
          <p:cNvSpPr/>
          <p:nvPr/>
        </p:nvSpPr>
        <p:spPr>
          <a:xfrm>
            <a:off x="685800" y="365760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Replace RSA with ECDH for faster handshakes and forward secrecy.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Shape 9"/>
          <p:cNvSpPr/>
          <p:nvPr/>
        </p:nvSpPr>
        <p:spPr>
          <a:xfrm>
            <a:off x="3273480" y="1417320"/>
            <a:ext cx="26971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Shape 10"/>
          <p:cNvSpPr/>
          <p:nvPr/>
        </p:nvSpPr>
        <p:spPr>
          <a:xfrm>
            <a:off x="3273480" y="1417320"/>
            <a:ext cx="2697120" cy="727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Shape 11"/>
          <p:cNvSpPr/>
          <p:nvPr/>
        </p:nvSpPr>
        <p:spPr>
          <a:xfrm>
            <a:off x="4165200" y="1783080"/>
            <a:ext cx="914040" cy="914040"/>
          </a:xfrm>
          <a:prstGeom prst="ellipse">
            <a:avLst/>
          </a:prstGeom>
          <a:solidFill>
            <a:srgbClr val="8b5cf6">
              <a:alpha val="15000"/>
            </a:srgbClr>
          </a:solidFill>
          <a:ln w="126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1" name="Image 1" descr="preencoded.png"/>
          <p:cNvPicPr/>
          <p:nvPr/>
        </p:nvPicPr>
        <p:blipFill>
          <a:blip r:embed="rId2"/>
          <a:stretch/>
        </p:blipFill>
        <p:spPr>
          <a:xfrm>
            <a:off x="4370760" y="198900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Text 12"/>
          <p:cNvSpPr/>
          <p:nvPr/>
        </p:nvSpPr>
        <p:spPr>
          <a:xfrm>
            <a:off x="3410640" y="2834640"/>
            <a:ext cx="2422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Forward secrecy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13"/>
          <p:cNvSpPr/>
          <p:nvPr/>
        </p:nvSpPr>
        <p:spPr>
          <a:xfrm>
            <a:off x="4439520" y="3520440"/>
            <a:ext cx="365400" cy="22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Text 14"/>
          <p:cNvSpPr/>
          <p:nvPr/>
        </p:nvSpPr>
        <p:spPr>
          <a:xfrm>
            <a:off x="3502080" y="365760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Rotate session keys so past traffic stays safe even if a long-term key leaks.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Shape 15"/>
          <p:cNvSpPr/>
          <p:nvPr/>
        </p:nvSpPr>
        <p:spPr>
          <a:xfrm>
            <a:off x="6089760" y="1417320"/>
            <a:ext cx="2697120" cy="32457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dist="12600" dir="5400000" blurRad="5076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Shape 16"/>
          <p:cNvSpPr/>
          <p:nvPr/>
        </p:nvSpPr>
        <p:spPr>
          <a:xfrm>
            <a:off x="6089760" y="1417320"/>
            <a:ext cx="2697120" cy="727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Shape 17"/>
          <p:cNvSpPr/>
          <p:nvPr/>
        </p:nvSpPr>
        <p:spPr>
          <a:xfrm>
            <a:off x="6981480" y="1783080"/>
            <a:ext cx="914040" cy="914040"/>
          </a:xfrm>
          <a:prstGeom prst="ellipse">
            <a:avLst/>
          </a:prstGeom>
          <a:solidFill>
            <a:srgbClr val="f5b400">
              <a:alpha val="15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8" name="Image 2" descr="preencoded.png"/>
          <p:cNvPicPr/>
          <p:nvPr/>
        </p:nvPicPr>
        <p:blipFill>
          <a:blip r:embed="rId3"/>
          <a:stretch/>
        </p:blipFill>
        <p:spPr>
          <a:xfrm>
            <a:off x="7187040" y="1989000"/>
            <a:ext cx="502560" cy="50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9" name="Text 18"/>
          <p:cNvSpPr/>
          <p:nvPr/>
        </p:nvSpPr>
        <p:spPr>
          <a:xfrm>
            <a:off x="6226920" y="2834640"/>
            <a:ext cx="2422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Stronger nonce strategy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Shape 19"/>
          <p:cNvSpPr/>
          <p:nvPr/>
        </p:nvSpPr>
        <p:spPr>
          <a:xfrm>
            <a:off x="7255800" y="3520440"/>
            <a:ext cx="365400" cy="226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20"/>
          <p:cNvSpPr/>
          <p:nvPr/>
        </p:nvSpPr>
        <p:spPr>
          <a:xfrm>
            <a:off x="6318360" y="3657600"/>
            <a:ext cx="2239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Hardware-derived randomness or counter-based nonces with rollover protection.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21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Shape 22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3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24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1"/>
          <p:cNvSpPr/>
          <p:nvPr/>
        </p:nvSpPr>
        <p:spPr>
          <a:xfrm>
            <a:off x="713160" y="3657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Conclusion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2"/>
          <p:cNvSpPr/>
          <p:nvPr/>
        </p:nvSpPr>
        <p:spPr>
          <a:xfrm>
            <a:off x="640080" y="1280160"/>
            <a:ext cx="7863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We built a real, working end-to-end encrypted chat — and </a:t>
            </a:r>
            <a:r>
              <a:rPr lang="en-US" sz="2200" b="1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saw the math behind it actually work</a:t>
            </a: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3"/>
          <p:cNvSpPr/>
          <p:nvPr/>
        </p:nvSpPr>
        <p:spPr>
          <a:xfrm>
            <a:off x="457200" y="2377440"/>
            <a:ext cx="8229240" cy="71280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4"/>
          <p:cNvSpPr/>
          <p:nvPr/>
        </p:nvSpPr>
        <p:spPr>
          <a:xfrm>
            <a:off x="457200" y="2377440"/>
            <a:ext cx="54360" cy="712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1" name="Image 0" descr="preencoded.png"/>
          <p:cNvPicPr/>
          <p:nvPr/>
        </p:nvPicPr>
        <p:blipFill>
          <a:blip r:embed="rId1"/>
          <a:stretch/>
        </p:blipFill>
        <p:spPr>
          <a:xfrm>
            <a:off x="685800" y="254196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2" name="Text 5"/>
          <p:cNvSpPr/>
          <p:nvPr/>
        </p:nvSpPr>
        <p:spPr>
          <a:xfrm>
            <a:off x="1234440" y="2450520"/>
            <a:ext cx="3840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in practice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6"/>
          <p:cNvSpPr/>
          <p:nvPr/>
        </p:nvSpPr>
        <p:spPr>
          <a:xfrm>
            <a:off x="1234440" y="2743200"/>
            <a:ext cx="7269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Implemented a modern AEAD cipher in real client-server code.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7"/>
          <p:cNvSpPr/>
          <p:nvPr/>
        </p:nvSpPr>
        <p:spPr>
          <a:xfrm>
            <a:off x="457200" y="3182040"/>
            <a:ext cx="8229240" cy="71280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8"/>
          <p:cNvSpPr/>
          <p:nvPr/>
        </p:nvSpPr>
        <p:spPr>
          <a:xfrm>
            <a:off x="457200" y="3182040"/>
            <a:ext cx="54360" cy="712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6" name="Image 1" descr="preencoded.png"/>
          <p:cNvPicPr/>
          <p:nvPr/>
        </p:nvPicPr>
        <p:blipFill>
          <a:blip r:embed="rId2"/>
          <a:stretch/>
        </p:blipFill>
        <p:spPr>
          <a:xfrm>
            <a:off x="685800" y="334656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9"/>
          <p:cNvSpPr/>
          <p:nvPr/>
        </p:nvSpPr>
        <p:spPr>
          <a:xfrm>
            <a:off x="1234440" y="3255120"/>
            <a:ext cx="3840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Theory met implementation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10"/>
          <p:cNvSpPr/>
          <p:nvPr/>
        </p:nvSpPr>
        <p:spPr>
          <a:xfrm>
            <a:off x="1234440" y="3547800"/>
            <a:ext cx="7269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Connected lecture concepts (XOR, polynomials, modular arithmetic) to running software.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11"/>
          <p:cNvSpPr/>
          <p:nvPr/>
        </p:nvSpPr>
        <p:spPr>
          <a:xfrm>
            <a:off x="457200" y="3986640"/>
            <a:ext cx="8229240" cy="71280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12"/>
          <p:cNvSpPr/>
          <p:nvPr/>
        </p:nvSpPr>
        <p:spPr>
          <a:xfrm>
            <a:off x="457200" y="3986640"/>
            <a:ext cx="54360" cy="7128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1" name="Image 2" descr="preencoded.png"/>
          <p:cNvPicPr/>
          <p:nvPr/>
        </p:nvPicPr>
        <p:blipFill>
          <a:blip r:embed="rId3"/>
          <a:stretch/>
        </p:blipFill>
        <p:spPr>
          <a:xfrm>
            <a:off x="685800" y="41515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Text 13"/>
          <p:cNvSpPr/>
          <p:nvPr/>
        </p:nvSpPr>
        <p:spPr>
          <a:xfrm>
            <a:off x="1234440" y="4060080"/>
            <a:ext cx="38401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Full security model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4"/>
          <p:cNvSpPr/>
          <p:nvPr/>
        </p:nvSpPr>
        <p:spPr>
          <a:xfrm>
            <a:off x="1234440" y="4352400"/>
            <a:ext cx="7269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Confidentiality, integrity, and authentication — all three, end-to-end.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5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Shape 16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17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18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29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Live Demo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scripts. One sees plaintext. The other doesn't.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3"/>
          <p:cNvSpPr/>
          <p:nvPr/>
        </p:nvSpPr>
        <p:spPr>
          <a:xfrm>
            <a:off x="457200" y="1417320"/>
            <a:ext cx="4068720" cy="324576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Shape 4"/>
          <p:cNvSpPr/>
          <p:nvPr/>
        </p:nvSpPr>
        <p:spPr>
          <a:xfrm>
            <a:off x="457200" y="1417320"/>
            <a:ext cx="4068720" cy="4111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3" name="Image 0" descr="preencoded.png"/>
          <p:cNvPicPr/>
          <p:nvPr/>
        </p:nvPicPr>
        <p:blipFill>
          <a:blip r:embed="rId1"/>
          <a:stretch/>
        </p:blipFill>
        <p:spPr>
          <a:xfrm>
            <a:off x="640080" y="148608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4" name="Text 5"/>
          <p:cNvSpPr/>
          <p:nvPr/>
        </p:nvSpPr>
        <p:spPr>
          <a:xfrm>
            <a:off x="1005840" y="14173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6"/>
          <p:cNvSpPr/>
          <p:nvPr/>
        </p:nvSpPr>
        <p:spPr>
          <a:xfrm>
            <a:off x="685800" y="228600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7"/>
          <p:cNvSpPr/>
          <p:nvPr/>
        </p:nvSpPr>
        <p:spPr>
          <a:xfrm>
            <a:off x="960120" y="228600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./runDecrypted. 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8"/>
          <p:cNvSpPr/>
          <p:nvPr/>
        </p:nvSpPr>
        <p:spPr>
          <a:xfrm>
            <a:off x="68580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9"/>
          <p:cNvSpPr/>
          <p:nvPr/>
        </p:nvSpPr>
        <p:spPr>
          <a:xfrm>
            <a:off x="685800" y="3246120"/>
            <a:ext cx="361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9706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10"/>
          <p:cNvSpPr/>
          <p:nvPr/>
        </p:nvSpPr>
        <p:spPr>
          <a:xfrm>
            <a:off x="685800" y="3520440"/>
            <a:ext cx="3611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every keystroke as plaintext.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11"/>
          <p:cNvSpPr/>
          <p:nvPr/>
        </p:nvSpPr>
        <p:spPr>
          <a:xfrm>
            <a:off x="4617720" y="1417320"/>
            <a:ext cx="4068720" cy="324576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dist="25560" dir="5400000" blurRad="1015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Shape 12"/>
          <p:cNvSpPr/>
          <p:nvPr/>
        </p:nvSpPr>
        <p:spPr>
          <a:xfrm>
            <a:off x="4617720" y="1417320"/>
            <a:ext cx="4068720" cy="4111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2" name="Image 1" descr="preencoded.png"/>
          <p:cNvPicPr/>
          <p:nvPr/>
        </p:nvPicPr>
        <p:blipFill>
          <a:blip r:embed="rId2"/>
          <a:stretch/>
        </p:blipFill>
        <p:spPr>
          <a:xfrm>
            <a:off x="4800600" y="148608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3" name="Text 13"/>
          <p:cNvSpPr/>
          <p:nvPr/>
        </p:nvSpPr>
        <p:spPr>
          <a:xfrm>
            <a:off x="5166360" y="14173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14"/>
          <p:cNvSpPr/>
          <p:nvPr/>
        </p:nvSpPr>
        <p:spPr>
          <a:xfrm>
            <a:off x="4846320" y="2286000"/>
            <a:ext cx="27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15"/>
          <p:cNvSpPr/>
          <p:nvPr/>
        </p:nvSpPr>
        <p:spPr>
          <a:xfrm>
            <a:off x="5120640" y="228600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./runEncrypted. 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16"/>
          <p:cNvSpPr/>
          <p:nvPr/>
        </p:nvSpPr>
        <p:spPr>
          <a:xfrm>
            <a:off x="484632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17"/>
          <p:cNvSpPr/>
          <p:nvPr/>
        </p:nvSpPr>
        <p:spPr>
          <a:xfrm>
            <a:off x="4846320" y="3246120"/>
            <a:ext cx="361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18"/>
          <p:cNvSpPr/>
          <p:nvPr/>
        </p:nvSpPr>
        <p:spPr>
          <a:xfrm>
            <a:off x="4846320" y="3520440"/>
            <a:ext cx="3611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only opaque ciphertext bytes.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19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Shape 20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21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22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Shape 0"/>
          <p:cNvSpPr/>
          <p:nvPr/>
        </p:nvSpPr>
        <p:spPr>
          <a:xfrm>
            <a:off x="457200" y="502920"/>
            <a:ext cx="164160" cy="164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1"/>
          <p:cNvSpPr/>
          <p:nvPr/>
        </p:nvSpPr>
        <p:spPr>
          <a:xfrm>
            <a:off x="713160" y="3657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Sources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"/>
          <p:cNvSpPr/>
          <p:nvPr/>
        </p:nvSpPr>
        <p:spPr>
          <a:xfrm>
            <a:off x="713160" y="86868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Standards, papers, and references used in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3"/>
          <p:cNvSpPr/>
          <p:nvPr/>
        </p:nvSpPr>
        <p:spPr>
          <a:xfrm>
            <a:off x="457200" y="141732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4"/>
          <p:cNvSpPr/>
          <p:nvPr/>
        </p:nvSpPr>
        <p:spPr>
          <a:xfrm>
            <a:off x="457200" y="141732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5"/>
          <p:cNvSpPr/>
          <p:nvPr/>
        </p:nvSpPr>
        <p:spPr>
          <a:xfrm>
            <a:off x="640080" y="141732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ChaCha, a variant of Salsa20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2008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cr.yp.to/chacha.html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6"/>
          <p:cNvSpPr/>
          <p:nvPr/>
        </p:nvSpPr>
        <p:spPr>
          <a:xfrm>
            <a:off x="457200" y="198432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7"/>
          <p:cNvSpPr/>
          <p:nvPr/>
        </p:nvSpPr>
        <p:spPr>
          <a:xfrm>
            <a:off x="457200" y="198432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8"/>
          <p:cNvSpPr/>
          <p:nvPr/>
        </p:nvSpPr>
        <p:spPr>
          <a:xfrm>
            <a:off x="640080" y="198432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Poly1305-AES message-authentication code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FSE 2005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Shape 9"/>
          <p:cNvSpPr/>
          <p:nvPr/>
        </p:nvSpPr>
        <p:spPr>
          <a:xfrm>
            <a:off x="457200" y="255132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0"/>
          <p:cNvSpPr/>
          <p:nvPr/>
        </p:nvSpPr>
        <p:spPr>
          <a:xfrm>
            <a:off x="457200" y="255132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11"/>
          <p:cNvSpPr/>
          <p:nvPr/>
        </p:nvSpPr>
        <p:spPr>
          <a:xfrm>
            <a:off x="640080" y="255132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Nir, Y., &amp; Langley, A.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and Poly1305 for IETF Protocols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8439, 2018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rfc-editor.org/rfc/rfc8439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Shape 12"/>
          <p:cNvSpPr/>
          <p:nvPr/>
        </p:nvSpPr>
        <p:spPr>
          <a:xfrm>
            <a:off x="457200" y="311796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Shape 13"/>
          <p:cNvSpPr/>
          <p:nvPr/>
        </p:nvSpPr>
        <p:spPr>
          <a:xfrm>
            <a:off x="457200" y="311796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4"/>
          <p:cNvSpPr/>
          <p:nvPr/>
        </p:nvSpPr>
        <p:spPr>
          <a:xfrm>
            <a:off x="640080" y="31179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Langley, A., et al.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ChaCha20-Poly1305 Cipher Suites for TLS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7905, 2016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rfc-editor.org/rfc/rfc7905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5"/>
          <p:cNvSpPr/>
          <p:nvPr/>
        </p:nvSpPr>
        <p:spPr>
          <a:xfrm>
            <a:off x="457200" y="368496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16"/>
          <p:cNvSpPr/>
          <p:nvPr/>
        </p:nvSpPr>
        <p:spPr>
          <a:xfrm>
            <a:off x="457200" y="368496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17"/>
          <p:cNvSpPr/>
          <p:nvPr/>
        </p:nvSpPr>
        <p:spPr>
          <a:xfrm>
            <a:off x="640080" y="36849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Procter, G.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 Security Analysis of the Composition of ChaCha20 and Poly1305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Cryptology ePrint, 2014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eprint.iacr.org/2014/613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Shape 18"/>
          <p:cNvSpPr/>
          <p:nvPr/>
        </p:nvSpPr>
        <p:spPr>
          <a:xfrm>
            <a:off x="457200" y="4251960"/>
            <a:ext cx="8229240" cy="502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19"/>
          <p:cNvSpPr/>
          <p:nvPr/>
        </p:nvSpPr>
        <p:spPr>
          <a:xfrm>
            <a:off x="457200" y="4251960"/>
            <a:ext cx="54360" cy="502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20"/>
          <p:cNvSpPr/>
          <p:nvPr/>
        </p:nvSpPr>
        <p:spPr>
          <a:xfrm>
            <a:off x="640080" y="4251960"/>
            <a:ext cx="7954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Vaillant, 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design of ChaCha20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loup-vaillant.fr/tutorials/chacha20-design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21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Shape 22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3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4"/>
          <p:cNvSpPr/>
          <p:nvPr/>
        </p:nvSpPr>
        <p:spPr>
          <a:xfrm>
            <a:off x="365760" y="47595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14b8a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Shape 1"/>
          <p:cNvSpPr/>
          <p:nvPr/>
        </p:nvSpPr>
        <p:spPr>
          <a:xfrm>
            <a:off x="6400800" y="3200400"/>
            <a:ext cx="4571640" cy="4571640"/>
          </a:xfrm>
          <a:prstGeom prst="ellipse">
            <a:avLst/>
          </a:prstGeom>
          <a:solidFill>
            <a:srgbClr val="8b5cf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2"/>
          <p:cNvSpPr/>
          <p:nvPr/>
        </p:nvSpPr>
        <p:spPr>
          <a:xfrm>
            <a:off x="0" y="1828800"/>
            <a:ext cx="91436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Questions?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3"/>
          <p:cNvSpPr/>
          <p:nvPr/>
        </p:nvSpPr>
        <p:spPr>
          <a:xfrm>
            <a:off x="4297680" y="3200400"/>
            <a:ext cx="54828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4"/>
          <p:cNvSpPr/>
          <p:nvPr/>
        </p:nvSpPr>
        <p:spPr>
          <a:xfrm>
            <a:off x="0" y="338328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5"/>
          <p:cNvSpPr/>
          <p:nvPr/>
        </p:nvSpPr>
        <p:spPr>
          <a:xfrm>
            <a:off x="0" y="384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Shape 6"/>
          <p:cNvSpPr/>
          <p:nvPr/>
        </p:nvSpPr>
        <p:spPr>
          <a:xfrm>
            <a:off x="8275320" y="4851000"/>
            <a:ext cx="164160" cy="453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7"/>
          <p:cNvSpPr/>
          <p:nvPr/>
        </p:nvSpPr>
        <p:spPr>
          <a:xfrm>
            <a:off x="8503920" y="4851000"/>
            <a:ext cx="365400" cy="4536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8"/>
          <p:cNvSpPr/>
          <p:nvPr/>
        </p:nvSpPr>
        <p:spPr>
          <a:xfrm>
            <a:off x="6400800" y="4759560"/>
            <a:ext cx="1782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LibreOffice/25.8.4.2$Linux_X86_64 LibreOffice_project/580$Build-2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2026-05-04T21:56:48Z</dcterms:created>
  <dc:creator>Maddie, Lei, &amp; Aidan</dc:creator>
  <dc:description/>
  <dc:language>en-US</dc:language>
  <cp:lastModifiedBy/>
  <dcterms:modified xsi:type="dcterms:W3CDTF">2026-05-05T08:46:23Z</dcterms:modified>
  <cp:revision>5</cp:revision>
  <dc:subject>PptxGenJS Presentation</dc:subject>
  <dc:title>ChaCha20-Poly1305 Encrypted Chat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32</vt:r8>
  </property>
  <property fmtid="{D5CDD505-2E9C-101B-9397-08002B2CF9AE}" pid="3" name="PresentationFormat">
    <vt:lpwstr>On-screen Show (16:9)</vt:lpwstr>
  </property>
  <property fmtid="{D5CDD505-2E9C-101B-9397-08002B2CF9AE}" pid="4" name="Slides">
    <vt:r8>32</vt:r8>
  </property>
</Properties>
</file>